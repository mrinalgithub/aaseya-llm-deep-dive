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582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8.png"/><Relationship Id="rId9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1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8.png"/><Relationship Id="rId9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8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8.png"/><Relationship Id="rId9" Type="http://schemas.openxmlformats.org/officeDocument/2006/relationships/image" Target="../media/image8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3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4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5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25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8.png"/><Relationship Id="rId9" Type="http://schemas.openxmlformats.org/officeDocument/2006/relationships/image" Target="../media/image1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1.png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2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8.png"/><Relationship Id="rId9" Type="http://schemas.openxmlformats.org/officeDocument/2006/relationships/image" Target="../media/image14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9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5.png"/><Relationship Id="rId5" Type="http://schemas.openxmlformats.org/officeDocument/2006/relationships/image" Target="../media/image150.png"/><Relationship Id="rId10" Type="http://schemas.openxmlformats.org/officeDocument/2006/relationships/image" Target="../media/image154.png"/><Relationship Id="rId4" Type="http://schemas.openxmlformats.org/officeDocument/2006/relationships/image" Target="../media/image8.png"/><Relationship Id="rId9" Type="http://schemas.openxmlformats.org/officeDocument/2006/relationships/image" Target="../media/image15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6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8.png"/><Relationship Id="rId9" Type="http://schemas.openxmlformats.org/officeDocument/2006/relationships/image" Target="../media/image16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3" Type="http://schemas.openxmlformats.org/officeDocument/2006/relationships/image" Target="../media/image165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8.png"/><Relationship Id="rId9" Type="http://schemas.openxmlformats.org/officeDocument/2006/relationships/image" Target="../media/image17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5.png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85.png"/><Relationship Id="rId3" Type="http://schemas.openxmlformats.org/officeDocument/2006/relationships/image" Target="../media/image176.png"/><Relationship Id="rId7" Type="http://schemas.openxmlformats.org/officeDocument/2006/relationships/image" Target="../media/image179.png"/><Relationship Id="rId12" Type="http://schemas.openxmlformats.org/officeDocument/2006/relationships/image" Target="../media/image18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0" Type="http://schemas.openxmlformats.org/officeDocument/2006/relationships/image" Target="../media/image182.png"/><Relationship Id="rId4" Type="http://schemas.openxmlformats.org/officeDocument/2006/relationships/image" Target="../media/image8.png"/><Relationship Id="rId9" Type="http://schemas.openxmlformats.org/officeDocument/2006/relationships/image" Target="../media/image18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86.png"/><Relationship Id="rId7" Type="http://schemas.openxmlformats.org/officeDocument/2006/relationships/image" Target="../media/image18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11" Type="http://schemas.openxmlformats.org/officeDocument/2006/relationships/image" Target="../media/image193.png"/><Relationship Id="rId5" Type="http://schemas.openxmlformats.org/officeDocument/2006/relationships/image" Target="../media/image187.png"/><Relationship Id="rId10" Type="http://schemas.openxmlformats.org/officeDocument/2006/relationships/image" Target="../media/image192.png"/><Relationship Id="rId4" Type="http://schemas.openxmlformats.org/officeDocument/2006/relationships/image" Target="../media/image8.png"/><Relationship Id="rId9" Type="http://schemas.openxmlformats.org/officeDocument/2006/relationships/image" Target="../media/image19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25.png"/><Relationship Id="rId7" Type="http://schemas.openxmlformats.org/officeDocument/2006/relationships/image" Target="../media/image19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8.png"/><Relationship Id="rId9" Type="http://schemas.openxmlformats.org/officeDocument/2006/relationships/image" Target="../media/image19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3" Type="http://schemas.openxmlformats.org/officeDocument/2006/relationships/image" Target="../media/image202.png"/><Relationship Id="rId7" Type="http://schemas.openxmlformats.org/officeDocument/2006/relationships/image" Target="../media/image20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10" Type="http://schemas.openxmlformats.org/officeDocument/2006/relationships/image" Target="../media/image208.png"/><Relationship Id="rId4" Type="http://schemas.openxmlformats.org/officeDocument/2006/relationships/image" Target="../media/image8.png"/><Relationship Id="rId9" Type="http://schemas.openxmlformats.org/officeDocument/2006/relationships/image" Target="../media/image20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3" Type="http://schemas.openxmlformats.org/officeDocument/2006/relationships/image" Target="../media/image209.png"/><Relationship Id="rId7" Type="http://schemas.openxmlformats.org/officeDocument/2006/relationships/image" Target="../media/image21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4.png"/><Relationship Id="rId4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3.png"/><Relationship Id="rId3" Type="http://schemas.openxmlformats.org/officeDocument/2006/relationships/image" Target="../media/image125.png"/><Relationship Id="rId7" Type="http://schemas.openxmlformats.org/officeDocument/2006/relationships/image" Target="../media/image217.png"/><Relationship Id="rId12" Type="http://schemas.openxmlformats.org/officeDocument/2006/relationships/image" Target="../media/image22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5" Type="http://schemas.openxmlformats.org/officeDocument/2006/relationships/image" Target="../media/image215.png"/><Relationship Id="rId10" Type="http://schemas.openxmlformats.org/officeDocument/2006/relationships/image" Target="../media/image220.png"/><Relationship Id="rId4" Type="http://schemas.openxmlformats.org/officeDocument/2006/relationships/image" Target="../media/image8.png"/><Relationship Id="rId9" Type="http://schemas.openxmlformats.org/officeDocument/2006/relationships/image" Target="../media/image219.png"/><Relationship Id="rId14" Type="http://schemas.openxmlformats.org/officeDocument/2006/relationships/image" Target="../media/image22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13.png"/><Relationship Id="rId7" Type="http://schemas.openxmlformats.org/officeDocument/2006/relationships/image" Target="../media/image151.png"/><Relationship Id="rId12" Type="http://schemas.openxmlformats.org/officeDocument/2006/relationships/image" Target="../media/image23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6.png"/><Relationship Id="rId11" Type="http://schemas.openxmlformats.org/officeDocument/2006/relationships/image" Target="../media/image230.png"/><Relationship Id="rId5" Type="http://schemas.openxmlformats.org/officeDocument/2006/relationships/image" Target="../media/image225.png"/><Relationship Id="rId10" Type="http://schemas.openxmlformats.org/officeDocument/2006/relationships/image" Target="../media/image229.png"/><Relationship Id="rId4" Type="http://schemas.openxmlformats.org/officeDocument/2006/relationships/image" Target="../media/image8.png"/><Relationship Id="rId9" Type="http://schemas.openxmlformats.org/officeDocument/2006/relationships/image" Target="../media/image22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3" Type="http://schemas.openxmlformats.org/officeDocument/2006/relationships/image" Target="../media/image232.png"/><Relationship Id="rId7" Type="http://schemas.openxmlformats.org/officeDocument/2006/relationships/image" Target="../media/image235.png"/><Relationship Id="rId12" Type="http://schemas.openxmlformats.org/officeDocument/2006/relationships/image" Target="../media/image24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4.png"/><Relationship Id="rId11" Type="http://schemas.openxmlformats.org/officeDocument/2006/relationships/image" Target="../media/image239.png"/><Relationship Id="rId5" Type="http://schemas.openxmlformats.org/officeDocument/2006/relationships/image" Target="../media/image233.png"/><Relationship Id="rId10" Type="http://schemas.openxmlformats.org/officeDocument/2006/relationships/image" Target="../media/image238.png"/><Relationship Id="rId4" Type="http://schemas.openxmlformats.org/officeDocument/2006/relationships/image" Target="../media/image8.png"/><Relationship Id="rId9" Type="http://schemas.openxmlformats.org/officeDocument/2006/relationships/image" Target="../media/image23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7" Type="http://schemas.openxmlformats.org/officeDocument/2006/relationships/image" Target="../media/image24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4" Type="http://schemas.openxmlformats.org/officeDocument/2006/relationships/image" Target="../media/image8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3" Type="http://schemas.openxmlformats.org/officeDocument/2006/relationships/image" Target="../media/image209.png"/><Relationship Id="rId7" Type="http://schemas.openxmlformats.org/officeDocument/2006/relationships/image" Target="../media/image24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6.png"/><Relationship Id="rId5" Type="http://schemas.openxmlformats.org/officeDocument/2006/relationships/image" Target="../media/image245.png"/><Relationship Id="rId4" Type="http://schemas.openxmlformats.org/officeDocument/2006/relationships/image" Target="../media/image8.png"/><Relationship Id="rId9" Type="http://schemas.openxmlformats.org/officeDocument/2006/relationships/image" Target="../media/image249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image" Target="../media/image258.png"/><Relationship Id="rId3" Type="http://schemas.openxmlformats.org/officeDocument/2006/relationships/image" Target="../media/image125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5" Type="http://schemas.openxmlformats.org/officeDocument/2006/relationships/image" Target="../media/image250.png"/><Relationship Id="rId15" Type="http://schemas.openxmlformats.org/officeDocument/2006/relationships/image" Target="../media/image260.png"/><Relationship Id="rId10" Type="http://schemas.openxmlformats.org/officeDocument/2006/relationships/image" Target="../media/image255.png"/><Relationship Id="rId4" Type="http://schemas.openxmlformats.org/officeDocument/2006/relationships/image" Target="../media/image8.png"/><Relationship Id="rId9" Type="http://schemas.openxmlformats.org/officeDocument/2006/relationships/image" Target="../media/image254.png"/><Relationship Id="rId14" Type="http://schemas.openxmlformats.org/officeDocument/2006/relationships/image" Target="../media/image25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1.png"/><Relationship Id="rId4" Type="http://schemas.openxmlformats.org/officeDocument/2006/relationships/image" Target="../media/image8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3" Type="http://schemas.openxmlformats.org/officeDocument/2006/relationships/image" Target="../media/image262.png"/><Relationship Id="rId7" Type="http://schemas.openxmlformats.org/officeDocument/2006/relationships/image" Target="../media/image26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4.png"/><Relationship Id="rId5" Type="http://schemas.openxmlformats.org/officeDocument/2006/relationships/image" Target="../media/image263.png"/><Relationship Id="rId4" Type="http://schemas.openxmlformats.org/officeDocument/2006/relationships/image" Target="../media/image8.png"/><Relationship Id="rId9" Type="http://schemas.openxmlformats.org/officeDocument/2006/relationships/image" Target="../media/image267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2.png"/><Relationship Id="rId3" Type="http://schemas.openxmlformats.org/officeDocument/2006/relationships/image" Target="../media/image268.png"/><Relationship Id="rId7" Type="http://schemas.openxmlformats.org/officeDocument/2006/relationships/image" Target="../media/image27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0.png"/><Relationship Id="rId5" Type="http://schemas.openxmlformats.org/officeDocument/2006/relationships/image" Target="../media/image269.png"/><Relationship Id="rId4" Type="http://schemas.openxmlformats.org/officeDocument/2006/relationships/image" Target="../media/image8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3" Type="http://schemas.openxmlformats.org/officeDocument/2006/relationships/image" Target="../media/image273.png"/><Relationship Id="rId7" Type="http://schemas.openxmlformats.org/officeDocument/2006/relationships/image" Target="../media/image27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5.png"/><Relationship Id="rId5" Type="http://schemas.openxmlformats.org/officeDocument/2006/relationships/image" Target="../media/image274.png"/><Relationship Id="rId4" Type="http://schemas.openxmlformats.org/officeDocument/2006/relationships/image" Target="../media/image8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3" Type="http://schemas.openxmlformats.org/officeDocument/2006/relationships/image" Target="../media/image13.png"/><Relationship Id="rId7" Type="http://schemas.openxmlformats.org/officeDocument/2006/relationships/image" Target="../media/image28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9.png"/><Relationship Id="rId5" Type="http://schemas.openxmlformats.org/officeDocument/2006/relationships/image" Target="../media/image278.png"/><Relationship Id="rId4" Type="http://schemas.openxmlformats.org/officeDocument/2006/relationships/image" Target="../media/image8.png"/><Relationship Id="rId9" Type="http://schemas.openxmlformats.org/officeDocument/2006/relationships/image" Target="../media/image28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3" Type="http://schemas.openxmlformats.org/officeDocument/2006/relationships/image" Target="../media/image283.png"/><Relationship Id="rId7" Type="http://schemas.openxmlformats.org/officeDocument/2006/relationships/image" Target="../media/image28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5.png"/><Relationship Id="rId5" Type="http://schemas.openxmlformats.org/officeDocument/2006/relationships/image" Target="../media/image284.png"/><Relationship Id="rId4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3" Type="http://schemas.openxmlformats.org/officeDocument/2006/relationships/image" Target="../media/image13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9.png"/><Relationship Id="rId5" Type="http://schemas.openxmlformats.org/officeDocument/2006/relationships/image" Target="../media/image288.png"/><Relationship Id="rId4" Type="http://schemas.openxmlformats.org/officeDocument/2006/relationships/image" Target="../media/image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2.png"/><Relationship Id="rId4" Type="http://schemas.openxmlformats.org/officeDocument/2006/relationships/image" Target="../media/image8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png"/><Relationship Id="rId3" Type="http://schemas.openxmlformats.org/officeDocument/2006/relationships/image" Target="../media/image293.png"/><Relationship Id="rId7" Type="http://schemas.openxmlformats.org/officeDocument/2006/relationships/image" Target="../media/image29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5.png"/><Relationship Id="rId11" Type="http://schemas.openxmlformats.org/officeDocument/2006/relationships/image" Target="../media/image300.png"/><Relationship Id="rId5" Type="http://schemas.openxmlformats.org/officeDocument/2006/relationships/image" Target="../media/image294.png"/><Relationship Id="rId10" Type="http://schemas.openxmlformats.org/officeDocument/2006/relationships/image" Target="../media/image299.png"/><Relationship Id="rId4" Type="http://schemas.openxmlformats.org/officeDocument/2006/relationships/image" Target="../media/image8.png"/><Relationship Id="rId9" Type="http://schemas.openxmlformats.org/officeDocument/2006/relationships/image" Target="../media/image298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3" Type="http://schemas.openxmlformats.org/officeDocument/2006/relationships/image" Target="../media/image301.png"/><Relationship Id="rId7" Type="http://schemas.openxmlformats.org/officeDocument/2006/relationships/image" Target="../media/image30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3.png"/><Relationship Id="rId5" Type="http://schemas.openxmlformats.org/officeDocument/2006/relationships/image" Target="../media/image302.png"/><Relationship Id="rId10" Type="http://schemas.openxmlformats.org/officeDocument/2006/relationships/image" Target="../media/image307.png"/><Relationship Id="rId4" Type="http://schemas.openxmlformats.org/officeDocument/2006/relationships/image" Target="../media/image8.png"/><Relationship Id="rId9" Type="http://schemas.openxmlformats.org/officeDocument/2006/relationships/image" Target="../media/image30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1.png"/><Relationship Id="rId5" Type="http://schemas.openxmlformats.org/officeDocument/2006/relationships/image" Target="../media/image310.png"/><Relationship Id="rId4" Type="http://schemas.openxmlformats.org/officeDocument/2006/relationships/image" Target="../media/image3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5" y="285750"/>
            <a:ext cx="1428750" cy="4839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7250" y="816899"/>
            <a:ext cx="642937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111"/>
                </a:solidFill>
              </a:rPr>
              <a:t>Deep Dive into
Large Language Models</a:t>
            </a:r>
            <a:endParaRPr lang="en-US" sz="3294" dirty="0"/>
          </a:p>
        </p:txBody>
      </p:sp>
      <p:sp>
        <p:nvSpPr>
          <p:cNvPr id="5" name="Text 1"/>
          <p:cNvSpPr/>
          <p:nvPr/>
        </p:nvSpPr>
        <p:spPr>
          <a:xfrm>
            <a:off x="857250" y="1965592"/>
            <a:ext cx="642937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Understanding ChatGPT and Modern AI Systems</a:t>
            </a:r>
            <a:endParaRPr lang="en-US" sz="1704" dirty="0"/>
          </a:p>
        </p:txBody>
      </p:sp>
      <p:sp>
        <p:nvSpPr>
          <p:cNvPr id="6" name="Text 2"/>
          <p:cNvSpPr/>
          <p:nvPr/>
        </p:nvSpPr>
        <p:spPr>
          <a:xfrm>
            <a:off x="857250" y="2935356"/>
            <a:ext cx="64293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Mrinal Chakraborty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857250" y="3265754"/>
            <a:ext cx="6429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Head of AI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857250" y="3528287"/>
            <a:ext cx="6429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CC63F"/>
                </a:solidFill>
              </a:rPr>
              <a:t>Aaseya IT Solutions Pvt. Ltd.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857250" y="3905120"/>
            <a:ext cx="6429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777777"/>
                </a:solidFill>
              </a:rPr>
              <a:t>Date: 20 December 2025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857250" y="4151579"/>
            <a:ext cx="6429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777777"/>
                </a:solidFill>
              </a:rPr>
              <a:t>Courtesy: Andrej Karpathy</a:t>
            </a:r>
            <a:endParaRPr lang="en-US" sz="942" dirty="0"/>
          </a:p>
        </p:txBody>
      </p:sp>
      <p:pic>
        <p:nvPicPr>
          <p:cNvPr id="11" name="Picture 10" descr="ProfilePic.jpg">
            <a:extLst>
              <a:ext uri="{FF2B5EF4-FFF2-40B4-BE49-F238E27FC236}">
                <a16:creationId xmlns:a16="http://schemas.microsoft.com/office/drawing/2014/main" id="{9865501D-12F1-89D9-14D3-D00DEAB6E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9235" y="3022694"/>
            <a:ext cx="1188720" cy="1188720"/>
          </a:xfrm>
          <a:prstGeom prst="rect">
            <a:avLst/>
          </a:prstGeom>
        </p:spPr>
      </p:pic>
      <p:pic>
        <p:nvPicPr>
          <p:cNvPr id="12" name="Picture 11" descr="ProfileQR.png">
            <a:extLst>
              <a:ext uri="{FF2B5EF4-FFF2-40B4-BE49-F238E27FC236}">
                <a16:creationId xmlns:a16="http://schemas.microsoft.com/office/drawing/2014/main" id="{62D4A2C6-CA6D-0A2F-5172-40CA94184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5155" y="3022694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85750"/>
            <a:ext cx="1285875" cy="43557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04615" y="1543943"/>
            <a:ext cx="93477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8CC63F"/>
                </a:solidFill>
              </a:rPr>
              <a:t>Part 1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2452288" y="1999357"/>
            <a:ext cx="4239397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111111"/>
                </a:solidFill>
              </a:rPr>
              <a:t>Pre-training
Data</a:t>
            </a:r>
            <a:endParaRPr lang="en-US" sz="414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177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What is Pre-training?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437680"/>
            <a:ext cx="36361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Massive Scale Learning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571500" y="1782366"/>
            <a:ext cx="3636169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The process of training a neural network on </a:t>
            </a:r>
            <a:r>
              <a:rPr lang="en-US" sz="1193" b="1" dirty="0">
                <a:solidFill>
                  <a:srgbClr val="8CC63F"/>
                </a:solidFill>
              </a:rPr>
              <a:t>petabytes of text data</a:t>
            </a:r>
            <a:r>
              <a:rPr lang="en-US" sz="1269" dirty="0">
                <a:solidFill>
                  <a:srgbClr val="555555"/>
                </a:solidFill>
              </a:rPr>
              <a:t> collected from the internet.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571500" y="2788155"/>
            <a:ext cx="36361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Simple Objective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571500" y="3132841"/>
            <a:ext cx="3636169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The model has one goal: </a:t>
            </a:r>
            <a:r>
              <a:rPr lang="en-US" sz="1193" b="1" dirty="0">
                <a:solidFill>
                  <a:srgbClr val="8CC63F"/>
                </a:solidFill>
              </a:rPr>
              <a:t>predict the next word</a:t>
            </a:r>
            <a:r>
              <a:rPr lang="en-US" sz="1269" dirty="0">
                <a:solidFill>
                  <a:srgbClr val="555555"/>
                </a:solidFill>
              </a:rPr>
              <a:t> in a sequence. By doing this, it learns grammar, facts, and reasoning.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571500" y="4138631"/>
            <a:ext cx="363616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The Result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571500" y="4483317"/>
            <a:ext cx="3636169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A "Base Model" that acts as an </a:t>
            </a:r>
            <a:r>
              <a:rPr lang="en-US" sz="1193" b="1" dirty="0">
                <a:solidFill>
                  <a:srgbClr val="8CC63F"/>
                </a:solidFill>
              </a:rPr>
              <a:t>Internet Document Simulator</a:t>
            </a:r>
            <a:r>
              <a:rPr lang="en-US" sz="1269" dirty="0">
                <a:solidFill>
                  <a:srgbClr val="555555"/>
                </a:solidFill>
              </a:rPr>
              <a:t>—it can complete any text but isn't yet a helpful assistant.</a:t>
            </a:r>
            <a:endParaRPr lang="en-US" sz="1269" dirty="0"/>
          </a:p>
        </p:txBody>
      </p:sp>
      <p:sp>
        <p:nvSpPr>
          <p:cNvPr id="11" name="Shape 7"/>
          <p:cNvSpPr/>
          <p:nvPr/>
        </p:nvSpPr>
        <p:spPr>
          <a:xfrm>
            <a:off x="4636294" y="1616497"/>
            <a:ext cx="3936206" cy="3693793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63167"/>
            <a:ext cx="3643313" cy="3400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4126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Data Sources: The Internet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764381" y="1437680"/>
            <a:ext cx="173554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Common Crawl</a:t>
            </a:r>
            <a:endParaRPr lang="en-US" sz="1602" dirty="0"/>
          </a:p>
        </p:txBody>
      </p:sp>
      <p:sp>
        <p:nvSpPr>
          <p:cNvPr id="6" name="Text 2"/>
          <p:cNvSpPr/>
          <p:nvPr/>
        </p:nvSpPr>
        <p:spPr>
          <a:xfrm>
            <a:off x="571500" y="1821656"/>
            <a:ext cx="3857625" cy="720040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A non-profit that crawls the web monthly. Provides the bulk of the raw text data (petabytes of HTML).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764381" y="2756009"/>
            <a:ext cx="80423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GitHub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571500" y="3139985"/>
            <a:ext cx="3857625" cy="480027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Repositories of code. Crucial for teaching models reasoning, logic, and structure.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764381" y="3834324"/>
            <a:ext cx="113454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Wikipedia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571500" y="4218301"/>
            <a:ext cx="3857625" cy="480027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High-quality, curated encyclopedic text in many languages.</a:t>
            </a:r>
            <a:endParaRPr lang="en-US" sz="1269" dirty="0"/>
          </a:p>
        </p:txBody>
      </p:sp>
      <p:sp>
        <p:nvSpPr>
          <p:cNvPr id="11" name="Text 7"/>
          <p:cNvSpPr/>
          <p:nvPr/>
        </p:nvSpPr>
        <p:spPr>
          <a:xfrm>
            <a:off x="4907756" y="1437680"/>
            <a:ext cx="176115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Books &amp; Papers</a:t>
            </a:r>
            <a:endParaRPr lang="en-US" sz="1602" dirty="0"/>
          </a:p>
        </p:txBody>
      </p:sp>
      <p:sp>
        <p:nvSpPr>
          <p:cNvPr id="12" name="Text 8"/>
          <p:cNvSpPr/>
          <p:nvPr/>
        </p:nvSpPr>
        <p:spPr>
          <a:xfrm>
            <a:off x="4714875" y="1821656"/>
            <a:ext cx="3857625" cy="720040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Project Gutenberg, ArXiv, and other libraries provide long-form, coherent narratives and technical depth.</a:t>
            </a:r>
            <a:endParaRPr lang="en-US" sz="1269" dirty="0"/>
          </a:p>
        </p:txBody>
      </p:sp>
      <p:sp>
        <p:nvSpPr>
          <p:cNvPr id="13" name="Text 9"/>
          <p:cNvSpPr/>
          <p:nvPr/>
        </p:nvSpPr>
        <p:spPr>
          <a:xfrm>
            <a:off x="4907756" y="2756009"/>
            <a:ext cx="203889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The "Raw" Reality</a:t>
            </a:r>
            <a:endParaRPr lang="en-US" sz="1602" dirty="0"/>
          </a:p>
        </p:txBody>
      </p:sp>
      <p:sp>
        <p:nvSpPr>
          <p:cNvPr id="14" name="Text 10"/>
          <p:cNvSpPr/>
          <p:nvPr/>
        </p:nvSpPr>
        <p:spPr>
          <a:xfrm>
            <a:off x="4714875" y="3139985"/>
            <a:ext cx="3857625" cy="720040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The raw internet is messy: contains spam, malware, duplicate content, and low-quality text that must be filtered.</a:t>
            </a:r>
            <a:endParaRPr lang="en-US" sz="1269" dirty="0"/>
          </a:p>
        </p:txBody>
      </p:sp>
      <p:sp>
        <p:nvSpPr>
          <p:cNvPr id="15" name="Shape 11"/>
          <p:cNvSpPr/>
          <p:nvPr/>
        </p:nvSpPr>
        <p:spPr>
          <a:xfrm>
            <a:off x="5715000" y="3201712"/>
            <a:ext cx="2857500" cy="156805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715000" y="3201712"/>
            <a:ext cx="57150" cy="156805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000750" y="3487462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1565C0"/>
                </a:solidFill>
              </a:rPr>
              <a:t>10+ TB</a:t>
            </a:r>
            <a:endParaRPr lang="en-US" sz="3294" dirty="0"/>
          </a:p>
        </p:txBody>
      </p:sp>
      <p:sp>
        <p:nvSpPr>
          <p:cNvPr id="18" name="Text 14"/>
          <p:cNvSpPr/>
          <p:nvPr/>
        </p:nvSpPr>
        <p:spPr>
          <a:xfrm>
            <a:off x="6000750" y="4016099"/>
            <a:ext cx="228600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Of High-Quality Text
(After Filtering)</a:t>
            </a:r>
            <a:endParaRPr lang="en-US" sz="119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9530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FineWeb Data Pipeline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742950" y="1294805"/>
            <a:ext cx="2328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CC63F"/>
                </a:solidFill>
              </a:rPr>
              <a:t>01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742950" y="1498402"/>
            <a:ext cx="23288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Common Crawl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742950" y="1741289"/>
            <a:ext cx="2328863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Starting with raw web dumps (petabytes of HTML).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742950" y="2075594"/>
            <a:ext cx="2328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CC63F"/>
                </a:solidFill>
              </a:rPr>
              <a:t>02</a:t>
            </a:r>
            <a:endParaRPr lang="en-US" sz="885" dirty="0"/>
          </a:p>
        </p:txBody>
      </p:sp>
      <p:sp>
        <p:nvSpPr>
          <p:cNvPr id="9" name="Text 5"/>
          <p:cNvSpPr/>
          <p:nvPr/>
        </p:nvSpPr>
        <p:spPr>
          <a:xfrm>
            <a:off x="742950" y="2279191"/>
            <a:ext cx="23288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Filtering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742950" y="2522079"/>
            <a:ext cx="2328863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Removing spam URLs and non-English content.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742950" y="2856384"/>
            <a:ext cx="2328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CC63F"/>
                </a:solidFill>
              </a:rPr>
              <a:t>03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742950" y="3059981"/>
            <a:ext cx="23288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Extraction</a:t>
            </a:r>
            <a:endParaRPr lang="en-US" sz="1090" dirty="0"/>
          </a:p>
        </p:txBody>
      </p:sp>
      <p:sp>
        <p:nvSpPr>
          <p:cNvPr id="13" name="Text 9"/>
          <p:cNvSpPr/>
          <p:nvPr/>
        </p:nvSpPr>
        <p:spPr>
          <a:xfrm>
            <a:off x="742950" y="3302868"/>
            <a:ext cx="2328863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Extracting clean text from HTML markup.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742950" y="3637173"/>
            <a:ext cx="2328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CC63F"/>
                </a:solidFill>
              </a:rPr>
              <a:t>04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742950" y="3840770"/>
            <a:ext cx="23288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Deduplication</a:t>
            </a:r>
            <a:endParaRPr lang="en-US" sz="1090" dirty="0"/>
          </a:p>
        </p:txBody>
      </p:sp>
      <p:sp>
        <p:nvSpPr>
          <p:cNvPr id="16" name="Text 12"/>
          <p:cNvSpPr/>
          <p:nvPr/>
        </p:nvSpPr>
        <p:spPr>
          <a:xfrm>
            <a:off x="742950" y="4083658"/>
            <a:ext cx="2328863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MinHash LSH to remove duplicate documents.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742950" y="4417963"/>
            <a:ext cx="2328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CC63F"/>
                </a:solidFill>
              </a:rPr>
              <a:t>05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742950" y="4621560"/>
            <a:ext cx="23288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PII Removal</a:t>
            </a:r>
            <a:endParaRPr lang="en-US" sz="1090" dirty="0"/>
          </a:p>
        </p:txBody>
      </p:sp>
      <p:sp>
        <p:nvSpPr>
          <p:cNvPr id="19" name="Text 15"/>
          <p:cNvSpPr/>
          <p:nvPr/>
        </p:nvSpPr>
        <p:spPr>
          <a:xfrm>
            <a:off x="742950" y="4864447"/>
            <a:ext cx="232886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Anonymizing emails and IP addresses.</a:t>
            </a:r>
            <a:endParaRPr lang="en-US" sz="942" dirty="0"/>
          </a:p>
        </p:txBody>
      </p:sp>
      <p:sp>
        <p:nvSpPr>
          <p:cNvPr id="20" name="Shape 16"/>
          <p:cNvSpPr/>
          <p:nvPr/>
        </p:nvSpPr>
        <p:spPr>
          <a:xfrm>
            <a:off x="3357563" y="1294805"/>
            <a:ext cx="5214938" cy="3571875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172" y="2359223"/>
            <a:ext cx="2321719" cy="14430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Quality Filtering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223367"/>
            <a:ext cx="2166928" cy="235911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71500" y="1223367"/>
            <a:ext cx="2166928" cy="4286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1426350" y="1366242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363" y="1466255"/>
            <a:ext cx="257175" cy="2571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7464" y="1937742"/>
            <a:ext cx="129497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URL Filtering</a:t>
            </a:r>
            <a:endParaRPr lang="en-US" sz="1397" dirty="0"/>
          </a:p>
        </p:txBody>
      </p:sp>
      <p:sp>
        <p:nvSpPr>
          <p:cNvPr id="10" name="Text 5"/>
          <p:cNvSpPr/>
          <p:nvPr/>
        </p:nvSpPr>
        <p:spPr>
          <a:xfrm>
            <a:off x="742950" y="2296716"/>
            <a:ext cx="1824028" cy="1100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Using blocklists to remove known adult content, malware sites, and low-quality SEO spam domains.</a:t>
            </a:r>
            <a:endParaRPr lang="en-US" sz="1159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4178" y="2260048"/>
            <a:ext cx="178594" cy="2857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488522" y="1223367"/>
            <a:ext cx="2166928" cy="235911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3488522" y="1223367"/>
            <a:ext cx="2166928" cy="4286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4343372" y="1366242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5531" y="1466255"/>
            <a:ext cx="192881" cy="2571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22771" y="1937742"/>
            <a:ext cx="149840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Text Extraction</a:t>
            </a:r>
            <a:endParaRPr lang="en-US" sz="1397" dirty="0"/>
          </a:p>
        </p:txBody>
      </p:sp>
      <p:sp>
        <p:nvSpPr>
          <p:cNvPr id="17" name="Text 10"/>
          <p:cNvSpPr/>
          <p:nvPr/>
        </p:nvSpPr>
        <p:spPr>
          <a:xfrm>
            <a:off x="3659972" y="2296716"/>
            <a:ext cx="1824028" cy="1100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Stripping HTML tags, navigation menus, ads, and boilerplate to isolate the actual content.</a:t>
            </a:r>
            <a:endParaRPr lang="en-US" sz="1159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1200" y="2260048"/>
            <a:ext cx="178594" cy="2857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405544" y="1223367"/>
            <a:ext cx="2166928" cy="235911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6405544" y="1223367"/>
            <a:ext cx="2166928" cy="4286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7260394" y="1366242"/>
            <a:ext cx="457200" cy="457200"/>
          </a:xfrm>
          <a:prstGeom prst="ellipse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407" y="1466255"/>
            <a:ext cx="257175" cy="2571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587989" y="1937742"/>
            <a:ext cx="180203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Quality Classifiers</a:t>
            </a:r>
            <a:endParaRPr lang="en-US" sz="1397" dirty="0"/>
          </a:p>
        </p:txBody>
      </p:sp>
      <p:sp>
        <p:nvSpPr>
          <p:cNvPr id="24" name="Text 15"/>
          <p:cNvSpPr/>
          <p:nvPr/>
        </p:nvSpPr>
        <p:spPr>
          <a:xfrm>
            <a:off x="6576994" y="2296716"/>
            <a:ext cx="1824028" cy="1100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Using ML models (like BERT) to score text based on similarity to high-quality sources like Wikipedia.</a:t>
            </a:r>
            <a:endParaRPr lang="en-US" sz="1159" dirty="0"/>
          </a:p>
        </p:txBody>
      </p:sp>
      <p:sp>
        <p:nvSpPr>
          <p:cNvPr id="25" name="Shape 16"/>
          <p:cNvSpPr/>
          <p:nvPr/>
        </p:nvSpPr>
        <p:spPr>
          <a:xfrm>
            <a:off x="571500" y="3711067"/>
            <a:ext cx="8001000" cy="75366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7"/>
          <p:cNvSpPr/>
          <p:nvPr/>
        </p:nvSpPr>
        <p:spPr>
          <a:xfrm>
            <a:off x="571500" y="3711067"/>
            <a:ext cx="71438" cy="753666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/>
          <p:cNvSpPr/>
          <p:nvPr/>
        </p:nvSpPr>
        <p:spPr>
          <a:xfrm>
            <a:off x="714375" y="3854834"/>
            <a:ext cx="92790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8CC63F"/>
                </a:solidFill>
              </a:rPr>
              <a:t>90%+</a:t>
            </a:r>
            <a:endParaRPr lang="en-US" sz="2436" dirty="0"/>
          </a:p>
        </p:txBody>
      </p:sp>
      <p:sp>
        <p:nvSpPr>
          <p:cNvPr id="28" name="Text 19"/>
          <p:cNvSpPr/>
          <p:nvPr/>
        </p:nvSpPr>
        <p:spPr>
          <a:xfrm>
            <a:off x="1856594" y="3853942"/>
            <a:ext cx="6573031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of raw internet data is discarded during this filtering process to ensure the model learns from high-quality signals.</a:t>
            </a:r>
            <a:endParaRPr lang="en-US" sz="126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0961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PII and Safety Filtering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366242"/>
            <a:ext cx="3857625" cy="258960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71500" y="1366242"/>
            <a:ext cx="57150" cy="2589609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622524"/>
            <a:ext cx="2857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78719" y="1580555"/>
            <a:ext cx="136613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565C0"/>
                </a:solidFill>
              </a:rPr>
              <a:t>PII Removal</a:t>
            </a:r>
            <a:endParaRPr lang="en-US" sz="1602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785813" y="2088654"/>
            <a:ext cx="128588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21556" y="2035969"/>
            <a:ext cx="131246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Email Addresses</a:t>
            </a:r>
            <a:endParaRPr lang="en-US" sz="1269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785813" y="2429768"/>
            <a:ext cx="128588" cy="128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21556" y="2377083"/>
            <a:ext cx="131230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Phone Numbers</a:t>
            </a:r>
            <a:endParaRPr lang="en-US" sz="1269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785813" y="2770882"/>
            <a:ext cx="128588" cy="12858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21556" y="2718197"/>
            <a:ext cx="19490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Social Security Numbers</a:t>
            </a:r>
            <a:endParaRPr lang="en-US" sz="1269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tretch>
            <a:fillRect/>
          </a:stretch>
        </p:blipFill>
        <p:spPr>
          <a:xfrm>
            <a:off x="785813" y="3111996"/>
            <a:ext cx="128588" cy="12858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21556" y="3059311"/>
            <a:ext cx="103403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IP Addresses</a:t>
            </a:r>
            <a:endParaRPr lang="en-US" sz="1269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785813" y="3453110"/>
            <a:ext cx="128588" cy="12858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021556" y="3400425"/>
            <a:ext cx="20464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Private Keys &amp; Passwords</a:t>
            </a:r>
            <a:endParaRPr lang="en-US" sz="1269" dirty="0"/>
          </a:p>
        </p:txBody>
      </p:sp>
      <p:sp>
        <p:nvSpPr>
          <p:cNvPr id="19" name="Shape 9"/>
          <p:cNvSpPr/>
          <p:nvPr/>
        </p:nvSpPr>
        <p:spPr>
          <a:xfrm>
            <a:off x="4714875" y="1366242"/>
            <a:ext cx="3857625" cy="258960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0"/>
          <p:cNvSpPr/>
          <p:nvPr/>
        </p:nvSpPr>
        <p:spPr>
          <a:xfrm>
            <a:off x="4714875" y="1366242"/>
            <a:ext cx="57150" cy="2589609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1622524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264944" y="1580555"/>
            <a:ext cx="174399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D32F2F"/>
                </a:solidFill>
              </a:rPr>
              <a:t>Safety Filtering</a:t>
            </a:r>
            <a:endParaRPr lang="en-US" sz="1602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4929188" y="2088654"/>
            <a:ext cx="80367" cy="12858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116711" y="2035969"/>
            <a:ext cx="16231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Toxic &amp; Hate Speech</a:t>
            </a:r>
            <a:endParaRPr lang="en-US" sz="1269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2">
            <a:alphaModFix amt="70000"/>
          </a:blip>
          <a:stretch>
            <a:fillRect/>
          </a:stretch>
        </p:blipFill>
        <p:spPr>
          <a:xfrm>
            <a:off x="4929188" y="2429768"/>
            <a:ext cx="80367" cy="128588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116711" y="2377083"/>
            <a:ext cx="174195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Adult / NSFW Content</a:t>
            </a:r>
            <a:endParaRPr lang="en-US" sz="1269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3">
            <a:alphaModFix amt="70000"/>
          </a:blip>
          <a:stretch>
            <a:fillRect/>
          </a:stretch>
        </p:blipFill>
        <p:spPr>
          <a:xfrm>
            <a:off x="4929188" y="2770882"/>
            <a:ext cx="80367" cy="12858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116711" y="2718197"/>
            <a:ext cx="136166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Malware &amp; Spam</a:t>
            </a:r>
            <a:endParaRPr lang="en-US" sz="1269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14">
            <a:alphaModFix amt="70000"/>
          </a:blip>
          <a:stretch>
            <a:fillRect/>
          </a:stretch>
        </p:blipFill>
        <p:spPr>
          <a:xfrm>
            <a:off x="4929188" y="3111996"/>
            <a:ext cx="80367" cy="128588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5116711" y="3059311"/>
            <a:ext cx="183948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Harassment &amp; Bullying</a:t>
            </a:r>
            <a:endParaRPr lang="en-US" sz="1269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4929188" y="3453110"/>
            <a:ext cx="80367" cy="128588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5116711" y="3400425"/>
            <a:ext cx="72096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PII Leaks</a:t>
            </a:r>
            <a:endParaRPr lang="en-US" sz="1269" dirty="0"/>
          </a:p>
        </p:txBody>
      </p:sp>
      <p:sp>
        <p:nvSpPr>
          <p:cNvPr id="33" name="Shape 17"/>
          <p:cNvSpPr/>
          <p:nvPr/>
        </p:nvSpPr>
        <p:spPr>
          <a:xfrm>
            <a:off x="571500" y="4241602"/>
            <a:ext cx="8001000" cy="839391"/>
          </a:xfrm>
          <a:prstGeom prst="rect">
            <a:avLst/>
          </a:prstGeom>
          <a:solidFill>
            <a:srgbClr val="F1F8E9"/>
          </a:solidFill>
          <a:ln w="9144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8"/>
          <p:cNvSpPr/>
          <p:nvPr/>
        </p:nvSpPr>
        <p:spPr>
          <a:xfrm>
            <a:off x="571500" y="4241602"/>
            <a:ext cx="8001000" cy="83939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Filtering is critical because </a:t>
            </a:r>
            <a:r>
              <a:rPr lang="en-US" sz="1193" b="1" dirty="0">
                <a:solidFill>
                  <a:srgbClr val="8CC63F"/>
                </a:solidFill>
              </a:rPr>
              <a:t>models memorize training data</a:t>
            </a:r>
            <a:r>
              <a:rPr lang="en-US" sz="1193" b="1" dirty="0">
                <a:solidFill>
                  <a:srgbClr val="333333"/>
                </a:solidFill>
              </a:rPr>
              <a:t>. Removing sensitive data prevents privacy leaks and reduces harmful outputs.</a:t>
            </a:r>
            <a:endParaRPr lang="en-US" sz="119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9279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Deduplication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151930"/>
            <a:ext cx="64293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333333"/>
                </a:solidFill>
              </a:rPr>
              <a:t>Removing duplicate content is crucial. If a model sees the same text many times, it memorizes it instead of learning to generalize.</a:t>
            </a:r>
            <a:endParaRPr lang="en-US" sz="1486" dirty="0"/>
          </a:p>
        </p:txBody>
      </p:sp>
      <p:sp>
        <p:nvSpPr>
          <p:cNvPr id="6" name="Shape 2"/>
          <p:cNvSpPr/>
          <p:nvPr/>
        </p:nvSpPr>
        <p:spPr>
          <a:xfrm>
            <a:off x="571500" y="1926301"/>
            <a:ext cx="2476509" cy="215562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1926301"/>
            <a:ext cx="2476509" cy="2857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069176"/>
            <a:ext cx="357188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4375" y="2497801"/>
            <a:ext cx="219075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URL Level</a:t>
            </a:r>
            <a:endParaRPr lang="en-US" sz="1193" dirty="0"/>
          </a:p>
        </p:txBody>
      </p:sp>
      <p:sp>
        <p:nvSpPr>
          <p:cNvPr id="10" name="Text 5"/>
          <p:cNvSpPr/>
          <p:nvPr/>
        </p:nvSpPr>
        <p:spPr>
          <a:xfrm>
            <a:off x="714375" y="2838915"/>
            <a:ext cx="219075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Removing duplicate pages based on their web address. Keeps only the most recent or canonical version of a webpage.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3333759" y="1926301"/>
            <a:ext cx="2476509" cy="215562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3333759" y="1926301"/>
            <a:ext cx="2476509" cy="2857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634" y="2069176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76634" y="2497801"/>
            <a:ext cx="219075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Document Level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3476634" y="2838915"/>
            <a:ext cx="219075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Using algorithms like </a:t>
            </a:r>
            <a:r>
              <a:rPr lang="en-US" sz="987" b="1" dirty="0">
                <a:solidFill>
                  <a:srgbClr val="555555"/>
                </a:solidFill>
              </a:rPr>
              <a:t>MinHash</a:t>
            </a:r>
            <a:r>
              <a:rPr lang="en-US" sz="1050" dirty="0">
                <a:solidFill>
                  <a:srgbClr val="555555"/>
                </a:solidFill>
              </a:rPr>
              <a:t> to find near-duplicates. Handles content that is identical but hosted on different sites.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6096019" y="1926301"/>
            <a:ext cx="2476509" cy="215562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096019" y="1926301"/>
            <a:ext cx="2476509" cy="2857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94" y="2069176"/>
            <a:ext cx="250031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38894" y="2497801"/>
            <a:ext cx="219075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Line Level</a:t>
            </a:r>
            <a:endParaRPr lang="en-US" sz="1193" dirty="0"/>
          </a:p>
        </p:txBody>
      </p:sp>
      <p:sp>
        <p:nvSpPr>
          <p:cNvPr id="20" name="Text 13"/>
          <p:cNvSpPr/>
          <p:nvPr/>
        </p:nvSpPr>
        <p:spPr>
          <a:xfrm>
            <a:off x="6238894" y="2838915"/>
            <a:ext cx="2190759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Removing repeated boilerplate text like navigation menus, cookie warnings, and "subscribe" buttons that appear on every page.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571500" y="4196228"/>
            <a:ext cx="8001000" cy="925116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571500" y="4196228"/>
            <a:ext cx="42863" cy="925116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714375" y="4339103"/>
            <a:ext cx="7715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8CC63F"/>
                </a:solidFill>
              </a:rPr>
              <a:t>WHY IT MATTERS</a:t>
            </a:r>
            <a:endParaRPr lang="en-US" sz="1090" dirty="0"/>
          </a:p>
        </p:txBody>
      </p:sp>
      <p:sp>
        <p:nvSpPr>
          <p:cNvPr id="24" name="Text 17"/>
          <p:cNvSpPr/>
          <p:nvPr/>
        </p:nvSpPr>
        <p:spPr>
          <a:xfrm>
            <a:off x="714375" y="4589134"/>
            <a:ext cx="77152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Deduplication prevents the model from outputting verbatim training data (copyright/privacy risk) and forces it to learn underlying patterns.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The Final Corpus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437680"/>
            <a:ext cx="3500438" cy="1000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900"/>
              </a:lnSpc>
              <a:buNone/>
            </a:pPr>
            <a:r>
              <a:rPr lang="en-US" sz="7254" b="1" dirty="0">
                <a:solidFill>
                  <a:srgbClr val="8CC63F"/>
                </a:solidFill>
              </a:rPr>
              <a:t>15T+</a:t>
            </a:r>
            <a:endParaRPr lang="en-US" sz="7254" dirty="0"/>
          </a:p>
        </p:txBody>
      </p:sp>
      <p:sp>
        <p:nvSpPr>
          <p:cNvPr id="6" name="Text 2"/>
          <p:cNvSpPr/>
          <p:nvPr/>
        </p:nvSpPr>
        <p:spPr>
          <a:xfrm>
            <a:off x="571500" y="2509242"/>
            <a:ext cx="35004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11111"/>
                </a:solidFill>
              </a:rPr>
              <a:t>Tokens</a:t>
            </a:r>
            <a:endParaRPr lang="en-US" sz="1808" dirty="0"/>
          </a:p>
        </p:txBody>
      </p:sp>
      <p:sp>
        <p:nvSpPr>
          <p:cNvPr id="7" name="Text 3"/>
          <p:cNvSpPr/>
          <p:nvPr/>
        </p:nvSpPr>
        <p:spPr>
          <a:xfrm>
            <a:off x="571500" y="3073598"/>
            <a:ext cx="3500438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After rigorous filtering and deduplication, we are left with a massive, high-quality dataset ready for training.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571500" y="4229407"/>
            <a:ext cx="16073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777777"/>
                </a:solidFill>
              </a:rPr>
              <a:t>Storage Size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571500" y="4420502"/>
            <a:ext cx="1607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~40 Terabytes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2464594" y="4229407"/>
            <a:ext cx="16073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777777"/>
                </a:solidFill>
              </a:rPr>
              <a:t>Training Cost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2464594" y="4420502"/>
            <a:ext cx="16073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~$10M - $100M</a:t>
            </a:r>
            <a:endParaRPr lang="en-US" sz="1193" dirty="0"/>
          </a:p>
        </p:txBody>
      </p:sp>
      <p:sp>
        <p:nvSpPr>
          <p:cNvPr id="12" name="Shape 8"/>
          <p:cNvSpPr/>
          <p:nvPr/>
        </p:nvSpPr>
        <p:spPr>
          <a:xfrm>
            <a:off x="4500563" y="1478896"/>
            <a:ext cx="4071938" cy="313432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00563" y="1478896"/>
            <a:ext cx="4071938" cy="4286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786313" y="1786077"/>
            <a:ext cx="35004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Typical Dataset Composition</a:t>
            </a:r>
            <a:endParaRPr lang="en-US" sz="1193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2162910"/>
            <a:ext cx="3500438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285750"/>
            <a:ext cx="1285875" cy="43557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04615" y="1634133"/>
            <a:ext cx="93477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8CC63F"/>
                </a:solidFill>
              </a:rPr>
              <a:t>Part 2</a:t>
            </a:r>
            <a:endParaRPr lang="en-US" sz="1602" dirty="0"/>
          </a:p>
        </p:txBody>
      </p:sp>
      <p:sp>
        <p:nvSpPr>
          <p:cNvPr id="5" name="Text 1"/>
          <p:cNvSpPr/>
          <p:nvPr/>
        </p:nvSpPr>
        <p:spPr>
          <a:xfrm>
            <a:off x="2341141" y="2089547"/>
            <a:ext cx="4461718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111111"/>
                </a:solidFill>
              </a:rPr>
              <a:t>Tokenization</a:t>
            </a:r>
            <a:endParaRPr lang="en-US" sz="4145" dirty="0"/>
          </a:p>
        </p:txBody>
      </p:sp>
      <p:sp>
        <p:nvSpPr>
          <p:cNvPr id="6" name="Text 2"/>
          <p:cNvSpPr/>
          <p:nvPr/>
        </p:nvSpPr>
        <p:spPr>
          <a:xfrm>
            <a:off x="3367971" y="3275409"/>
            <a:ext cx="240803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555555"/>
                </a:solidFill>
              </a:rPr>
              <a:t>How Text Becomes Numbers</a:t>
            </a:r>
            <a:endParaRPr lang="en-US" sz="126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4050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Why Tokenization?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151930"/>
            <a:ext cx="349329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The Language Barrier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571500" y="1496616"/>
            <a:ext cx="3493294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Neural networks are fundamentally mathematical functions. They perform matrix multiplications on </a:t>
            </a:r>
            <a:r>
              <a:rPr lang="en-US" sz="1193" b="1" dirty="0">
                <a:solidFill>
                  <a:srgbClr val="8CC63F"/>
                </a:solidFill>
              </a:rPr>
              <a:t>numbers</a:t>
            </a:r>
            <a:r>
              <a:rPr lang="en-US" sz="1269" dirty="0">
                <a:solidFill>
                  <a:srgbClr val="555555"/>
                </a:solidFill>
              </a:rPr>
              <a:t>, not strings of text.</a:t>
            </a:r>
            <a:endParaRPr lang="en-US" sz="1269" dirty="0"/>
          </a:p>
        </p:txBody>
      </p:sp>
      <p:sp>
        <p:nvSpPr>
          <p:cNvPr id="7" name="Text 3"/>
          <p:cNvSpPr/>
          <p:nvPr/>
        </p:nvSpPr>
        <p:spPr>
          <a:xfrm>
            <a:off x="571500" y="2599544"/>
            <a:ext cx="349329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The Bridge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571500" y="2944230"/>
            <a:ext cx="3493294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Tokenization is the translation layer that converts raw text into a sequence of integers that the model can process.</a:t>
            </a:r>
            <a:endParaRPr lang="en-US" sz="1269" dirty="0"/>
          </a:p>
        </p:txBody>
      </p:sp>
      <p:sp>
        <p:nvSpPr>
          <p:cNvPr id="9" name="Text 5"/>
          <p:cNvSpPr/>
          <p:nvPr/>
        </p:nvSpPr>
        <p:spPr>
          <a:xfrm>
            <a:off x="571500" y="3807144"/>
            <a:ext cx="349329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Atomic Units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571500" y="4151830"/>
            <a:ext cx="3493294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These integers (tokens) become the "atomic units" of language for the model—they can be characters, words, or sub-words.</a:t>
            </a:r>
            <a:endParaRPr lang="en-US" sz="1269" dirty="0"/>
          </a:p>
        </p:txBody>
      </p:sp>
      <p:sp>
        <p:nvSpPr>
          <p:cNvPr id="11" name="Shape 7"/>
          <p:cNvSpPr/>
          <p:nvPr/>
        </p:nvSpPr>
        <p:spPr>
          <a:xfrm>
            <a:off x="4493419" y="1274518"/>
            <a:ext cx="4079081" cy="3714750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786313" y="1567411"/>
            <a:ext cx="3500438" cy="7500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86313" y="1567411"/>
            <a:ext cx="42863" cy="75009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72063" y="1710286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99999"/>
                </a:solidFill>
              </a:rPr>
              <a:t>Input Text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5072063" y="1901382"/>
            <a:ext cx="29289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33333"/>
                </a:solidFill>
              </a:rPr>
              <a:t>"Hello AI"</a:t>
            </a:r>
            <a:endParaRPr lang="en-US" sz="1397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806" y="2388943"/>
            <a:ext cx="171450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786313" y="2760418"/>
            <a:ext cx="3500438" cy="6715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786313" y="2760418"/>
            <a:ext cx="42863" cy="67151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072063" y="2903293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99999"/>
                </a:solidFill>
              </a:rPr>
              <a:t>Tokenizer</a:t>
            </a:r>
            <a:endParaRPr lang="en-US" sz="784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063" y="3121177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86375" y="3094388"/>
            <a:ext cx="9272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Processing...</a:t>
            </a:r>
            <a:endParaRPr lang="en-US" sz="987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806" y="3503368"/>
            <a:ext cx="171450" cy="2286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786313" y="3874843"/>
            <a:ext cx="3500438" cy="8215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4786313" y="3874843"/>
            <a:ext cx="42863" cy="82153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5072063" y="4017718"/>
            <a:ext cx="2928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999999"/>
                </a:solidFill>
              </a:rPr>
              <a:t>Output Integers</a:t>
            </a:r>
            <a:endParaRPr lang="en-US" sz="784" dirty="0"/>
          </a:p>
        </p:txBody>
      </p:sp>
      <p:sp>
        <p:nvSpPr>
          <p:cNvPr id="26" name="Shape 19"/>
          <p:cNvSpPr/>
          <p:nvPr/>
        </p:nvSpPr>
        <p:spPr>
          <a:xfrm>
            <a:off x="5072063" y="4208813"/>
            <a:ext cx="714961" cy="344686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5072063" y="4208813"/>
            <a:ext cx="714961" cy="344686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565C0"/>
                </a:solidFill>
              </a:rPr>
              <a:t>15496</a:t>
            </a:r>
            <a:endParaRPr lang="en-US" sz="1397" dirty="0"/>
          </a:p>
        </p:txBody>
      </p:sp>
      <p:sp>
        <p:nvSpPr>
          <p:cNvPr id="28" name="Shape 21"/>
          <p:cNvSpPr/>
          <p:nvPr/>
        </p:nvSpPr>
        <p:spPr>
          <a:xfrm>
            <a:off x="5858461" y="4208813"/>
            <a:ext cx="600549" cy="344686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5858461" y="4208813"/>
            <a:ext cx="600549" cy="344686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565C0"/>
                </a:solidFill>
              </a:rPr>
              <a:t>9552</a:t>
            </a:r>
            <a:endParaRPr lang="en-US" sz="139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102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Byte Pair Encoding (BPE)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194792"/>
            <a:ext cx="36361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The industry-standard algorithm used by GPT-4, Llama, and Claude to build their vocabulary.</a:t>
            </a:r>
            <a:endParaRPr lang="en-US" sz="1159" dirty="0"/>
          </a:p>
        </p:txBody>
      </p:sp>
      <p:sp>
        <p:nvSpPr>
          <p:cNvPr id="6" name="Shape 2"/>
          <p:cNvSpPr/>
          <p:nvPr/>
        </p:nvSpPr>
        <p:spPr>
          <a:xfrm>
            <a:off x="571500" y="1766292"/>
            <a:ext cx="257175" cy="257175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71500" y="1766292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CC63F"/>
                </a:solidFill>
              </a:rPr>
              <a:t>counter(step-counter)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928688" y="1766292"/>
            <a:ext cx="32789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Initialize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928688" y="2057400"/>
            <a:ext cx="32789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Start with the 256 individual bytes as the base vocabulary. Every piece of data can be represented.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71500" y="2714625"/>
            <a:ext cx="257175" cy="257175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71500" y="271462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CC63F"/>
                </a:solidFill>
              </a:rPr>
              <a:t>counter(step-counter)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928688" y="2714625"/>
            <a:ext cx="32789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Count Frequencies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928688" y="3005733"/>
            <a:ext cx="32789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Scan the training data to find the most frequent pair of adjacent tokens (e.g., "e" and "r").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71500" y="3491508"/>
            <a:ext cx="257175" cy="257175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71500" y="3491508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CC63F"/>
                </a:solidFill>
              </a:rPr>
              <a:t>counter(step-counter)</a:t>
            </a:r>
            <a:endParaRPr lang="en-US" sz="987" dirty="0"/>
          </a:p>
        </p:txBody>
      </p:sp>
      <p:sp>
        <p:nvSpPr>
          <p:cNvPr id="16" name="Text 12"/>
          <p:cNvSpPr/>
          <p:nvPr/>
        </p:nvSpPr>
        <p:spPr>
          <a:xfrm>
            <a:off x="928688" y="3491508"/>
            <a:ext cx="32789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Merge</a:t>
            </a:r>
            <a:endParaRPr lang="en-US" sz="1193" dirty="0"/>
          </a:p>
        </p:txBody>
      </p:sp>
      <p:sp>
        <p:nvSpPr>
          <p:cNvPr id="17" name="Text 13"/>
          <p:cNvSpPr/>
          <p:nvPr/>
        </p:nvSpPr>
        <p:spPr>
          <a:xfrm>
            <a:off x="928688" y="3782616"/>
            <a:ext cx="32789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Create a new token (e.g., "er") and replace all occurrences. The vocabulary size grows by +1.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71500" y="4268391"/>
            <a:ext cx="257175" cy="257175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71500" y="4268391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8CC63F"/>
                </a:solidFill>
              </a:rPr>
              <a:t>counter(step-counter)</a:t>
            </a:r>
            <a:endParaRPr lang="en-US" sz="987" dirty="0"/>
          </a:p>
        </p:txBody>
      </p:sp>
      <p:sp>
        <p:nvSpPr>
          <p:cNvPr id="20" name="Text 16"/>
          <p:cNvSpPr/>
          <p:nvPr/>
        </p:nvSpPr>
        <p:spPr>
          <a:xfrm>
            <a:off x="928688" y="4268391"/>
            <a:ext cx="32789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Repeat</a:t>
            </a:r>
            <a:endParaRPr lang="en-US" sz="1193" dirty="0"/>
          </a:p>
        </p:txBody>
      </p:sp>
      <p:sp>
        <p:nvSpPr>
          <p:cNvPr id="21" name="Text 17"/>
          <p:cNvSpPr/>
          <p:nvPr/>
        </p:nvSpPr>
        <p:spPr>
          <a:xfrm>
            <a:off x="928688" y="4559498"/>
            <a:ext cx="32789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Continue merging until the target vocabulary size (e.g., </a:t>
            </a:r>
            <a:r>
              <a:rPr lang="en-US" sz="987" b="1" dirty="0">
                <a:solidFill>
                  <a:srgbClr val="1565C0"/>
                </a:solidFill>
              </a:rPr>
              <a:t>100,277</a:t>
            </a:r>
            <a:r>
              <a:rPr lang="en-US" sz="1050" dirty="0">
                <a:solidFill>
                  <a:srgbClr val="555555"/>
                </a:solidFill>
              </a:rPr>
              <a:t> for GPT-4) is reached.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36294" y="1194792"/>
            <a:ext cx="3936206" cy="3214688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6406" y="1802011"/>
            <a:ext cx="2143125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918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BPE in Action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151930"/>
            <a:ext cx="8001000" cy="83939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71500" y="1151930"/>
            <a:ext cx="42863" cy="8393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85800" y="1266230"/>
            <a:ext cx="77724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555555"/>
                </a:solidFill>
              </a:rPr>
              <a:t>Common English (1 Word = 1 Token)</a:t>
            </a:r>
            <a:endParaRPr lang="en-US" sz="987" dirty="0"/>
          </a:p>
        </p:txBody>
      </p:sp>
      <p:sp>
        <p:nvSpPr>
          <p:cNvPr id="8" name="Shape 4"/>
          <p:cNvSpPr/>
          <p:nvPr/>
        </p:nvSpPr>
        <p:spPr>
          <a:xfrm>
            <a:off x="685800" y="1518047"/>
            <a:ext cx="576244" cy="35897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85800" y="1518047"/>
            <a:ext cx="576244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The</a:t>
            </a:r>
            <a:endParaRPr lang="en-US" sz="1486" dirty="0"/>
          </a:p>
        </p:txBody>
      </p:sp>
      <p:sp>
        <p:nvSpPr>
          <p:cNvPr id="10" name="Shape 6"/>
          <p:cNvSpPr/>
          <p:nvPr/>
        </p:nvSpPr>
        <p:spPr>
          <a:xfrm>
            <a:off x="1290619" y="1518047"/>
            <a:ext cx="729667" cy="35897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290619" y="1518047"/>
            <a:ext cx="729667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quick</a:t>
            </a:r>
            <a:endParaRPr lang="en-US" sz="1486" dirty="0"/>
          </a:p>
        </p:txBody>
      </p:sp>
      <p:sp>
        <p:nvSpPr>
          <p:cNvPr id="12" name="Shape 8"/>
          <p:cNvSpPr/>
          <p:nvPr/>
        </p:nvSpPr>
        <p:spPr>
          <a:xfrm>
            <a:off x="2048861" y="1518047"/>
            <a:ext cx="828089" cy="35897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048861" y="1518047"/>
            <a:ext cx="828089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brown</a:t>
            </a:r>
            <a:endParaRPr lang="en-US" sz="1486" dirty="0"/>
          </a:p>
        </p:txBody>
      </p:sp>
      <p:sp>
        <p:nvSpPr>
          <p:cNvPr id="14" name="Shape 10"/>
          <p:cNvSpPr/>
          <p:nvPr/>
        </p:nvSpPr>
        <p:spPr>
          <a:xfrm>
            <a:off x="2905525" y="1518047"/>
            <a:ext cx="520238" cy="35897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905525" y="1518047"/>
            <a:ext cx="520238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fox</a:t>
            </a:r>
            <a:endParaRPr lang="en-US" sz="1486" dirty="0"/>
          </a:p>
        </p:txBody>
      </p:sp>
      <p:sp>
        <p:nvSpPr>
          <p:cNvPr id="16" name="Shape 12"/>
          <p:cNvSpPr/>
          <p:nvPr/>
        </p:nvSpPr>
        <p:spPr>
          <a:xfrm>
            <a:off x="571500" y="2119908"/>
            <a:ext cx="8001000" cy="83939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71500" y="2119908"/>
            <a:ext cx="42863" cy="8393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85800" y="2234208"/>
            <a:ext cx="77724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555555"/>
                </a:solidFill>
              </a:rPr>
              <a:t>Rare / Complex Words (Split into Sub-words)</a:t>
            </a:r>
            <a:endParaRPr lang="en-US" sz="987" dirty="0"/>
          </a:p>
        </p:txBody>
      </p:sp>
      <p:sp>
        <p:nvSpPr>
          <p:cNvPr id="19" name="Shape 15"/>
          <p:cNvSpPr/>
          <p:nvPr/>
        </p:nvSpPr>
        <p:spPr>
          <a:xfrm>
            <a:off x="685800" y="2486025"/>
            <a:ext cx="498444" cy="35897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85800" y="2486025"/>
            <a:ext cx="498444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Un</a:t>
            </a:r>
            <a:endParaRPr lang="en-US" sz="1486" dirty="0"/>
          </a:p>
        </p:txBody>
      </p:sp>
      <p:sp>
        <p:nvSpPr>
          <p:cNvPr id="21" name="Shape 17"/>
          <p:cNvSpPr/>
          <p:nvPr/>
        </p:nvSpPr>
        <p:spPr>
          <a:xfrm>
            <a:off x="1212819" y="2486025"/>
            <a:ext cx="1114927" cy="35897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212819" y="2486025"/>
            <a:ext cx="1114927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character</a:t>
            </a:r>
            <a:endParaRPr lang="en-US" sz="1486" dirty="0"/>
          </a:p>
        </p:txBody>
      </p:sp>
      <p:sp>
        <p:nvSpPr>
          <p:cNvPr id="23" name="Shape 19"/>
          <p:cNvSpPr/>
          <p:nvPr/>
        </p:nvSpPr>
        <p:spPr>
          <a:xfrm>
            <a:off x="2356321" y="2486025"/>
            <a:ext cx="595861" cy="35897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356321" y="2486025"/>
            <a:ext cx="595861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istic</a:t>
            </a:r>
            <a:endParaRPr lang="en-US" sz="1486" dirty="0"/>
          </a:p>
        </p:txBody>
      </p:sp>
      <p:sp>
        <p:nvSpPr>
          <p:cNvPr id="25" name="Shape 21"/>
          <p:cNvSpPr/>
          <p:nvPr/>
        </p:nvSpPr>
        <p:spPr>
          <a:xfrm>
            <a:off x="2980758" y="2486025"/>
            <a:ext cx="546050" cy="35897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2980758" y="2486025"/>
            <a:ext cx="546050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ally</a:t>
            </a:r>
            <a:endParaRPr lang="en-US" sz="1486" dirty="0"/>
          </a:p>
        </p:txBody>
      </p:sp>
      <p:sp>
        <p:nvSpPr>
          <p:cNvPr id="27" name="Shape 23"/>
          <p:cNvSpPr/>
          <p:nvPr/>
        </p:nvSpPr>
        <p:spPr>
          <a:xfrm>
            <a:off x="571500" y="3087886"/>
            <a:ext cx="8001000" cy="83939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571500" y="3087886"/>
            <a:ext cx="42863" cy="839391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85800" y="3202186"/>
            <a:ext cx="77724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555555"/>
                </a:solidFill>
              </a:rPr>
              <a:t>Code &amp; Spacing (Exact Preservation)</a:t>
            </a:r>
            <a:endParaRPr lang="en-US" sz="987" dirty="0"/>
          </a:p>
        </p:txBody>
      </p:sp>
      <p:sp>
        <p:nvSpPr>
          <p:cNvPr id="30" name="Shape 26"/>
          <p:cNvSpPr/>
          <p:nvPr/>
        </p:nvSpPr>
        <p:spPr>
          <a:xfrm>
            <a:off x="685800" y="3454003"/>
            <a:ext cx="681670" cy="35897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85800" y="3454003"/>
            <a:ext cx="681670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print</a:t>
            </a:r>
            <a:endParaRPr lang="en-US" sz="1486" dirty="0"/>
          </a:p>
        </p:txBody>
      </p:sp>
      <p:sp>
        <p:nvSpPr>
          <p:cNvPr id="32" name="Shape 28"/>
          <p:cNvSpPr/>
          <p:nvPr/>
        </p:nvSpPr>
        <p:spPr>
          <a:xfrm>
            <a:off x="1396045" y="3454003"/>
            <a:ext cx="288624" cy="35897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1396045" y="3454003"/>
            <a:ext cx="288624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(</a:t>
            </a:r>
            <a:endParaRPr lang="en-US" sz="1486" dirty="0"/>
          </a:p>
        </p:txBody>
      </p:sp>
      <p:sp>
        <p:nvSpPr>
          <p:cNvPr id="34" name="Shape 30"/>
          <p:cNvSpPr/>
          <p:nvPr/>
        </p:nvSpPr>
        <p:spPr>
          <a:xfrm>
            <a:off x="1713244" y="3454003"/>
            <a:ext cx="310223" cy="35897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1713244" y="3454003"/>
            <a:ext cx="310223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"</a:t>
            </a:r>
            <a:endParaRPr lang="en-US" sz="1486" dirty="0"/>
          </a:p>
        </p:txBody>
      </p:sp>
      <p:sp>
        <p:nvSpPr>
          <p:cNvPr id="36" name="Shape 32"/>
          <p:cNvSpPr/>
          <p:nvPr/>
        </p:nvSpPr>
        <p:spPr>
          <a:xfrm>
            <a:off x="2052042" y="3454003"/>
            <a:ext cx="713873" cy="35897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2052042" y="3454003"/>
            <a:ext cx="713873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Hello</a:t>
            </a:r>
            <a:endParaRPr lang="en-US" sz="1486" dirty="0"/>
          </a:p>
        </p:txBody>
      </p:sp>
      <p:sp>
        <p:nvSpPr>
          <p:cNvPr id="38" name="Shape 34"/>
          <p:cNvSpPr/>
          <p:nvPr/>
        </p:nvSpPr>
        <p:spPr>
          <a:xfrm>
            <a:off x="2794490" y="3454003"/>
            <a:ext cx="310223" cy="35897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2794490" y="3454003"/>
            <a:ext cx="310223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"</a:t>
            </a:r>
            <a:endParaRPr lang="en-US" sz="1486" dirty="0"/>
          </a:p>
        </p:txBody>
      </p:sp>
      <p:sp>
        <p:nvSpPr>
          <p:cNvPr id="40" name="Shape 36"/>
          <p:cNvSpPr/>
          <p:nvPr/>
        </p:nvSpPr>
        <p:spPr>
          <a:xfrm>
            <a:off x="3133288" y="3454003"/>
            <a:ext cx="288624" cy="35897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3133288" y="3454003"/>
            <a:ext cx="288624" cy="358973"/>
          </a:xfrm>
          <a:prstGeom prst="rect">
            <a:avLst/>
          </a:prstGeom>
          <a:noFill/>
          <a:ln/>
        </p:spPr>
        <p:txBody>
          <a:bodyPr wrap="none" lIns="136017" tIns="51054" rIns="136017" bIns="51054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dirty="0">
                <a:solidFill>
                  <a:srgbClr val="FFFFFF"/>
                </a:solidFill>
              </a:rPr>
              <a:t>)</a:t>
            </a:r>
            <a:endParaRPr lang="en-US" sz="1486" dirty="0"/>
          </a:p>
        </p:txBody>
      </p:sp>
      <p:sp>
        <p:nvSpPr>
          <p:cNvPr id="42" name="Shape 38"/>
          <p:cNvSpPr/>
          <p:nvPr/>
        </p:nvSpPr>
        <p:spPr>
          <a:xfrm>
            <a:off x="571500" y="4013002"/>
            <a:ext cx="2476509" cy="981875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671513" y="4113014"/>
            <a:ext cx="22669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Efficiency</a:t>
            </a:r>
            <a:endParaRPr lang="en-US" sz="987" dirty="0"/>
          </a:p>
        </p:txBody>
      </p:sp>
      <p:sp>
        <p:nvSpPr>
          <p:cNvPr id="44" name="Text 40"/>
          <p:cNvSpPr/>
          <p:nvPr/>
        </p:nvSpPr>
        <p:spPr>
          <a:xfrm>
            <a:off x="671513" y="4379119"/>
            <a:ext cx="2266941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Common words are compressed into single integers, keeping the sequence length short.</a:t>
            </a:r>
            <a:endParaRPr lang="en-US" sz="942" dirty="0"/>
          </a:p>
        </p:txBody>
      </p:sp>
      <p:sp>
        <p:nvSpPr>
          <p:cNvPr id="45" name="Shape 41"/>
          <p:cNvSpPr/>
          <p:nvPr/>
        </p:nvSpPr>
        <p:spPr>
          <a:xfrm>
            <a:off x="3324216" y="4013002"/>
            <a:ext cx="2481253" cy="981875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3429000" y="4113014"/>
            <a:ext cx="2271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Flexibility</a:t>
            </a:r>
            <a:endParaRPr lang="en-US" sz="987" dirty="0"/>
          </a:p>
        </p:txBody>
      </p:sp>
      <p:sp>
        <p:nvSpPr>
          <p:cNvPr id="47" name="Text 43"/>
          <p:cNvSpPr/>
          <p:nvPr/>
        </p:nvSpPr>
        <p:spPr>
          <a:xfrm>
            <a:off x="3429000" y="4379119"/>
            <a:ext cx="2271713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Rare words can still be represented by combining smaller sub-word tokens. No "unknown" words.</a:t>
            </a:r>
            <a:endParaRPr lang="en-US" sz="942" dirty="0"/>
          </a:p>
        </p:txBody>
      </p:sp>
      <p:sp>
        <p:nvSpPr>
          <p:cNvPr id="48" name="Shape 44"/>
          <p:cNvSpPr/>
          <p:nvPr/>
        </p:nvSpPr>
        <p:spPr>
          <a:xfrm>
            <a:off x="6086475" y="4013002"/>
            <a:ext cx="2486025" cy="981875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6196031" y="4113014"/>
            <a:ext cx="227648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Reversibility</a:t>
            </a:r>
            <a:endParaRPr lang="en-US" sz="987" dirty="0"/>
          </a:p>
        </p:txBody>
      </p:sp>
      <p:sp>
        <p:nvSpPr>
          <p:cNvPr id="50" name="Text 46"/>
          <p:cNvSpPr/>
          <p:nvPr/>
        </p:nvSpPr>
        <p:spPr>
          <a:xfrm>
            <a:off x="6196031" y="4379119"/>
            <a:ext cx="2276484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The process is lossless. We can perfectly reconstruct the original text from the tokens.</a:t>
            </a:r>
            <a:endParaRPr lang="en-US" sz="94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Vocabulary Size Trade-offs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180505"/>
            <a:ext cx="3857625" cy="180022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71500" y="1180505"/>
            <a:ext cx="3857625" cy="4286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28663" y="1337667"/>
            <a:ext cx="35433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Small Vocabulary (&lt; 30k)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728663" y="1678781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•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871538" y="1678781"/>
            <a:ext cx="3519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Pros: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871538" y="1678781"/>
            <a:ext cx="32928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Small embedding table (fewer parameters), easier to train rare tokens.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28663" y="2110978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•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71538" y="2110978"/>
            <a:ext cx="3850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Cons: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871538" y="2110978"/>
            <a:ext cx="2765217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Text requires more tokens (longer sequences), slower inference/generation.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28663" y="2543175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•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71538" y="2543175"/>
            <a:ext cx="6483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Example:</a:t>
            </a:r>
            <a:endParaRPr lang="en-US" sz="987" dirty="0"/>
          </a:p>
        </p:txBody>
      </p:sp>
      <p:sp>
        <p:nvSpPr>
          <p:cNvPr id="16" name="Text 12"/>
          <p:cNvSpPr/>
          <p:nvPr/>
        </p:nvSpPr>
        <p:spPr>
          <a:xfrm>
            <a:off x="1519917" y="2543175"/>
            <a:ext cx="16117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Character-level models.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14875" y="1180505"/>
            <a:ext cx="3857625" cy="180022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14875" y="1180505"/>
            <a:ext cx="3857625" cy="4286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872038" y="1337667"/>
            <a:ext cx="35433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CC63F"/>
                </a:solidFill>
              </a:rPr>
              <a:t>Large Vocabulary (&gt; 100k)</a:t>
            </a:r>
            <a:endParaRPr lang="en-US" sz="1193" dirty="0"/>
          </a:p>
        </p:txBody>
      </p:sp>
      <p:sp>
        <p:nvSpPr>
          <p:cNvPr id="20" name="Text 16"/>
          <p:cNvSpPr/>
          <p:nvPr/>
        </p:nvSpPr>
        <p:spPr>
          <a:xfrm>
            <a:off x="4872038" y="1678781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•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014913" y="1678781"/>
            <a:ext cx="3519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Pros: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5014913" y="1678781"/>
            <a:ext cx="3330857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Text is compressed into fewer tokens, faster inference, larger context window.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872038" y="2110978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•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14913" y="2110978"/>
            <a:ext cx="3850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Cons:</a:t>
            </a:r>
            <a:endParaRPr lang="en-US" sz="987" dirty="0"/>
          </a:p>
        </p:txBody>
      </p:sp>
      <p:sp>
        <p:nvSpPr>
          <p:cNvPr id="25" name="Text 21"/>
          <p:cNvSpPr/>
          <p:nvPr/>
        </p:nvSpPr>
        <p:spPr>
          <a:xfrm>
            <a:off x="5014913" y="2110978"/>
            <a:ext cx="295768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Massive embedding table (can be 1B+ params), rare tokens are undertrained.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872038" y="2543175"/>
            <a:ext cx="5374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•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014913" y="2543175"/>
            <a:ext cx="64837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Example:</a:t>
            </a:r>
            <a:endParaRPr lang="en-US" sz="987" dirty="0"/>
          </a:p>
        </p:txBody>
      </p:sp>
      <p:sp>
        <p:nvSpPr>
          <p:cNvPr id="28" name="Text 24"/>
          <p:cNvSpPr/>
          <p:nvPr/>
        </p:nvSpPr>
        <p:spPr>
          <a:xfrm>
            <a:off x="5663292" y="2543175"/>
            <a:ext cx="21194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GPT-4 (~100k), Llama 3 (~128k).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71500" y="3109317"/>
            <a:ext cx="8001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777777"/>
                </a:solidFill>
              </a:rPr>
              <a:t>The Optimization Curve: Finding the Sweet Spot</a:t>
            </a:r>
            <a:endParaRPr lang="en-US" sz="885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41489"/>
            <a:ext cx="800100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8200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Why Models Can't Spell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294805"/>
            <a:ext cx="3786188" cy="259061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71500" y="1294805"/>
            <a:ext cx="3786188" cy="4286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71525" y="1494830"/>
            <a:ext cx="33861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What You See</a:t>
            </a:r>
            <a:endParaRPr lang="en-US" sz="1397" dirty="0"/>
          </a:p>
        </p:txBody>
      </p:sp>
      <p:sp>
        <p:nvSpPr>
          <p:cNvPr id="8" name="Shape 4"/>
          <p:cNvSpPr/>
          <p:nvPr/>
        </p:nvSpPr>
        <p:spPr>
          <a:xfrm>
            <a:off x="875109" y="2160984"/>
            <a:ext cx="285750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75109" y="2160984"/>
            <a:ext cx="285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S</a:t>
            </a:r>
            <a:endParaRPr lang="en-US" sz="1193" dirty="0"/>
          </a:p>
        </p:txBody>
      </p:sp>
      <p:sp>
        <p:nvSpPr>
          <p:cNvPr id="10" name="Shape 6"/>
          <p:cNvSpPr/>
          <p:nvPr/>
        </p:nvSpPr>
        <p:spPr>
          <a:xfrm>
            <a:off x="1196578" y="2160984"/>
            <a:ext cx="285750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196578" y="2160984"/>
            <a:ext cx="285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t</a:t>
            </a:r>
            <a:endParaRPr lang="en-US" sz="1193" dirty="0"/>
          </a:p>
        </p:txBody>
      </p:sp>
      <p:sp>
        <p:nvSpPr>
          <p:cNvPr id="12" name="Shape 8"/>
          <p:cNvSpPr/>
          <p:nvPr/>
        </p:nvSpPr>
        <p:spPr>
          <a:xfrm>
            <a:off x="1518047" y="2160984"/>
            <a:ext cx="285750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518047" y="2160984"/>
            <a:ext cx="285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r</a:t>
            </a:r>
            <a:endParaRPr lang="en-US" sz="1193" dirty="0"/>
          </a:p>
        </p:txBody>
      </p:sp>
      <p:sp>
        <p:nvSpPr>
          <p:cNvPr id="14" name="Shape 10"/>
          <p:cNvSpPr/>
          <p:nvPr/>
        </p:nvSpPr>
        <p:spPr>
          <a:xfrm>
            <a:off x="1839516" y="2160984"/>
            <a:ext cx="285750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839516" y="2160984"/>
            <a:ext cx="285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a</a:t>
            </a:r>
            <a:endParaRPr lang="en-US" sz="1193" dirty="0"/>
          </a:p>
        </p:txBody>
      </p:sp>
      <p:sp>
        <p:nvSpPr>
          <p:cNvPr id="16" name="Shape 12"/>
          <p:cNvSpPr/>
          <p:nvPr/>
        </p:nvSpPr>
        <p:spPr>
          <a:xfrm>
            <a:off x="2160984" y="2160984"/>
            <a:ext cx="285750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160984" y="2160984"/>
            <a:ext cx="285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w</a:t>
            </a:r>
            <a:endParaRPr lang="en-US" sz="1193" dirty="0"/>
          </a:p>
        </p:txBody>
      </p:sp>
      <p:sp>
        <p:nvSpPr>
          <p:cNvPr id="18" name="Shape 14"/>
          <p:cNvSpPr/>
          <p:nvPr/>
        </p:nvSpPr>
        <p:spPr>
          <a:xfrm>
            <a:off x="2482453" y="2160984"/>
            <a:ext cx="285750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482453" y="2160984"/>
            <a:ext cx="285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b</a:t>
            </a:r>
            <a:endParaRPr lang="en-US" sz="1193" dirty="0"/>
          </a:p>
        </p:txBody>
      </p:sp>
      <p:sp>
        <p:nvSpPr>
          <p:cNvPr id="20" name="Shape 16"/>
          <p:cNvSpPr/>
          <p:nvPr/>
        </p:nvSpPr>
        <p:spPr>
          <a:xfrm>
            <a:off x="2803922" y="2160984"/>
            <a:ext cx="285750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2803922" y="2160984"/>
            <a:ext cx="285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e</a:t>
            </a:r>
            <a:endParaRPr lang="en-US" sz="1193" dirty="0"/>
          </a:p>
        </p:txBody>
      </p:sp>
      <p:sp>
        <p:nvSpPr>
          <p:cNvPr id="22" name="Shape 18"/>
          <p:cNvSpPr/>
          <p:nvPr/>
        </p:nvSpPr>
        <p:spPr>
          <a:xfrm>
            <a:off x="3125391" y="2160984"/>
            <a:ext cx="285750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125391" y="2160984"/>
            <a:ext cx="285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r</a:t>
            </a:r>
            <a:endParaRPr lang="en-US" sz="1193" dirty="0"/>
          </a:p>
        </p:txBody>
      </p:sp>
      <p:sp>
        <p:nvSpPr>
          <p:cNvPr id="24" name="Shape 20"/>
          <p:cNvSpPr/>
          <p:nvPr/>
        </p:nvSpPr>
        <p:spPr>
          <a:xfrm>
            <a:off x="3446859" y="2160984"/>
            <a:ext cx="285750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446859" y="2160984"/>
            <a:ext cx="285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r</a:t>
            </a:r>
            <a:endParaRPr lang="en-US" sz="1193" dirty="0"/>
          </a:p>
        </p:txBody>
      </p:sp>
      <p:sp>
        <p:nvSpPr>
          <p:cNvPr id="26" name="Shape 22"/>
          <p:cNvSpPr/>
          <p:nvPr/>
        </p:nvSpPr>
        <p:spPr>
          <a:xfrm>
            <a:off x="3768328" y="2160984"/>
            <a:ext cx="285750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768328" y="2160984"/>
            <a:ext cx="2857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y</a:t>
            </a:r>
            <a:endParaRPr lang="en-US" sz="1193" dirty="0"/>
          </a:p>
        </p:txBody>
      </p:sp>
      <p:sp>
        <p:nvSpPr>
          <p:cNvPr id="28" name="Text 24"/>
          <p:cNvSpPr/>
          <p:nvPr/>
        </p:nvSpPr>
        <p:spPr>
          <a:xfrm>
            <a:off x="771525" y="2982516"/>
            <a:ext cx="3386138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You see a sequence of </a:t>
            </a:r>
            <a:r>
              <a:rPr lang="en-US" sz="1090" b="1" dirty="0">
                <a:solidFill>
                  <a:srgbClr val="111111"/>
                </a:solidFill>
              </a:rPr>
              <a:t>10 distinct letters</a:t>
            </a:r>
            <a:r>
              <a:rPr lang="en-US" sz="1159" dirty="0">
                <a:solidFill>
                  <a:srgbClr val="555555"/>
                </a:solidFill>
              </a:rPr>
              <a:t>. You can easily count the 3 'r's because the visual information is explicit.</a:t>
            </a:r>
            <a:endParaRPr lang="en-US" sz="1159" dirty="0"/>
          </a:p>
        </p:txBody>
      </p:sp>
      <p:sp>
        <p:nvSpPr>
          <p:cNvPr id="29" name="Shape 25"/>
          <p:cNvSpPr/>
          <p:nvPr/>
        </p:nvSpPr>
        <p:spPr>
          <a:xfrm>
            <a:off x="4786313" y="1294805"/>
            <a:ext cx="3786188" cy="259061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786313" y="1294805"/>
            <a:ext cx="3786188" cy="4286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986338" y="1494830"/>
            <a:ext cx="33861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What The Model Sees</a:t>
            </a:r>
            <a:endParaRPr lang="en-US" sz="1397" dirty="0"/>
          </a:p>
        </p:txBody>
      </p:sp>
      <p:sp>
        <p:nvSpPr>
          <p:cNvPr id="32" name="Shape 28"/>
          <p:cNvSpPr/>
          <p:nvPr/>
        </p:nvSpPr>
        <p:spPr>
          <a:xfrm>
            <a:off x="6036469" y="2053828"/>
            <a:ext cx="1285875" cy="571500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036469" y="2053828"/>
            <a:ext cx="1285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9823</a:t>
            </a:r>
            <a:endParaRPr lang="en-US" sz="1808" dirty="0"/>
          </a:p>
        </p:txBody>
      </p:sp>
      <p:sp>
        <p:nvSpPr>
          <p:cNvPr id="34" name="Text 30"/>
          <p:cNvSpPr/>
          <p:nvPr/>
        </p:nvSpPr>
        <p:spPr>
          <a:xfrm>
            <a:off x="4986338" y="2982516"/>
            <a:ext cx="3386138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The model sees a </a:t>
            </a:r>
            <a:r>
              <a:rPr lang="en-US" sz="1090" b="1" dirty="0">
                <a:solidFill>
                  <a:srgbClr val="111111"/>
                </a:solidFill>
              </a:rPr>
              <a:t>single atomic integer</a:t>
            </a:r>
            <a:r>
              <a:rPr lang="en-US" sz="1159" dirty="0">
                <a:solidFill>
                  <a:srgbClr val="555555"/>
                </a:solidFill>
              </a:rPr>
              <a:t>. The internal letters are hidden inside this opaque ID.</a:t>
            </a:r>
            <a:endParaRPr lang="en-US" sz="1159" dirty="0"/>
          </a:p>
        </p:txBody>
      </p:sp>
      <p:sp>
        <p:nvSpPr>
          <p:cNvPr id="35" name="Shape 31"/>
          <p:cNvSpPr/>
          <p:nvPr/>
        </p:nvSpPr>
        <p:spPr>
          <a:xfrm>
            <a:off x="571500" y="4014006"/>
            <a:ext cx="8001000" cy="696516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571500" y="4014006"/>
            <a:ext cx="42863" cy="696516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47964"/>
            <a:ext cx="171450" cy="2286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000125" y="4128306"/>
            <a:ext cx="7458075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The "Strawberry" Problem:</a:t>
            </a:r>
            <a:r>
              <a:rPr lang="en-US" sz="1269" dirty="0">
                <a:solidFill>
                  <a:srgbClr val="333333"/>
                </a:solidFill>
              </a:rPr>
              <a:t> Models fail to count letters because they don't "see" them. They must memorize spelling by rote, like learning a phone number.</a:t>
            </a:r>
            <a:endParaRPr lang="en-US" sz="119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05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Why Models Struggle with Math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109067"/>
            <a:ext cx="36504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Inconsistent Tokenization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571500" y="1453753"/>
            <a:ext cx="3650456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Numbers are not treated as digits. They are chopped into arbitrary chunks based on frequency. This destroys the place-value system.</a:t>
            </a:r>
            <a:endParaRPr lang="en-US" sz="1159" dirty="0"/>
          </a:p>
        </p:txBody>
      </p:sp>
      <p:sp>
        <p:nvSpPr>
          <p:cNvPr id="7" name="Text 3"/>
          <p:cNvSpPr/>
          <p:nvPr/>
        </p:nvSpPr>
        <p:spPr>
          <a:xfrm>
            <a:off x="571500" y="2199494"/>
            <a:ext cx="36504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777777"/>
                </a:solidFill>
              </a:rPr>
              <a:t>Number: 512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571500" y="2445953"/>
            <a:ext cx="479971" cy="333970"/>
          </a:xfrm>
          <a:prstGeom prst="rect">
            <a:avLst/>
          </a:prstGeom>
          <a:solidFill>
            <a:srgbClr val="E3F2FD"/>
          </a:solidFill>
          <a:ln w="9144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71500" y="2445953"/>
            <a:ext cx="479971" cy="33397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1565C0"/>
                </a:solidFill>
              </a:rPr>
              <a:t>512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571500" y="2879936"/>
            <a:ext cx="36504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777777"/>
                </a:solidFill>
              </a:rPr>
              <a:t>Number: 5120</a:t>
            </a:r>
            <a:endParaRPr lang="en-US" sz="885" dirty="0"/>
          </a:p>
        </p:txBody>
      </p:sp>
      <p:sp>
        <p:nvSpPr>
          <p:cNvPr id="11" name="Shape 7"/>
          <p:cNvSpPr/>
          <p:nvPr/>
        </p:nvSpPr>
        <p:spPr>
          <a:xfrm>
            <a:off x="571500" y="3126395"/>
            <a:ext cx="381884" cy="333970"/>
          </a:xfrm>
          <a:prstGeom prst="rect">
            <a:avLst/>
          </a:prstGeom>
          <a:solidFill>
            <a:srgbClr val="FFEBEE"/>
          </a:solidFill>
          <a:ln w="9144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71500" y="3126395"/>
            <a:ext cx="381884" cy="33397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32F2F"/>
                </a:solidFill>
              </a:rPr>
              <a:t>51</a:t>
            </a:r>
            <a:endParaRPr lang="en-US" sz="1269" dirty="0"/>
          </a:p>
        </p:txBody>
      </p:sp>
      <p:sp>
        <p:nvSpPr>
          <p:cNvPr id="13" name="Shape 9"/>
          <p:cNvSpPr/>
          <p:nvPr/>
        </p:nvSpPr>
        <p:spPr>
          <a:xfrm>
            <a:off x="1010534" y="3126395"/>
            <a:ext cx="381884" cy="333970"/>
          </a:xfrm>
          <a:prstGeom prst="rect">
            <a:avLst/>
          </a:prstGeom>
          <a:solidFill>
            <a:srgbClr val="FFEBEE"/>
          </a:solidFill>
          <a:ln w="9144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010534" y="3126395"/>
            <a:ext cx="381884" cy="33397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32F2F"/>
                </a:solidFill>
              </a:rPr>
              <a:t>20</a:t>
            </a:r>
            <a:endParaRPr lang="en-US" sz="1269" dirty="0"/>
          </a:p>
        </p:txBody>
      </p:sp>
      <p:sp>
        <p:nvSpPr>
          <p:cNvPr id="15" name="Text 11"/>
          <p:cNvSpPr/>
          <p:nvPr/>
        </p:nvSpPr>
        <p:spPr>
          <a:xfrm>
            <a:off x="571500" y="3560378"/>
            <a:ext cx="36504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777777"/>
                </a:solidFill>
              </a:rPr>
              <a:t>Number: 5125</a:t>
            </a:r>
            <a:endParaRPr lang="en-US" sz="885" dirty="0"/>
          </a:p>
        </p:txBody>
      </p:sp>
      <p:sp>
        <p:nvSpPr>
          <p:cNvPr id="16" name="Shape 12"/>
          <p:cNvSpPr/>
          <p:nvPr/>
        </p:nvSpPr>
        <p:spPr>
          <a:xfrm>
            <a:off x="571500" y="3806837"/>
            <a:ext cx="479971" cy="333970"/>
          </a:xfrm>
          <a:prstGeom prst="rect">
            <a:avLst/>
          </a:prstGeom>
          <a:solidFill>
            <a:srgbClr val="FFEBEE"/>
          </a:solidFill>
          <a:ln w="9144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71500" y="3806837"/>
            <a:ext cx="479971" cy="33397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32F2F"/>
                </a:solidFill>
              </a:rPr>
              <a:t>512</a:t>
            </a:r>
            <a:endParaRPr lang="en-US" sz="1269" dirty="0"/>
          </a:p>
        </p:txBody>
      </p:sp>
      <p:sp>
        <p:nvSpPr>
          <p:cNvPr id="18" name="Shape 14"/>
          <p:cNvSpPr/>
          <p:nvPr/>
        </p:nvSpPr>
        <p:spPr>
          <a:xfrm>
            <a:off x="1108621" y="3806837"/>
            <a:ext cx="283825" cy="333970"/>
          </a:xfrm>
          <a:prstGeom prst="rect">
            <a:avLst/>
          </a:prstGeom>
          <a:solidFill>
            <a:srgbClr val="FFEBEE"/>
          </a:solidFill>
          <a:ln w="9144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108621" y="3806837"/>
            <a:ext cx="283825" cy="33397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D32F2F"/>
                </a:solidFill>
              </a:rPr>
              <a:t>5</a:t>
            </a:r>
            <a:endParaRPr lang="en-US" sz="1269" dirty="0"/>
          </a:p>
        </p:txBody>
      </p:sp>
      <p:sp>
        <p:nvSpPr>
          <p:cNvPr id="20" name="Shape 16"/>
          <p:cNvSpPr/>
          <p:nvPr/>
        </p:nvSpPr>
        <p:spPr>
          <a:xfrm>
            <a:off x="4650581" y="1109067"/>
            <a:ext cx="3921919" cy="364144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650581" y="1109067"/>
            <a:ext cx="42863" cy="3641443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86313" y="1223367"/>
            <a:ext cx="367188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The Arithmetic Gap</a:t>
            </a:r>
            <a:endParaRPr lang="en-US" sz="1397" dirty="0"/>
          </a:p>
        </p:txBody>
      </p:sp>
      <p:sp>
        <p:nvSpPr>
          <p:cNvPr id="23" name="Text 19"/>
          <p:cNvSpPr/>
          <p:nvPr/>
        </p:nvSpPr>
        <p:spPr>
          <a:xfrm>
            <a:off x="4786313" y="1568053"/>
            <a:ext cx="3671888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To add numbers, you need to align digits (ones, tens, hundreds). But the model sees opaque symbols that don't align.</a:t>
            </a:r>
            <a:endParaRPr lang="en-US" sz="1159" dirty="0"/>
          </a:p>
        </p:txBody>
      </p:sp>
      <p:sp>
        <p:nvSpPr>
          <p:cNvPr id="24" name="Shape 20"/>
          <p:cNvSpPr/>
          <p:nvPr/>
        </p:nvSpPr>
        <p:spPr>
          <a:xfrm>
            <a:off x="4786313" y="2313794"/>
            <a:ext cx="3671888" cy="1257998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872038" y="2399519"/>
            <a:ext cx="350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777777"/>
                </a:solidFill>
              </a:rPr>
              <a:t>Human View (Aligned Digits)</a:t>
            </a:r>
            <a:endParaRPr lang="en-US" sz="942" dirty="0"/>
          </a:p>
        </p:txBody>
      </p:sp>
      <p:sp>
        <p:nvSpPr>
          <p:cNvPr id="26" name="Text 22"/>
          <p:cNvSpPr/>
          <p:nvPr/>
        </p:nvSpPr>
        <p:spPr>
          <a:xfrm>
            <a:off x="4872038" y="2645978"/>
            <a:ext cx="3500438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04" kern="0" spc="4" dirty="0">
                <a:solidFill>
                  <a:srgbClr val="333333"/>
                </a:solidFill>
              </a:rPr>
              <a:t>512
 + 512
 -----</a:t>
            </a:r>
            <a:endParaRPr lang="en-US" sz="1704" dirty="0"/>
          </a:p>
        </p:txBody>
      </p:sp>
      <p:sp>
        <p:nvSpPr>
          <p:cNvPr id="27" name="Shape 23"/>
          <p:cNvSpPr/>
          <p:nvPr/>
        </p:nvSpPr>
        <p:spPr>
          <a:xfrm>
            <a:off x="4786313" y="3628941"/>
            <a:ext cx="3671888" cy="992981"/>
          </a:xfrm>
          <a:prstGeom prst="rect">
            <a:avLst/>
          </a:prstGeom>
          <a:solidFill>
            <a:srgbClr val="FFFFFF"/>
          </a:solidFill>
          <a:ln w="9144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872038" y="3714666"/>
            <a:ext cx="35004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D32F2F"/>
                </a:solidFill>
              </a:rPr>
              <a:t>Model View (Mismatched Tokens)</a:t>
            </a:r>
            <a:endParaRPr lang="en-US" sz="942" dirty="0"/>
          </a:p>
        </p:txBody>
      </p:sp>
      <p:sp>
        <p:nvSpPr>
          <p:cNvPr id="29" name="Shape 25"/>
          <p:cNvSpPr/>
          <p:nvPr/>
        </p:nvSpPr>
        <p:spPr>
          <a:xfrm>
            <a:off x="6021791" y="3961126"/>
            <a:ext cx="479971" cy="333970"/>
          </a:xfrm>
          <a:prstGeom prst="rect">
            <a:avLst/>
          </a:prstGeom>
          <a:solidFill>
            <a:srgbClr val="E3F2FD"/>
          </a:solidFill>
          <a:ln w="9144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021791" y="3961126"/>
            <a:ext cx="479971" cy="33397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1565C0"/>
                </a:solidFill>
              </a:rPr>
              <a:t>512</a:t>
            </a:r>
            <a:endParaRPr lang="en-US" sz="1269" dirty="0"/>
          </a:p>
        </p:txBody>
      </p:sp>
      <p:sp>
        <p:nvSpPr>
          <p:cNvPr id="31" name="Text 27"/>
          <p:cNvSpPr/>
          <p:nvPr/>
        </p:nvSpPr>
        <p:spPr>
          <a:xfrm>
            <a:off x="6566055" y="4011132"/>
            <a:ext cx="9808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000000"/>
                </a:solidFill>
              </a:rPr>
              <a:t>+</a:t>
            </a:r>
            <a:endParaRPr lang="en-US" sz="1269" dirty="0"/>
          </a:p>
        </p:txBody>
      </p:sp>
      <p:sp>
        <p:nvSpPr>
          <p:cNvPr id="32" name="Shape 28"/>
          <p:cNvSpPr/>
          <p:nvPr/>
        </p:nvSpPr>
        <p:spPr>
          <a:xfrm>
            <a:off x="6735580" y="3961126"/>
            <a:ext cx="479971" cy="333970"/>
          </a:xfrm>
          <a:prstGeom prst="rect">
            <a:avLst/>
          </a:prstGeom>
          <a:solidFill>
            <a:srgbClr val="E3F2FD"/>
          </a:solidFill>
          <a:ln w="9144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735580" y="3961126"/>
            <a:ext cx="479971" cy="33397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1565C0"/>
                </a:solidFill>
              </a:rPr>
              <a:t>512</a:t>
            </a:r>
            <a:endParaRPr lang="en-US" sz="1269" dirty="0"/>
          </a:p>
        </p:txBody>
      </p:sp>
      <p:sp>
        <p:nvSpPr>
          <p:cNvPr id="34" name="Text 30"/>
          <p:cNvSpPr/>
          <p:nvPr/>
        </p:nvSpPr>
        <p:spPr>
          <a:xfrm>
            <a:off x="4872038" y="4352246"/>
            <a:ext cx="3500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Model must memorize: "Token A + Token B = Token C"</a:t>
            </a:r>
            <a:endParaRPr lang="en-US" sz="834" dirty="0"/>
          </a:p>
        </p:txBody>
      </p:sp>
      <p:sp>
        <p:nvSpPr>
          <p:cNvPr id="35" name="Shape 31"/>
          <p:cNvSpPr/>
          <p:nvPr/>
        </p:nvSpPr>
        <p:spPr>
          <a:xfrm>
            <a:off x="571500" y="4779085"/>
            <a:ext cx="8001000" cy="385763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571500" y="4779085"/>
            <a:ext cx="42863" cy="38576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571500" y="4779085"/>
            <a:ext cx="8001000" cy="38576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Solution:</a:t>
            </a:r>
            <a:r>
              <a:rPr lang="en-US" sz="1159" dirty="0">
                <a:solidFill>
                  <a:srgbClr val="333333"/>
                </a:solidFill>
              </a:rPr>
              <a:t> Llama 3 and newer models split numbers into individual digits to fix this!</a:t>
            </a:r>
            <a:endParaRPr lang="en-US" sz="10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2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Special Tokens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59086"/>
            <a:ext cx="642937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Special tokens are the "control signals" of language models. They provide structure, mark boundaries, and trigger specific behaviors. They are not part of the natural text.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122001"/>
            <a:ext cx="3929063" cy="127443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122001"/>
            <a:ext cx="42863" cy="1274434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00088" y="2250588"/>
            <a:ext cx="1335100" cy="319683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00088" y="2250588"/>
            <a:ext cx="1335100" cy="3196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5252"/>
                </a:solidFill>
              </a:rPr>
              <a:t>&lt;|endoftext|&gt;</a:t>
            </a:r>
            <a:endParaRPr lang="en-US" sz="1269" dirty="0"/>
          </a:p>
        </p:txBody>
      </p:sp>
      <p:sp>
        <p:nvSpPr>
          <p:cNvPr id="10" name="Text 6"/>
          <p:cNvSpPr/>
          <p:nvPr/>
        </p:nvSpPr>
        <p:spPr>
          <a:xfrm>
            <a:off x="700088" y="2641709"/>
            <a:ext cx="36718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The Delimiter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700088" y="2907813"/>
            <a:ext cx="36718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Marks the absolute end of a document. Tells the model to stop generating or reset context for a new task.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4643438" y="2122001"/>
            <a:ext cx="3929063" cy="127443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643438" y="2122001"/>
            <a:ext cx="42863" cy="127443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772025" y="2250588"/>
            <a:ext cx="2054498" cy="319683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772025" y="2250588"/>
            <a:ext cx="2054498" cy="3196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448AFF"/>
                </a:solidFill>
              </a:rPr>
              <a:t>&lt;|user|&gt; &lt;|assistant|&gt;</a:t>
            </a:r>
            <a:endParaRPr lang="en-US" sz="1269" dirty="0"/>
          </a:p>
        </p:txBody>
      </p:sp>
      <p:sp>
        <p:nvSpPr>
          <p:cNvPr id="16" name="Text 12"/>
          <p:cNvSpPr/>
          <p:nvPr/>
        </p:nvSpPr>
        <p:spPr>
          <a:xfrm>
            <a:off x="4772025" y="2641709"/>
            <a:ext cx="36718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Dialogue Structure</a:t>
            </a:r>
            <a:endParaRPr lang="en-US" sz="987" dirty="0"/>
          </a:p>
        </p:txBody>
      </p:sp>
      <p:sp>
        <p:nvSpPr>
          <p:cNvPr id="17" name="Text 13"/>
          <p:cNvSpPr/>
          <p:nvPr/>
        </p:nvSpPr>
        <p:spPr>
          <a:xfrm>
            <a:off x="4772025" y="2907813"/>
            <a:ext cx="36718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Wraps content to define who is speaking. Transforms a raw stream of text into a structured conversation.</a:t>
            </a:r>
            <a:endParaRPr lang="en-US" sz="942" dirty="0"/>
          </a:p>
        </p:txBody>
      </p:sp>
      <p:sp>
        <p:nvSpPr>
          <p:cNvPr id="18" name="Shape 14"/>
          <p:cNvSpPr/>
          <p:nvPr/>
        </p:nvSpPr>
        <p:spPr>
          <a:xfrm>
            <a:off x="571500" y="3539310"/>
            <a:ext cx="3929063" cy="127443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71500" y="3539310"/>
            <a:ext cx="42863" cy="127443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00088" y="3667897"/>
            <a:ext cx="1127122" cy="319683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00088" y="3667897"/>
            <a:ext cx="1127122" cy="3196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D740"/>
                </a:solidFill>
              </a:rPr>
              <a:t>&lt;|system|&gt;</a:t>
            </a:r>
            <a:endParaRPr lang="en-US" sz="1269" dirty="0"/>
          </a:p>
        </p:txBody>
      </p:sp>
      <p:sp>
        <p:nvSpPr>
          <p:cNvPr id="22" name="Text 18"/>
          <p:cNvSpPr/>
          <p:nvPr/>
        </p:nvSpPr>
        <p:spPr>
          <a:xfrm>
            <a:off x="700088" y="4059017"/>
            <a:ext cx="36718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System Instruction</a:t>
            </a:r>
            <a:endParaRPr lang="en-US" sz="987" dirty="0"/>
          </a:p>
        </p:txBody>
      </p:sp>
      <p:sp>
        <p:nvSpPr>
          <p:cNvPr id="23" name="Text 19"/>
          <p:cNvSpPr/>
          <p:nvPr/>
        </p:nvSpPr>
        <p:spPr>
          <a:xfrm>
            <a:off x="700088" y="4325122"/>
            <a:ext cx="36718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Defines the behavior, persona, and constraints of the model before the conversation begins.</a:t>
            </a:r>
            <a:endParaRPr lang="en-US" sz="942" dirty="0"/>
          </a:p>
        </p:txBody>
      </p:sp>
      <p:sp>
        <p:nvSpPr>
          <p:cNvPr id="24" name="Shape 20"/>
          <p:cNvSpPr/>
          <p:nvPr/>
        </p:nvSpPr>
        <p:spPr>
          <a:xfrm>
            <a:off x="4643438" y="3539310"/>
            <a:ext cx="3929063" cy="127443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643438" y="3539310"/>
            <a:ext cx="42863" cy="1274434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772025" y="3667897"/>
            <a:ext cx="1359601" cy="319683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772025" y="3667897"/>
            <a:ext cx="1359601" cy="319683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9F0AE"/>
                </a:solidFill>
              </a:rPr>
              <a:t>&lt;|fim_prefix|&gt;</a:t>
            </a:r>
            <a:endParaRPr lang="en-US" sz="1269" dirty="0"/>
          </a:p>
        </p:txBody>
      </p:sp>
      <p:sp>
        <p:nvSpPr>
          <p:cNvPr id="28" name="Text 24"/>
          <p:cNvSpPr/>
          <p:nvPr/>
        </p:nvSpPr>
        <p:spPr>
          <a:xfrm>
            <a:off x="4772025" y="4059017"/>
            <a:ext cx="36718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Fill-In-The-Middle</a:t>
            </a:r>
            <a:endParaRPr lang="en-US" sz="987" dirty="0"/>
          </a:p>
        </p:txBody>
      </p:sp>
      <p:sp>
        <p:nvSpPr>
          <p:cNvPr id="29" name="Text 25"/>
          <p:cNvSpPr/>
          <p:nvPr/>
        </p:nvSpPr>
        <p:spPr>
          <a:xfrm>
            <a:off x="4772025" y="4325122"/>
            <a:ext cx="36718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Used for code completion. Allows the model to look at both preceding and following code to fill a gap.</a:t>
            </a:r>
            <a:endParaRPr lang="en-US" sz="94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516" y="623655"/>
            <a:ext cx="892969" cy="714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095127" y="1745224"/>
            <a:ext cx="9537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8CC63F"/>
                </a:solidFill>
              </a:rPr>
              <a:t>Part 3</a:t>
            </a:r>
            <a:endParaRPr lang="en-US" sz="1602" dirty="0"/>
          </a:p>
        </p:txBody>
      </p:sp>
      <p:sp>
        <p:nvSpPr>
          <p:cNvPr id="6" name="Text 1"/>
          <p:cNvSpPr/>
          <p:nvPr/>
        </p:nvSpPr>
        <p:spPr>
          <a:xfrm>
            <a:off x="1357313" y="2200638"/>
            <a:ext cx="6429375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11111"/>
                </a:solidFill>
              </a:rPr>
              <a:t>Neural Network Architecture</a:t>
            </a:r>
            <a:endParaRPr lang="en-US" sz="3731" dirty="0"/>
          </a:p>
        </p:txBody>
      </p:sp>
      <p:sp>
        <p:nvSpPr>
          <p:cNvPr id="7" name="Text 2"/>
          <p:cNvSpPr/>
          <p:nvPr/>
        </p:nvSpPr>
        <p:spPr>
          <a:xfrm>
            <a:off x="1714500" y="4032284"/>
            <a:ext cx="571500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Understanding the Transformer and how LLMs process information</a:t>
            </a:r>
            <a:endParaRPr lang="en-US" sz="170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6674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The Transformer Architecture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191220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71500" y="119122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CC63F"/>
                </a:solidFill>
              </a:rPr>
              <a:t>1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1000125" y="1191220"/>
            <a:ext cx="32075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Token Embeddings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1000125" y="1460897"/>
            <a:ext cx="32075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Converts integer tokens into dense vectors (lists of numbers) that capture semantic meaning.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71500" y="2275284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71500" y="2275284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CC63F"/>
                </a:solidFill>
              </a:rPr>
              <a:t>2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1000125" y="2275284"/>
            <a:ext cx="32075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Positional Encodings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1000125" y="2544961"/>
            <a:ext cx="32075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Injects information about the order of tokens, as the attention mechanism itself has no concept of sequence.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71500" y="3359348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1500" y="335934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CC63F"/>
                </a:solidFill>
              </a:rPr>
              <a:t>3</a:t>
            </a:r>
            <a:endParaRPr lang="en-US" sz="1193" dirty="0"/>
          </a:p>
        </p:txBody>
      </p:sp>
      <p:sp>
        <p:nvSpPr>
          <p:cNvPr id="15" name="Text 11"/>
          <p:cNvSpPr/>
          <p:nvPr/>
        </p:nvSpPr>
        <p:spPr>
          <a:xfrm>
            <a:off x="1000125" y="3359348"/>
            <a:ext cx="32075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Transformer Blocks</a:t>
            </a:r>
            <a:endParaRPr lang="en-US" sz="1193" dirty="0"/>
          </a:p>
        </p:txBody>
      </p:sp>
      <p:sp>
        <p:nvSpPr>
          <p:cNvPr id="16" name="Text 12"/>
          <p:cNvSpPr/>
          <p:nvPr/>
        </p:nvSpPr>
        <p:spPr>
          <a:xfrm>
            <a:off x="1000125" y="3629025"/>
            <a:ext cx="32075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The "brain" of the model. Layers of Attention and Feedforward networks repeated N times (e.g., 96 layers).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71500" y="4443413"/>
            <a:ext cx="285750" cy="285750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71500" y="444341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8CC63F"/>
                </a:solidFill>
              </a:rPr>
              <a:t>4</a:t>
            </a:r>
            <a:endParaRPr lang="en-US" sz="1193" dirty="0"/>
          </a:p>
        </p:txBody>
      </p:sp>
      <p:sp>
        <p:nvSpPr>
          <p:cNvPr id="19" name="Text 15"/>
          <p:cNvSpPr/>
          <p:nvPr/>
        </p:nvSpPr>
        <p:spPr>
          <a:xfrm>
            <a:off x="1000125" y="4443413"/>
            <a:ext cx="320754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Output Head</a:t>
            </a:r>
            <a:endParaRPr lang="en-US" sz="1193" dirty="0"/>
          </a:p>
        </p:txBody>
      </p:sp>
      <p:sp>
        <p:nvSpPr>
          <p:cNvPr id="20" name="Text 16"/>
          <p:cNvSpPr/>
          <p:nvPr/>
        </p:nvSpPr>
        <p:spPr>
          <a:xfrm>
            <a:off x="1000125" y="4713089"/>
            <a:ext cx="32075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Projects the final vector back to vocabulary size to predict the probability of the next token.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636294" y="1366242"/>
            <a:ext cx="3936206" cy="3571875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6425" y="2152055"/>
            <a:ext cx="1843088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5076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Billions of Parameters</a:t>
            </a:r>
            <a:endParaRPr lang="en-US" sz="2436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17141"/>
            <a:ext cx="214313" cy="1714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92969" y="1366242"/>
            <a:ext cx="212967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What is a Parameter?</a:t>
            </a:r>
            <a:endParaRPr lang="en-US" sz="1397" dirty="0"/>
          </a:p>
        </p:txBody>
      </p:sp>
      <p:sp>
        <p:nvSpPr>
          <p:cNvPr id="7" name="Text 2"/>
          <p:cNvSpPr/>
          <p:nvPr/>
        </p:nvSpPr>
        <p:spPr>
          <a:xfrm>
            <a:off x="571500" y="1746647"/>
            <a:ext cx="3643313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A parameter is a </a:t>
            </a:r>
            <a:r>
              <a:rPr lang="en-US" sz="1090" b="1" dirty="0">
                <a:solidFill>
                  <a:srgbClr val="1565C0"/>
                </a:solidFill>
              </a:rPr>
              <a:t>weight</a:t>
            </a:r>
            <a:r>
              <a:rPr lang="en-US" sz="1159" dirty="0">
                <a:solidFill>
                  <a:srgbClr val="555555"/>
                </a:solidFill>
              </a:rPr>
              <a:t> in the neural network. It's a single floating-point number that represents a connection strength between neurons.</a:t>
            </a:r>
            <a:endParaRPr lang="en-US" sz="1159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026271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50106" y="2975372"/>
            <a:ext cx="21844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Storage of Knowledge</a:t>
            </a:r>
            <a:endParaRPr lang="en-US" sz="1397" dirty="0"/>
          </a:p>
        </p:txBody>
      </p:sp>
      <p:sp>
        <p:nvSpPr>
          <p:cNvPr id="10" name="Text 4"/>
          <p:cNvSpPr/>
          <p:nvPr/>
        </p:nvSpPr>
        <p:spPr>
          <a:xfrm>
            <a:off x="571500" y="3355777"/>
            <a:ext cx="3643313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Collectively, these billions of weights encode everything the model knows—from grammar rules to historical facts and reasoning patterns.</a:t>
            </a:r>
            <a:endParaRPr lang="en-US" sz="1159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99657"/>
            <a:ext cx="171450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50106" y="4348758"/>
            <a:ext cx="127036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Scaling Laws</a:t>
            </a:r>
            <a:endParaRPr lang="en-US" sz="1397" dirty="0"/>
          </a:p>
        </p:txBody>
      </p:sp>
      <p:sp>
        <p:nvSpPr>
          <p:cNvPr id="13" name="Text 6"/>
          <p:cNvSpPr/>
          <p:nvPr/>
        </p:nvSpPr>
        <p:spPr>
          <a:xfrm>
            <a:off x="571500" y="4729163"/>
            <a:ext cx="3643313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Generally, more parameters = higher intelligence, better reasoning, and broader knowledge coverage.</a:t>
            </a:r>
            <a:endParaRPr lang="en-US" sz="1159" dirty="0"/>
          </a:p>
        </p:txBody>
      </p:sp>
      <p:sp>
        <p:nvSpPr>
          <p:cNvPr id="14" name="Text 7"/>
          <p:cNvSpPr/>
          <p:nvPr/>
        </p:nvSpPr>
        <p:spPr>
          <a:xfrm>
            <a:off x="4929188" y="2265462"/>
            <a:ext cx="103059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GPT-2 (2019)</a:t>
            </a:r>
            <a:endParaRPr lang="en-US" sz="1193" dirty="0"/>
          </a:p>
        </p:txBody>
      </p:sp>
      <p:sp>
        <p:nvSpPr>
          <p:cNvPr id="15" name="Text 8"/>
          <p:cNvSpPr/>
          <p:nvPr/>
        </p:nvSpPr>
        <p:spPr>
          <a:xfrm>
            <a:off x="8084437" y="2186880"/>
            <a:ext cx="488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565C0"/>
                </a:solidFill>
              </a:rPr>
              <a:t>1.5B</a:t>
            </a:r>
            <a:endParaRPr lang="en-US" sz="1602" dirty="0"/>
          </a:p>
        </p:txBody>
      </p:sp>
      <p:sp>
        <p:nvSpPr>
          <p:cNvPr id="16" name="Shape 9"/>
          <p:cNvSpPr/>
          <p:nvPr/>
        </p:nvSpPr>
        <p:spPr>
          <a:xfrm>
            <a:off x="4929188" y="2570857"/>
            <a:ext cx="3643313" cy="171450"/>
          </a:xfrm>
          <a:prstGeom prst="round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4929188" y="3070920"/>
            <a:ext cx="103059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GPT-3 (2020)</a:t>
            </a:r>
            <a:endParaRPr lang="en-US" sz="1193" dirty="0"/>
          </a:p>
        </p:txBody>
      </p:sp>
      <p:sp>
        <p:nvSpPr>
          <p:cNvPr id="18" name="Text 11"/>
          <p:cNvSpPr/>
          <p:nvPr/>
        </p:nvSpPr>
        <p:spPr>
          <a:xfrm>
            <a:off x="8016543" y="2992338"/>
            <a:ext cx="55595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565C0"/>
                </a:solidFill>
              </a:rPr>
              <a:t>175B</a:t>
            </a:r>
            <a:endParaRPr lang="en-US" sz="1602" dirty="0"/>
          </a:p>
        </p:txBody>
      </p:sp>
      <p:sp>
        <p:nvSpPr>
          <p:cNvPr id="19" name="Shape 12"/>
          <p:cNvSpPr/>
          <p:nvPr/>
        </p:nvSpPr>
        <p:spPr>
          <a:xfrm>
            <a:off x="4929188" y="3376315"/>
            <a:ext cx="3643313" cy="171450"/>
          </a:xfrm>
          <a:prstGeom prst="round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4929188" y="3876377"/>
            <a:ext cx="136733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Llama 3.1 (2024)</a:t>
            </a:r>
            <a:endParaRPr lang="en-US" sz="1193" dirty="0"/>
          </a:p>
        </p:txBody>
      </p:sp>
      <p:sp>
        <p:nvSpPr>
          <p:cNvPr id="21" name="Text 14"/>
          <p:cNvSpPr/>
          <p:nvPr/>
        </p:nvSpPr>
        <p:spPr>
          <a:xfrm>
            <a:off x="8016543" y="3797796"/>
            <a:ext cx="55595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565C0"/>
                </a:solidFill>
              </a:rPr>
              <a:t>405B</a:t>
            </a:r>
            <a:endParaRPr lang="en-US" sz="1602" dirty="0"/>
          </a:p>
        </p:txBody>
      </p:sp>
      <p:sp>
        <p:nvSpPr>
          <p:cNvPr id="22" name="Shape 15"/>
          <p:cNvSpPr/>
          <p:nvPr/>
        </p:nvSpPr>
        <p:spPr>
          <a:xfrm>
            <a:off x="4929188" y="4181773"/>
            <a:ext cx="3643313" cy="171450"/>
          </a:xfrm>
          <a:prstGeom prst="round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4929188" y="4746129"/>
            <a:ext cx="36433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999999"/>
                </a:solidFill>
              </a:rPr>
              <a:t>* Bar lengths are symbolic representations of scale</a:t>
            </a:r>
            <a:endParaRPr lang="en-US" sz="83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0603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Inside a Transformer Block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366242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A single Transformer block consists of two primary sub-layers that perform distinct functions. This block is repeated dozens of times (e.g., 96 layers in GPT-3).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119908"/>
            <a:ext cx="3857625" cy="28575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119908"/>
            <a:ext cx="3857625" cy="571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9211" y="2405658"/>
            <a:ext cx="482203" cy="4286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2845" y="3048595"/>
            <a:ext cx="251493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565C0"/>
                </a:solidFill>
              </a:rPr>
              <a:t>Multi-Head Attention</a:t>
            </a:r>
            <a:endParaRPr lang="en-US" sz="1397" dirty="0"/>
          </a:p>
        </p:txBody>
      </p:sp>
      <p:sp>
        <p:nvSpPr>
          <p:cNvPr id="10" name="Text 5"/>
          <p:cNvSpPr/>
          <p:nvPr/>
        </p:nvSpPr>
        <p:spPr>
          <a:xfrm>
            <a:off x="1758004" y="3393281"/>
            <a:ext cx="148461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2" dirty="0">
                <a:solidFill>
                  <a:srgbClr val="333333"/>
                </a:solidFill>
              </a:rPr>
              <a:t>Communication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857250" y="3730823"/>
            <a:ext cx="328612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Tokens "talk" to each other. They gather context from relevant past tokens to resolve ambiguity (e.g., knowing "bank" means "river bank").</a:t>
            </a:r>
            <a:endParaRPr lang="en-US" sz="1159" dirty="0"/>
          </a:p>
        </p:txBody>
      </p:sp>
      <p:sp>
        <p:nvSpPr>
          <p:cNvPr id="12" name="Shape 7"/>
          <p:cNvSpPr/>
          <p:nvPr/>
        </p:nvSpPr>
        <p:spPr>
          <a:xfrm>
            <a:off x="4714875" y="2119908"/>
            <a:ext cx="3857625" cy="2857500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4714875" y="2119908"/>
            <a:ext cx="3857625" cy="57150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797" y="2405658"/>
            <a:ext cx="535781" cy="4286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17294" y="3048595"/>
            <a:ext cx="265275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8CC63F"/>
                </a:solidFill>
              </a:rPr>
              <a:t>Feed-Forward Network</a:t>
            </a:r>
            <a:endParaRPr lang="en-US" sz="1397" dirty="0"/>
          </a:p>
        </p:txBody>
      </p:sp>
      <p:sp>
        <p:nvSpPr>
          <p:cNvPr id="16" name="Text 10"/>
          <p:cNvSpPr/>
          <p:nvPr/>
        </p:nvSpPr>
        <p:spPr>
          <a:xfrm>
            <a:off x="6033176" y="3393281"/>
            <a:ext cx="12210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2" dirty="0">
                <a:solidFill>
                  <a:srgbClr val="333333"/>
                </a:solidFill>
              </a:rPr>
              <a:t>Computation</a:t>
            </a:r>
            <a:endParaRPr lang="en-US" sz="987" dirty="0"/>
          </a:p>
        </p:txBody>
      </p:sp>
      <p:sp>
        <p:nvSpPr>
          <p:cNvPr id="17" name="Text 11"/>
          <p:cNvSpPr/>
          <p:nvPr/>
        </p:nvSpPr>
        <p:spPr>
          <a:xfrm>
            <a:off x="5000625" y="3730823"/>
            <a:ext cx="3286125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Tokens "think" individually. They process the gathered information to reason and prepare for the next prediction.</a:t>
            </a:r>
            <a:endParaRPr lang="en-US" sz="1159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9279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Attention: Information Routing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294805"/>
            <a:ext cx="8001000" cy="55899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71500" y="1294805"/>
            <a:ext cx="42863" cy="55899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71500" y="1294805"/>
            <a:ext cx="8001000" cy="55899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86" i="1" dirty="0">
                <a:solidFill>
                  <a:srgbClr val="555555"/>
                </a:solidFill>
              </a:rPr>
              <a:t>"The </a:t>
            </a:r>
            <a:r>
              <a:rPr lang="en-US" sz="1397" b="1" i="1" u="sng" dirty="0">
                <a:solidFill>
                  <a:srgbClr val="1565C0"/>
                </a:solidFill>
                <a:uFill>
                  <a:solidFill>
                    <a:srgbClr val="1565C0"/>
                  </a:solidFill>
                </a:uFill>
              </a:rPr>
              <a:t>animal</a:t>
            </a:r>
            <a:r>
              <a:rPr lang="en-US" sz="1486" i="1" dirty="0">
                <a:solidFill>
                  <a:srgbClr val="555555"/>
                </a:solidFill>
              </a:rPr>
              <a:t> didn't cross the street because </a:t>
            </a:r>
            <a:r>
              <a:rPr lang="en-US" sz="1397" b="1" i="1" u="sng" dirty="0">
                <a:solidFill>
                  <a:srgbClr val="1565C0"/>
                </a:solidFill>
                <a:uFill>
                  <a:solidFill>
                    <a:srgbClr val="1565C0"/>
                  </a:solidFill>
                </a:uFill>
              </a:rPr>
              <a:t>it</a:t>
            </a:r>
            <a:r>
              <a:rPr lang="en-US" sz="1486" i="1" dirty="0">
                <a:solidFill>
                  <a:srgbClr val="555555"/>
                </a:solidFill>
              </a:rPr>
              <a:t> was too tired."</a:t>
            </a:r>
            <a:endParaRPr lang="en-US" sz="1486" dirty="0"/>
          </a:p>
        </p:txBody>
      </p:sp>
      <p:sp>
        <p:nvSpPr>
          <p:cNvPr id="8" name="Text 4"/>
          <p:cNvSpPr/>
          <p:nvPr/>
        </p:nvSpPr>
        <p:spPr>
          <a:xfrm>
            <a:off x="571500" y="2139553"/>
            <a:ext cx="8001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How does the model know that </a:t>
            </a:r>
            <a:r>
              <a:rPr lang="en-US" sz="1090" b="1" dirty="0">
                <a:solidFill>
                  <a:srgbClr val="333333"/>
                </a:solidFill>
              </a:rPr>
              <a:t>"it"</a:t>
            </a:r>
            <a:r>
              <a:rPr lang="en-US" sz="1159" dirty="0">
                <a:solidFill>
                  <a:srgbClr val="333333"/>
                </a:solidFill>
              </a:rPr>
              <a:t> refers to the </a:t>
            </a:r>
            <a:r>
              <a:rPr lang="en-US" sz="1090" b="1" dirty="0">
                <a:solidFill>
                  <a:srgbClr val="333333"/>
                </a:solidFill>
              </a:rPr>
              <a:t>"animal"</a:t>
            </a:r>
            <a:r>
              <a:rPr lang="en-US" sz="1159" dirty="0">
                <a:solidFill>
                  <a:srgbClr val="333333"/>
                </a:solidFill>
              </a:rPr>
              <a:t> and not the "street"? Through </a:t>
            </a:r>
            <a:r>
              <a:rPr lang="en-US" sz="1090" b="1" dirty="0">
                <a:solidFill>
                  <a:srgbClr val="333333"/>
                </a:solidFill>
              </a:rPr>
              <a:t>Self-Attention</a:t>
            </a:r>
            <a:r>
              <a:rPr lang="en-US" sz="1159" dirty="0">
                <a:solidFill>
                  <a:srgbClr val="333333"/>
                </a:solidFill>
              </a:rPr>
              <a:t>.</a:t>
            </a:r>
            <a:endParaRPr lang="en-US" sz="1159" dirty="0"/>
          </a:p>
        </p:txBody>
      </p:sp>
      <p:sp>
        <p:nvSpPr>
          <p:cNvPr id="9" name="Shape 5"/>
          <p:cNvSpPr/>
          <p:nvPr/>
        </p:nvSpPr>
        <p:spPr>
          <a:xfrm>
            <a:off x="571500" y="2568178"/>
            <a:ext cx="2524116" cy="155482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50094" y="2746772"/>
            <a:ext cx="89481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QUERY (Q)</a:t>
            </a:r>
            <a:endParaRPr lang="en-US" sz="1193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5572" y="2778026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0094" y="3087886"/>
            <a:ext cx="21669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The vector representing what the current token is </a:t>
            </a:r>
            <a:r>
              <a:rPr lang="en-US" sz="885" b="1" dirty="0">
                <a:solidFill>
                  <a:srgbClr val="FFFFFF">
                    <a:alpha val="90000"/>
                  </a:srgbClr>
                </a:solidFill>
              </a:rPr>
              <a:t>looking for</a:t>
            </a: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.</a:t>
            </a:r>
            <a:endParaRPr lang="en-US" sz="942" dirty="0"/>
          </a:p>
        </p:txBody>
      </p:sp>
      <p:sp>
        <p:nvSpPr>
          <p:cNvPr id="13" name="Text 8"/>
          <p:cNvSpPr/>
          <p:nvPr/>
        </p:nvSpPr>
        <p:spPr>
          <a:xfrm>
            <a:off x="750094" y="3555076"/>
            <a:ext cx="2166928" cy="38933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FFFFFF">
                    <a:alpha val="80000"/>
                  </a:srgbClr>
                </a:solidFill>
              </a:rPr>
              <a:t>"I am a pronoun. I am looking for the noun I refer to."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3309928" y="2568178"/>
            <a:ext cx="2524116" cy="1554826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3488522" y="2746772"/>
            <a:ext cx="61123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KEY (K)</a:t>
            </a:r>
            <a:endParaRPr lang="en-US" sz="1193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5431" y="2778026"/>
            <a:ext cx="150019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88522" y="3087886"/>
            <a:ext cx="21669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The vector representing </a:t>
            </a:r>
            <a:r>
              <a:rPr lang="en-US" sz="885" b="1" dirty="0">
                <a:solidFill>
                  <a:srgbClr val="FFFFFF">
                    <a:alpha val="90000"/>
                  </a:srgbClr>
                </a:solidFill>
              </a:rPr>
              <a:t>what this token contains</a:t>
            </a: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.</a:t>
            </a:r>
            <a:endParaRPr lang="en-US" sz="942" dirty="0"/>
          </a:p>
        </p:txBody>
      </p:sp>
      <p:sp>
        <p:nvSpPr>
          <p:cNvPr id="18" name="Text 12"/>
          <p:cNvSpPr/>
          <p:nvPr/>
        </p:nvSpPr>
        <p:spPr>
          <a:xfrm>
            <a:off x="3488522" y="3555076"/>
            <a:ext cx="2166928" cy="38933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FFFFFF">
                    <a:alpha val="80000"/>
                  </a:srgbClr>
                </a:solidFill>
              </a:rPr>
              <a:t>"I am a noun. I am an animate object (animal)."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6048356" y="2568178"/>
            <a:ext cx="2524116" cy="1554826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226950" y="2746772"/>
            <a:ext cx="84525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VALUE (V)</a:t>
            </a:r>
            <a:endParaRPr lang="en-US" sz="1193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9566" y="2778026"/>
            <a:ext cx="214313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26950" y="3087886"/>
            <a:ext cx="21669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The actual </a:t>
            </a:r>
            <a:r>
              <a:rPr lang="en-US" sz="885" b="1" dirty="0">
                <a:solidFill>
                  <a:srgbClr val="FFFFFF">
                    <a:alpha val="90000"/>
                  </a:srgbClr>
                </a:solidFill>
              </a:rPr>
              <a:t>information</a:t>
            </a: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 to be passed along if selected.</a:t>
            </a:r>
            <a:endParaRPr lang="en-US" sz="942" dirty="0"/>
          </a:p>
        </p:txBody>
      </p:sp>
      <p:sp>
        <p:nvSpPr>
          <p:cNvPr id="23" name="Text 16"/>
          <p:cNvSpPr/>
          <p:nvPr/>
        </p:nvSpPr>
        <p:spPr>
          <a:xfrm>
            <a:off x="6226950" y="3555076"/>
            <a:ext cx="2166928" cy="389334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FFFFFF">
                    <a:alpha val="80000"/>
                  </a:srgbClr>
                </a:solidFill>
              </a:rPr>
              <a:t>"Here is my semantic meaning to add to your context."</a:t>
            </a:r>
            <a:endParaRPr lang="en-US" sz="834" dirty="0"/>
          </a:p>
        </p:txBody>
      </p:sp>
      <p:sp>
        <p:nvSpPr>
          <p:cNvPr id="24" name="Shape 17"/>
          <p:cNvSpPr/>
          <p:nvPr/>
        </p:nvSpPr>
        <p:spPr>
          <a:xfrm>
            <a:off x="571500" y="4408754"/>
            <a:ext cx="8001000" cy="455414"/>
          </a:xfrm>
          <a:prstGeom prst="rect">
            <a:avLst/>
          </a:prstGeom>
          <a:solidFill>
            <a:srgbClr val="FAFAFA"/>
          </a:solidFill>
          <a:ln w="9144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1502950" y="4551629"/>
            <a:ext cx="9699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Query meets Key</a:t>
            </a:r>
            <a:endParaRPr lang="en-US" sz="784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5785" y="4557880"/>
            <a:ext cx="125016" cy="1428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883675" y="4551629"/>
            <a:ext cx="13274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Calculate Affinity Score</a:t>
            </a:r>
            <a:endParaRPr lang="en-US" sz="784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4032" y="4557880"/>
            <a:ext cx="125016" cy="14287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621923" y="4551629"/>
            <a:ext cx="13774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Weighted Sum of Values</a:t>
            </a:r>
            <a:endParaRPr lang="en-US" sz="784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2230" y="4557880"/>
            <a:ext cx="125016" cy="14287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410120" y="4551629"/>
            <a:ext cx="12309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CC63F"/>
                </a:solidFill>
              </a:rPr>
              <a:t>Contextualized Token</a:t>
            </a:r>
            <a:endParaRPr lang="en-US" sz="78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Stateless Processing</a:t>
            </a:r>
            <a:endParaRPr lang="en-US" sz="2436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88541"/>
            <a:ext cx="192881" cy="1714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71538" y="1137642"/>
            <a:ext cx="204046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No Internal Memory</a:t>
            </a:r>
            <a:endParaRPr lang="en-US" sz="1397" dirty="0"/>
          </a:p>
        </p:txBody>
      </p:sp>
      <p:sp>
        <p:nvSpPr>
          <p:cNvPr id="7" name="Text 2"/>
          <p:cNvSpPr/>
          <p:nvPr/>
        </p:nvSpPr>
        <p:spPr>
          <a:xfrm>
            <a:off x="571500" y="1518047"/>
            <a:ext cx="3240667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The Transformer is purely a mathematical function: 
Output = F(Input).
 It does not store any state between calls. Once it generates a token, it forgets everything.</a:t>
            </a:r>
            <a:endParaRPr lang="en-US" sz="1159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69159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50106" y="3218259"/>
            <a:ext cx="225589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The "Context Window"</a:t>
            </a:r>
            <a:endParaRPr lang="en-US" sz="1397" dirty="0"/>
          </a:p>
        </p:txBody>
      </p:sp>
      <p:sp>
        <p:nvSpPr>
          <p:cNvPr id="10" name="Text 4"/>
          <p:cNvSpPr/>
          <p:nvPr/>
        </p:nvSpPr>
        <p:spPr>
          <a:xfrm>
            <a:off x="571500" y="3598664"/>
            <a:ext cx="3240667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To create the illusion of a conversation, we must </a:t>
            </a:r>
            <a:r>
              <a:rPr lang="en-US" sz="1090" b="1" dirty="0">
                <a:solidFill>
                  <a:srgbClr val="8CC63F"/>
                </a:solidFill>
              </a:rPr>
              <a:t>re-feed the entire history</a:t>
            </a:r>
            <a:r>
              <a:rPr lang="en-US" sz="1159" dirty="0">
                <a:solidFill>
                  <a:srgbClr val="555555"/>
                </a:solidFill>
              </a:rPr>
              <a:t> back into the model with every new user message.</a:t>
            </a:r>
            <a:endParaRPr lang="en-US" sz="1159" dirty="0"/>
          </a:p>
        </p:txBody>
      </p:sp>
      <p:sp>
        <p:nvSpPr>
          <p:cNvPr id="11" name="Shape 5"/>
          <p:cNvSpPr/>
          <p:nvPr/>
        </p:nvSpPr>
        <p:spPr>
          <a:xfrm>
            <a:off x="4383667" y="1137642"/>
            <a:ext cx="4188833" cy="350470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83667" y="1137642"/>
            <a:ext cx="42863" cy="3504707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4531733" y="1266230"/>
            <a:ext cx="39121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How "Chat" Actually Works</a:t>
            </a:r>
            <a:endParaRPr lang="en-US" sz="885" dirty="0"/>
          </a:p>
        </p:txBody>
      </p:sp>
      <p:sp>
        <p:nvSpPr>
          <p:cNvPr id="14" name="Shape 8"/>
          <p:cNvSpPr/>
          <p:nvPr/>
        </p:nvSpPr>
        <p:spPr>
          <a:xfrm>
            <a:off x="4531733" y="1526977"/>
            <a:ext cx="3912180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4603170" y="1608237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Input 1</a:t>
            </a:r>
            <a:endParaRPr lang="en-US" sz="683" dirty="0"/>
          </a:p>
        </p:txBody>
      </p:sp>
      <p:sp>
        <p:nvSpPr>
          <p:cNvPr id="16" name="Text 10"/>
          <p:cNvSpPr/>
          <p:nvPr/>
        </p:nvSpPr>
        <p:spPr>
          <a:xfrm>
            <a:off x="5174670" y="1598414"/>
            <a:ext cx="31978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"Hi, I'm Bob"</a:t>
            </a:r>
            <a:endParaRPr lang="en-US" sz="834" dirty="0"/>
          </a:p>
        </p:txBody>
      </p:sp>
      <p:sp>
        <p:nvSpPr>
          <p:cNvPr id="17" name="Shape 11"/>
          <p:cNvSpPr/>
          <p:nvPr/>
        </p:nvSpPr>
        <p:spPr>
          <a:xfrm>
            <a:off x="4531733" y="1910953"/>
            <a:ext cx="3912180" cy="32682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531733" y="1910953"/>
            <a:ext cx="3912180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MODEL PROCESSING</a:t>
            </a:r>
            <a:endParaRPr lang="en-US" sz="784" dirty="0"/>
          </a:p>
        </p:txBody>
      </p:sp>
      <p:sp>
        <p:nvSpPr>
          <p:cNvPr id="19" name="Shape 13"/>
          <p:cNvSpPr/>
          <p:nvPr/>
        </p:nvSpPr>
        <p:spPr>
          <a:xfrm>
            <a:off x="4531733" y="2280642"/>
            <a:ext cx="3912180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4531733" y="2280642"/>
            <a:ext cx="28575" cy="298252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4603170" y="2361902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Output 1</a:t>
            </a:r>
            <a:endParaRPr lang="en-US" sz="683" dirty="0"/>
          </a:p>
        </p:txBody>
      </p:sp>
      <p:sp>
        <p:nvSpPr>
          <p:cNvPr id="22" name="Text 16"/>
          <p:cNvSpPr/>
          <p:nvPr/>
        </p:nvSpPr>
        <p:spPr>
          <a:xfrm>
            <a:off x="5174670" y="2352080"/>
            <a:ext cx="31978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"Hello Bob!"</a:t>
            </a:r>
            <a:endParaRPr lang="en-US" sz="834" dirty="0"/>
          </a:p>
        </p:txBody>
      </p:sp>
      <p:sp>
        <p:nvSpPr>
          <p:cNvPr id="23" name="Shape 17"/>
          <p:cNvSpPr/>
          <p:nvPr/>
        </p:nvSpPr>
        <p:spPr>
          <a:xfrm>
            <a:off x="4531733" y="2664619"/>
            <a:ext cx="3912180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603170" y="2745879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Input 2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5174670" y="2736056"/>
            <a:ext cx="31978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99999"/>
                </a:solidFill>
              </a:rPr>
              <a:t>"Hi, I'm Bob" + "Hello Bob!" + </a:t>
            </a:r>
            <a:r>
              <a:rPr lang="en-US" sz="784" b="1" dirty="0">
                <a:solidFill>
                  <a:srgbClr val="333333"/>
                </a:solidFill>
              </a:rPr>
              <a:t>"Who am I?"</a:t>
            </a:r>
            <a:endParaRPr lang="en-US" sz="834" dirty="0"/>
          </a:p>
        </p:txBody>
      </p:sp>
      <p:sp>
        <p:nvSpPr>
          <p:cNvPr id="26" name="Shape 20"/>
          <p:cNvSpPr/>
          <p:nvPr/>
        </p:nvSpPr>
        <p:spPr>
          <a:xfrm>
            <a:off x="4531733" y="3048595"/>
            <a:ext cx="3912180" cy="32682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4531733" y="3048595"/>
            <a:ext cx="3912180" cy="32682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MODEL PROCESSING (AGAIN)</a:t>
            </a:r>
            <a:endParaRPr lang="en-US" sz="784" dirty="0"/>
          </a:p>
        </p:txBody>
      </p:sp>
      <p:sp>
        <p:nvSpPr>
          <p:cNvPr id="28" name="Shape 22"/>
          <p:cNvSpPr/>
          <p:nvPr/>
        </p:nvSpPr>
        <p:spPr>
          <a:xfrm>
            <a:off x="4531733" y="3418284"/>
            <a:ext cx="3912180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531733" y="3418284"/>
            <a:ext cx="28575" cy="298252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603170" y="3499545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Output 2</a:t>
            </a:r>
            <a:endParaRPr lang="en-US" sz="683" dirty="0"/>
          </a:p>
        </p:txBody>
      </p:sp>
      <p:sp>
        <p:nvSpPr>
          <p:cNvPr id="31" name="Text 25"/>
          <p:cNvSpPr/>
          <p:nvPr/>
        </p:nvSpPr>
        <p:spPr>
          <a:xfrm>
            <a:off x="5174670" y="3489722"/>
            <a:ext cx="31978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"You are Bob."</a:t>
            </a:r>
            <a:endParaRPr lang="en-US" sz="834" dirty="0"/>
          </a:p>
        </p:txBody>
      </p:sp>
      <p:sp>
        <p:nvSpPr>
          <p:cNvPr id="32" name="Shape 26"/>
          <p:cNvSpPr/>
          <p:nvPr/>
        </p:nvSpPr>
        <p:spPr>
          <a:xfrm>
            <a:off x="4531733" y="3802261"/>
            <a:ext cx="3912180" cy="711501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531733" y="3802261"/>
            <a:ext cx="42863" cy="711501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531733" y="3802261"/>
            <a:ext cx="3912180" cy="71150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The Cost:</a:t>
            </a:r>
            <a:r>
              <a:rPr lang="en-US" sz="942" dirty="0">
                <a:solidFill>
                  <a:srgbClr val="333333"/>
                </a:solidFill>
              </a:rPr>
              <a:t> As the conversation grows, we process more and more tokens. This is why long chats become slower and more expensive.</a:t>
            </a:r>
            <a:endParaRPr lang="en-US" sz="88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516" y="1062800"/>
            <a:ext cx="892969" cy="714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095127" y="2184369"/>
            <a:ext cx="9537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8CC63F"/>
                </a:solidFill>
              </a:rPr>
              <a:t>Part 4</a:t>
            </a:r>
            <a:endParaRPr lang="en-US" sz="1602" dirty="0"/>
          </a:p>
        </p:txBody>
      </p:sp>
      <p:sp>
        <p:nvSpPr>
          <p:cNvPr id="6" name="Text 1"/>
          <p:cNvSpPr/>
          <p:nvPr/>
        </p:nvSpPr>
        <p:spPr>
          <a:xfrm>
            <a:off x="2419694" y="2639783"/>
            <a:ext cx="4304612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11111"/>
                </a:solidFill>
              </a:rPr>
              <a:t>GPT-2 Training</a:t>
            </a:r>
            <a:endParaRPr lang="en-US" sz="3731" dirty="0"/>
          </a:p>
        </p:txBody>
      </p:sp>
      <p:sp>
        <p:nvSpPr>
          <p:cNvPr id="7" name="Text 2"/>
          <p:cNvSpPr/>
          <p:nvPr/>
        </p:nvSpPr>
        <p:spPr>
          <a:xfrm>
            <a:off x="2157636" y="3905650"/>
            <a:ext cx="482872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The Training Loop, Optimization, and Compute</a:t>
            </a:r>
            <a:endParaRPr lang="en-US" sz="170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4532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GPT-2 Specifications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366242"/>
            <a:ext cx="6429375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Released by OpenAI in 2019, GPT-2 (XL) demonstrated that simply scaling up the Transformer architecture leads to coherent text generation.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119908"/>
            <a:ext cx="2524116" cy="134123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119908"/>
            <a:ext cx="2524116" cy="2857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229850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0094" y="2634258"/>
            <a:ext cx="63038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11111"/>
                </a:solidFill>
              </a:rPr>
              <a:t>1.5B</a:t>
            </a:r>
            <a:endParaRPr lang="en-US" sz="2121" dirty="0"/>
          </a:p>
        </p:txBody>
      </p:sp>
      <p:sp>
        <p:nvSpPr>
          <p:cNvPr id="10" name="Text 5"/>
          <p:cNvSpPr/>
          <p:nvPr/>
        </p:nvSpPr>
        <p:spPr>
          <a:xfrm>
            <a:off x="750094" y="3078956"/>
            <a:ext cx="90354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777777"/>
                </a:solidFill>
              </a:rPr>
              <a:t>Parameters</a:t>
            </a:r>
            <a:endParaRPr lang="en-US" sz="885" dirty="0"/>
          </a:p>
        </p:txBody>
      </p:sp>
      <p:sp>
        <p:nvSpPr>
          <p:cNvPr id="11" name="Shape 6"/>
          <p:cNvSpPr/>
          <p:nvPr/>
        </p:nvSpPr>
        <p:spPr>
          <a:xfrm>
            <a:off x="3309928" y="2119908"/>
            <a:ext cx="2524116" cy="134123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3309928" y="2119908"/>
            <a:ext cx="2524116" cy="28575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8522" y="2298502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88522" y="2634258"/>
            <a:ext cx="343263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11111"/>
                </a:solidFill>
              </a:rPr>
              <a:t>48</a:t>
            </a:r>
            <a:endParaRPr lang="en-US" sz="2121" dirty="0"/>
          </a:p>
        </p:txBody>
      </p:sp>
      <p:sp>
        <p:nvSpPr>
          <p:cNvPr id="15" name="Text 9"/>
          <p:cNvSpPr/>
          <p:nvPr/>
        </p:nvSpPr>
        <p:spPr>
          <a:xfrm>
            <a:off x="3488522" y="3078956"/>
            <a:ext cx="5044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777777"/>
                </a:solidFill>
              </a:rPr>
              <a:t>Layers</a:t>
            </a:r>
            <a:endParaRPr lang="en-US" sz="885" dirty="0"/>
          </a:p>
        </p:txBody>
      </p:sp>
      <p:sp>
        <p:nvSpPr>
          <p:cNvPr id="16" name="Shape 10"/>
          <p:cNvSpPr/>
          <p:nvPr/>
        </p:nvSpPr>
        <p:spPr>
          <a:xfrm>
            <a:off x="6048356" y="2119908"/>
            <a:ext cx="2524144" cy="134123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048356" y="2119908"/>
            <a:ext cx="2524144" cy="2857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6950" y="2298502"/>
            <a:ext cx="28575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26950" y="2634258"/>
            <a:ext cx="68649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11111"/>
                </a:solidFill>
              </a:rPr>
              <a:t>1600</a:t>
            </a:r>
            <a:endParaRPr lang="en-US" sz="2121" dirty="0"/>
          </a:p>
        </p:txBody>
      </p:sp>
      <p:sp>
        <p:nvSpPr>
          <p:cNvPr id="20" name="Text 13"/>
          <p:cNvSpPr/>
          <p:nvPr/>
        </p:nvSpPr>
        <p:spPr>
          <a:xfrm>
            <a:off x="6226950" y="3078956"/>
            <a:ext cx="13747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777777"/>
                </a:solidFill>
              </a:rPr>
              <a:t>Model Dimension</a:t>
            </a:r>
            <a:endParaRPr lang="en-US" sz="885" dirty="0"/>
          </a:p>
        </p:txBody>
      </p:sp>
      <p:sp>
        <p:nvSpPr>
          <p:cNvPr id="21" name="Shape 14"/>
          <p:cNvSpPr/>
          <p:nvPr/>
        </p:nvSpPr>
        <p:spPr>
          <a:xfrm>
            <a:off x="571500" y="3675459"/>
            <a:ext cx="2524116" cy="134123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571500" y="3675459"/>
            <a:ext cx="2524116" cy="28575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3854053"/>
            <a:ext cx="200025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50094" y="4189809"/>
            <a:ext cx="686498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11111"/>
                </a:solidFill>
              </a:rPr>
              <a:t>1024</a:t>
            </a:r>
            <a:endParaRPr lang="en-US" sz="2121" dirty="0"/>
          </a:p>
        </p:txBody>
      </p:sp>
      <p:sp>
        <p:nvSpPr>
          <p:cNvPr id="25" name="Text 17"/>
          <p:cNvSpPr/>
          <p:nvPr/>
        </p:nvSpPr>
        <p:spPr>
          <a:xfrm>
            <a:off x="750094" y="4634508"/>
            <a:ext cx="1325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777777"/>
                </a:solidFill>
              </a:rPr>
              <a:t>Context Window</a:t>
            </a:r>
            <a:endParaRPr lang="en-US" sz="885" dirty="0"/>
          </a:p>
        </p:txBody>
      </p:sp>
      <p:sp>
        <p:nvSpPr>
          <p:cNvPr id="26" name="Shape 18"/>
          <p:cNvSpPr/>
          <p:nvPr/>
        </p:nvSpPr>
        <p:spPr>
          <a:xfrm>
            <a:off x="3309928" y="3675459"/>
            <a:ext cx="2524116" cy="134123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3309928" y="3675459"/>
            <a:ext cx="2524116" cy="2857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8522" y="3854053"/>
            <a:ext cx="200025" cy="228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488522" y="4189809"/>
            <a:ext cx="943645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11111"/>
                </a:solidFill>
              </a:rPr>
              <a:t>50,257</a:t>
            </a:r>
            <a:endParaRPr lang="en-US" sz="2121" dirty="0"/>
          </a:p>
        </p:txBody>
      </p:sp>
      <p:sp>
        <p:nvSpPr>
          <p:cNvPr id="30" name="Text 21"/>
          <p:cNvSpPr/>
          <p:nvPr/>
        </p:nvSpPr>
        <p:spPr>
          <a:xfrm>
            <a:off x="3488522" y="4634508"/>
            <a:ext cx="12733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777777"/>
                </a:solidFill>
              </a:rPr>
              <a:t>Vocabulary Size</a:t>
            </a:r>
            <a:endParaRPr lang="en-US" sz="885" dirty="0"/>
          </a:p>
        </p:txBody>
      </p:sp>
      <p:sp>
        <p:nvSpPr>
          <p:cNvPr id="31" name="Shape 22"/>
          <p:cNvSpPr/>
          <p:nvPr/>
        </p:nvSpPr>
        <p:spPr>
          <a:xfrm>
            <a:off x="6048356" y="3675459"/>
            <a:ext cx="2524144" cy="134123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6048356" y="3675459"/>
            <a:ext cx="2524144" cy="28575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6950" y="3825478"/>
            <a:ext cx="200025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226950" y="4161234"/>
            <a:ext cx="76212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11111"/>
                </a:solidFill>
              </a:rPr>
              <a:t>40GB</a:t>
            </a:r>
            <a:endParaRPr lang="en-US" sz="2121" dirty="0"/>
          </a:p>
        </p:txBody>
      </p:sp>
      <p:sp>
        <p:nvSpPr>
          <p:cNvPr id="35" name="Text 25"/>
          <p:cNvSpPr/>
          <p:nvPr/>
        </p:nvSpPr>
        <p:spPr>
          <a:xfrm>
            <a:off x="6226950" y="4605933"/>
            <a:ext cx="11030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777777"/>
                </a:solidFill>
              </a:rPr>
              <a:t>Training Data</a:t>
            </a:r>
            <a:endParaRPr lang="en-US" sz="885" dirty="0"/>
          </a:p>
        </p:txBody>
      </p:sp>
      <p:sp>
        <p:nvSpPr>
          <p:cNvPr id="36" name="Text 26"/>
          <p:cNvSpPr/>
          <p:nvPr/>
        </p:nvSpPr>
        <p:spPr>
          <a:xfrm>
            <a:off x="571500" y="4927402"/>
            <a:ext cx="26662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999999"/>
                </a:solidFill>
              </a:rPr>
              <a:t>* Estimated training cost at the time: ~$50,000</a:t>
            </a:r>
            <a:endParaRPr lang="en-US" sz="942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9530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The Training Loop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742950" y="1312664"/>
            <a:ext cx="32705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1. Forward Pass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742950" y="1582341"/>
            <a:ext cx="32705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Model processes input tokens and predicts the next token probabilities.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42950" y="2196703"/>
            <a:ext cx="32705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2. Compute Loss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742950" y="2466380"/>
            <a:ext cx="32705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Compare prediction with the actual next token. Calculate error (Cross-Entropy).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2950" y="3080742"/>
            <a:ext cx="32705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3. Backward Pass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742950" y="3350419"/>
            <a:ext cx="32705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Calculate gradients to determine how each parameter contributed to the error.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42950" y="3964781"/>
            <a:ext cx="32705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4. Update Weights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742950" y="4234458"/>
            <a:ext cx="32705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Nudge parameters slightly to reduce error. Repeat billions of times.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35787" y="1473398"/>
            <a:ext cx="1143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935787" y="1473398"/>
            <a:ext cx="1143000" cy="4286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2987" y="1664494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80671" y="1964531"/>
            <a:ext cx="8532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Forward Pass</a:t>
            </a:r>
            <a:endParaRPr lang="en-US" sz="885" dirty="0"/>
          </a:p>
        </p:txBody>
      </p:sp>
      <p:sp>
        <p:nvSpPr>
          <p:cNvPr id="17" name="Shape 12"/>
          <p:cNvSpPr/>
          <p:nvPr/>
        </p:nvSpPr>
        <p:spPr>
          <a:xfrm>
            <a:off x="6971630" y="2652117"/>
            <a:ext cx="1143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971630" y="2652117"/>
            <a:ext cx="1143000" cy="42863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830" y="2843213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7326" y="3143250"/>
            <a:ext cx="9115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Calculate Loss</a:t>
            </a:r>
            <a:endParaRPr lang="en-US" sz="885" dirty="0"/>
          </a:p>
        </p:txBody>
      </p:sp>
      <p:sp>
        <p:nvSpPr>
          <p:cNvPr id="21" name="Shape 15"/>
          <p:cNvSpPr/>
          <p:nvPr/>
        </p:nvSpPr>
        <p:spPr>
          <a:xfrm>
            <a:off x="5935787" y="3830836"/>
            <a:ext cx="1143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935787" y="3830836"/>
            <a:ext cx="1143000" cy="42863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2987" y="4021931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03231" y="4321969"/>
            <a:ext cx="6081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Backprop</a:t>
            </a:r>
            <a:endParaRPr lang="en-US" sz="885" dirty="0"/>
          </a:p>
        </p:txBody>
      </p:sp>
      <p:sp>
        <p:nvSpPr>
          <p:cNvPr id="25" name="Shape 18"/>
          <p:cNvSpPr/>
          <p:nvPr/>
        </p:nvSpPr>
        <p:spPr>
          <a:xfrm>
            <a:off x="4899943" y="2652117"/>
            <a:ext cx="1143000" cy="857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4899943" y="2652117"/>
            <a:ext cx="1143000" cy="4286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7143" y="2755702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07099" y="3055739"/>
            <a:ext cx="92868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Update Weights</a:t>
            </a:r>
            <a:endParaRPr lang="en-US" sz="885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700000">
            <a:off x="7427044" y="1982391"/>
            <a:ext cx="232172" cy="232172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8100000">
            <a:off x="7427044" y="3946922"/>
            <a:ext cx="232172" cy="232172"/>
          </a:xfrm>
          <a:prstGeom prst="rect">
            <a:avLst/>
          </a:prstGeom>
        </p:spPr>
      </p:pic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8100000">
            <a:off x="5355357" y="3946922"/>
            <a:ext cx="232172" cy="232172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2700000">
            <a:off x="5355357" y="1982391"/>
            <a:ext cx="232172" cy="23217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007224" y="2837855"/>
            <a:ext cx="1000125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11111"/>
                </a:solidFill>
              </a:rPr>
              <a:t>10²⁴</a:t>
            </a:r>
            <a:endParaRPr lang="en-US" sz="1808" dirty="0"/>
          </a:p>
        </p:txBody>
      </p:sp>
      <p:sp>
        <p:nvSpPr>
          <p:cNvPr id="34" name="Text 22"/>
          <p:cNvSpPr/>
          <p:nvPr/>
        </p:nvSpPr>
        <p:spPr>
          <a:xfrm>
            <a:off x="6007224" y="3187898"/>
            <a:ext cx="10001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77777"/>
                </a:solidFill>
              </a:rPr>
              <a:t>Operations</a:t>
            </a:r>
            <a:endParaRPr lang="en-US" sz="68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149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Optimizing the Loss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109067"/>
            <a:ext cx="327962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The Objective</a:t>
            </a:r>
            <a:endParaRPr lang="en-US" sz="1397" dirty="0"/>
          </a:p>
        </p:txBody>
      </p:sp>
      <p:sp>
        <p:nvSpPr>
          <p:cNvPr id="6" name="Text 2"/>
          <p:cNvSpPr/>
          <p:nvPr/>
        </p:nvSpPr>
        <p:spPr>
          <a:xfrm>
            <a:off x="571500" y="1425178"/>
            <a:ext cx="327962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The goal of training is to minimize a single number: the </a:t>
            </a:r>
            <a:r>
              <a:rPr lang="en-US" sz="1090" b="1" dirty="0">
                <a:solidFill>
                  <a:srgbClr val="1565C0"/>
                </a:solidFill>
              </a:rPr>
              <a:t>Cross-Entropy Loss</a:t>
            </a:r>
            <a:r>
              <a:rPr lang="en-US" sz="1159" dirty="0">
                <a:solidFill>
                  <a:srgbClr val="555555"/>
                </a:solidFill>
              </a:rPr>
              <a:t>. This metric quantifies how "surprised" the model is by the actual next token.</a:t>
            </a:r>
            <a:endParaRPr lang="en-US" sz="1159" dirty="0"/>
          </a:p>
        </p:txBody>
      </p:sp>
      <p:sp>
        <p:nvSpPr>
          <p:cNvPr id="7" name="Text 3"/>
          <p:cNvSpPr/>
          <p:nvPr/>
        </p:nvSpPr>
        <p:spPr>
          <a:xfrm>
            <a:off x="571500" y="2439591"/>
            <a:ext cx="327962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Gradient Descent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571500" y="2755702"/>
            <a:ext cx="327962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For every batch of text, we calculate the gradient (direction of steepest ascent) and update all billions of parameters in the opposite direction to reduce the error.</a:t>
            </a:r>
            <a:endParaRPr lang="en-US" sz="1159" dirty="0"/>
          </a:p>
        </p:txBody>
      </p:sp>
      <p:sp>
        <p:nvSpPr>
          <p:cNvPr id="9" name="Text 5"/>
          <p:cNvSpPr/>
          <p:nvPr/>
        </p:nvSpPr>
        <p:spPr>
          <a:xfrm>
            <a:off x="571500" y="3770114"/>
            <a:ext cx="327962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Compression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571500" y="4086225"/>
            <a:ext cx="327962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555555"/>
                </a:solidFill>
              </a:rPr>
              <a:t>Minimizing loss is equivalent to compressing the data. The better the model predicts the text, the more it "understands" the underlying patterns.</a:t>
            </a:r>
            <a:endParaRPr lang="en-US" sz="1159" dirty="0"/>
          </a:p>
        </p:txBody>
      </p:sp>
      <p:sp>
        <p:nvSpPr>
          <p:cNvPr id="11" name="Shape 7"/>
          <p:cNvSpPr/>
          <p:nvPr/>
        </p:nvSpPr>
        <p:spPr>
          <a:xfrm>
            <a:off x="4279748" y="1109067"/>
            <a:ext cx="4292752" cy="3477220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1280517"/>
            <a:ext cx="3934420" cy="2857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57700" y="4245173"/>
            <a:ext cx="3943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777777"/>
                </a:solidFill>
              </a:rPr>
              <a:t>Typical Loss Curve: Rapid initial learning followed by a long tail of refinement.</a:t>
            </a:r>
            <a:endParaRPr lang="en-US" sz="83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Quality Evolution During Training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1381116" y="1366242"/>
            <a:ext cx="857250" cy="8572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291" y="1623417"/>
            <a:ext cx="342900" cy="3429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250714" y="2437805"/>
            <a:ext cx="11180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Early Stage</a:t>
            </a:r>
            <a:endParaRPr lang="en-US" sz="1193" dirty="0"/>
          </a:p>
        </p:txBody>
      </p:sp>
      <p:sp>
        <p:nvSpPr>
          <p:cNvPr id="8" name="Text 3"/>
          <p:cNvSpPr/>
          <p:nvPr/>
        </p:nvSpPr>
        <p:spPr>
          <a:xfrm>
            <a:off x="571500" y="2743200"/>
            <a:ext cx="247650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Random initialization. The model outputs pure noise.</a:t>
            </a:r>
            <a:endParaRPr lang="en-US" sz="942" dirty="0"/>
          </a:p>
        </p:txBody>
      </p:sp>
      <p:sp>
        <p:nvSpPr>
          <p:cNvPr id="9" name="Text 4"/>
          <p:cNvSpPr/>
          <p:nvPr/>
        </p:nvSpPr>
        <p:spPr>
          <a:xfrm>
            <a:off x="571500" y="3243263"/>
            <a:ext cx="7066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99999"/>
                </a:solidFill>
              </a:rPr>
              <a:t>Model Output:</a:t>
            </a:r>
            <a:endParaRPr lang="en-US" sz="584" dirty="0"/>
          </a:p>
        </p:txBody>
      </p:sp>
      <p:sp>
        <p:nvSpPr>
          <p:cNvPr id="10" name="Shape 5"/>
          <p:cNvSpPr/>
          <p:nvPr/>
        </p:nvSpPr>
        <p:spPr>
          <a:xfrm>
            <a:off x="571500" y="3395067"/>
            <a:ext cx="2476509" cy="10001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571500" y="3395067"/>
            <a:ext cx="28575" cy="100012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571500" y="3395067"/>
            <a:ext cx="2476509" cy="10001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xJ9#k lma@ $pp02.. ;;lasd 9923 kkl?? asd fjj2 00129 skdflj...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4143375" y="1366242"/>
            <a:ext cx="857250" cy="857250"/>
          </a:xfrm>
          <a:prstGeom prst="ellipse">
            <a:avLst/>
          </a:prstGeom>
          <a:solidFill>
            <a:srgbClr val="8CC63F"/>
          </a:solidFill>
          <a:ln w="27432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119" y="1623417"/>
            <a:ext cx="385763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41145" y="2437805"/>
            <a:ext cx="12617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Middle Stage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3333759" y="2743200"/>
            <a:ext cx="247650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Syntax emerges. Grammar is correct, but meaning is nonsensical.</a:t>
            </a:r>
            <a:endParaRPr lang="en-US" sz="942" dirty="0"/>
          </a:p>
        </p:txBody>
      </p:sp>
      <p:sp>
        <p:nvSpPr>
          <p:cNvPr id="17" name="Text 11"/>
          <p:cNvSpPr/>
          <p:nvPr/>
        </p:nvSpPr>
        <p:spPr>
          <a:xfrm>
            <a:off x="3333759" y="3243263"/>
            <a:ext cx="7066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99999"/>
                </a:solidFill>
              </a:rPr>
              <a:t>Model Output:</a:t>
            </a:r>
            <a:endParaRPr lang="en-US" sz="584" dirty="0"/>
          </a:p>
        </p:txBody>
      </p:sp>
      <p:sp>
        <p:nvSpPr>
          <p:cNvPr id="18" name="Shape 12"/>
          <p:cNvSpPr/>
          <p:nvPr/>
        </p:nvSpPr>
        <p:spPr>
          <a:xfrm>
            <a:off x="3333759" y="3395067"/>
            <a:ext cx="2476509" cy="1000125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3333759" y="3395067"/>
            <a:ext cx="28575" cy="1000125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3333759" y="3395067"/>
            <a:ext cx="2476509" cy="10001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The blue clouds walked slowly under the ocean because the time was loud.</a:t>
            </a:r>
            <a:endParaRPr lang="en-US" sz="834" dirty="0"/>
          </a:p>
        </p:txBody>
      </p:sp>
      <p:sp>
        <p:nvSpPr>
          <p:cNvPr id="21" name="Shape 15"/>
          <p:cNvSpPr/>
          <p:nvPr/>
        </p:nvSpPr>
        <p:spPr>
          <a:xfrm>
            <a:off x="6905634" y="1366242"/>
            <a:ext cx="857250" cy="8572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672" y="1623417"/>
            <a:ext cx="257175" cy="342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42959" y="2437805"/>
            <a:ext cx="9826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Late Stage</a:t>
            </a:r>
            <a:endParaRPr lang="en-US" sz="1193" dirty="0"/>
          </a:p>
        </p:txBody>
      </p:sp>
      <p:sp>
        <p:nvSpPr>
          <p:cNvPr id="24" name="Text 17"/>
          <p:cNvSpPr/>
          <p:nvPr/>
        </p:nvSpPr>
        <p:spPr>
          <a:xfrm>
            <a:off x="6096019" y="2743200"/>
            <a:ext cx="247650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Coherence achieved. Facts, reasoning, and logic are encoded.</a:t>
            </a:r>
            <a:endParaRPr lang="en-US" sz="942" dirty="0"/>
          </a:p>
        </p:txBody>
      </p:sp>
      <p:sp>
        <p:nvSpPr>
          <p:cNvPr id="25" name="Text 18"/>
          <p:cNvSpPr/>
          <p:nvPr/>
        </p:nvSpPr>
        <p:spPr>
          <a:xfrm>
            <a:off x="6096019" y="3243263"/>
            <a:ext cx="7066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99999"/>
                </a:solidFill>
              </a:rPr>
              <a:t>Model Output:</a:t>
            </a:r>
            <a:endParaRPr lang="en-US" sz="584" dirty="0"/>
          </a:p>
        </p:txBody>
      </p:sp>
      <p:sp>
        <p:nvSpPr>
          <p:cNvPr id="26" name="Shape 19"/>
          <p:cNvSpPr/>
          <p:nvPr/>
        </p:nvSpPr>
        <p:spPr>
          <a:xfrm>
            <a:off x="6096019" y="3395067"/>
            <a:ext cx="2476509" cy="10001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6096019" y="3395067"/>
            <a:ext cx="28575" cy="1000125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6096019" y="3395067"/>
            <a:ext cx="2476509" cy="10001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The transformer architecture revolutionized NLP by allowing parallel processing of sequences.</a:t>
            </a:r>
            <a:endParaRPr lang="en-US" sz="83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1925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Inference: Generating Text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366242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LLMs generate text </a:t>
            </a:r>
            <a:r>
              <a:rPr lang="en-US" sz="1193" b="1" dirty="0">
                <a:solidFill>
                  <a:srgbClr val="555555"/>
                </a:solidFill>
              </a:rPr>
              <a:t>autoregressively</a:t>
            </a:r>
            <a:r>
              <a:rPr lang="en-US" sz="1269" dirty="0">
                <a:solidFill>
                  <a:srgbClr val="555555"/>
                </a:solidFill>
              </a:rPr>
              <a:t>. This means they predict one token at a time, and each new token is appended to the context for the next prediction.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571500" y="2363688"/>
            <a:ext cx="571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99999"/>
                </a:solidFill>
              </a:rPr>
              <a:t>Step 1</a:t>
            </a:r>
            <a:endParaRPr lang="en-US" sz="885" dirty="0"/>
          </a:p>
        </p:txBody>
      </p:sp>
      <p:sp>
        <p:nvSpPr>
          <p:cNvPr id="7" name="Shape 3"/>
          <p:cNvSpPr/>
          <p:nvPr/>
        </p:nvSpPr>
        <p:spPr>
          <a:xfrm>
            <a:off x="1285875" y="2191345"/>
            <a:ext cx="5176931" cy="5197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285875" y="2191345"/>
            <a:ext cx="42863" cy="51970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428750" y="2334220"/>
            <a:ext cx="14310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The cat sat on the</a:t>
            </a:r>
            <a:endParaRPr lang="en-US" sz="1269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5681" y="2365474"/>
            <a:ext cx="150019" cy="17145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898574" y="2302073"/>
            <a:ext cx="857250" cy="298252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6898574" y="2302073"/>
            <a:ext cx="857250" cy="29825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Predict</a:t>
            </a:r>
            <a:endParaRPr lang="en-US" sz="784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8699" y="2365474"/>
            <a:ext cx="150019" cy="1714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227312" y="2359223"/>
            <a:ext cx="345188" cy="183952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8227312" y="2359223"/>
            <a:ext cx="345188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mat</a:t>
            </a:r>
            <a:endParaRPr lang="en-US" sz="784" dirty="0"/>
          </a:p>
        </p:txBody>
      </p:sp>
      <p:sp>
        <p:nvSpPr>
          <p:cNvPr id="16" name="Text 10"/>
          <p:cNvSpPr/>
          <p:nvPr/>
        </p:nvSpPr>
        <p:spPr>
          <a:xfrm>
            <a:off x="571500" y="3111996"/>
            <a:ext cx="571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99999"/>
                </a:solidFill>
              </a:rPr>
              <a:t>Step 2</a:t>
            </a:r>
            <a:endParaRPr lang="en-US" sz="885" dirty="0"/>
          </a:p>
        </p:txBody>
      </p:sp>
      <p:sp>
        <p:nvSpPr>
          <p:cNvPr id="17" name="Shape 11"/>
          <p:cNvSpPr/>
          <p:nvPr/>
        </p:nvSpPr>
        <p:spPr>
          <a:xfrm>
            <a:off x="1285875" y="2925366"/>
            <a:ext cx="5375225" cy="54828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1285875" y="2925366"/>
            <a:ext cx="42863" cy="54828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1428750" y="3082528"/>
            <a:ext cx="143109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The cat sat on the</a:t>
            </a:r>
            <a:endParaRPr lang="en-US" sz="1269" dirty="0"/>
          </a:p>
        </p:txBody>
      </p:sp>
      <p:sp>
        <p:nvSpPr>
          <p:cNvPr id="20" name="Shape 14"/>
          <p:cNvSpPr/>
          <p:nvPr/>
        </p:nvSpPr>
        <p:spPr>
          <a:xfrm>
            <a:off x="2895563" y="3068241"/>
            <a:ext cx="460632" cy="262533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2895563" y="3068241"/>
            <a:ext cx="460632" cy="26253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mat</a:t>
            </a:r>
            <a:endParaRPr lang="en-US" sz="1193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975" y="3113782"/>
            <a:ext cx="150019" cy="17145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096869" y="3050381"/>
            <a:ext cx="857250" cy="298252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7096869" y="3050381"/>
            <a:ext cx="857250" cy="29825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Predict</a:t>
            </a:r>
            <a:endParaRPr lang="en-US" sz="784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994" y="3113782"/>
            <a:ext cx="150019" cy="17145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8425607" y="3107531"/>
            <a:ext cx="146893" cy="183952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8425607" y="3107531"/>
            <a:ext cx="146893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.</a:t>
            </a:r>
            <a:endParaRPr lang="en-US" sz="784" dirty="0"/>
          </a:p>
        </p:txBody>
      </p:sp>
      <p:sp>
        <p:nvSpPr>
          <p:cNvPr id="28" name="Text 20"/>
          <p:cNvSpPr/>
          <p:nvPr/>
        </p:nvSpPr>
        <p:spPr>
          <a:xfrm>
            <a:off x="571500" y="3874591"/>
            <a:ext cx="571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99999"/>
                </a:solidFill>
              </a:rPr>
              <a:t>Step 3</a:t>
            </a:r>
            <a:endParaRPr lang="en-US" sz="885" dirty="0"/>
          </a:p>
        </p:txBody>
      </p:sp>
      <p:sp>
        <p:nvSpPr>
          <p:cNvPr id="29" name="Shape 21"/>
          <p:cNvSpPr/>
          <p:nvPr/>
        </p:nvSpPr>
        <p:spPr>
          <a:xfrm>
            <a:off x="1285875" y="3687961"/>
            <a:ext cx="4936080" cy="548283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1285875" y="3687961"/>
            <a:ext cx="42863" cy="54828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1428750" y="3845123"/>
            <a:ext cx="179405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The cat sat on the mat</a:t>
            </a:r>
            <a:endParaRPr lang="en-US" sz="1269" dirty="0"/>
          </a:p>
        </p:txBody>
      </p:sp>
      <p:sp>
        <p:nvSpPr>
          <p:cNvPr id="32" name="Shape 24"/>
          <p:cNvSpPr/>
          <p:nvPr/>
        </p:nvSpPr>
        <p:spPr>
          <a:xfrm>
            <a:off x="3258527" y="3830836"/>
            <a:ext cx="163190" cy="262533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3258527" y="3830836"/>
            <a:ext cx="163190" cy="262533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.</a:t>
            </a:r>
            <a:endParaRPr lang="en-US" sz="1193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830" y="3876377"/>
            <a:ext cx="150019" cy="17145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657724" y="3812977"/>
            <a:ext cx="857250" cy="298252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/>
          <p:nvPr/>
        </p:nvSpPr>
        <p:spPr>
          <a:xfrm>
            <a:off x="6657724" y="3812977"/>
            <a:ext cx="857250" cy="29825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Predict</a:t>
            </a:r>
            <a:endParaRPr lang="en-US" sz="784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7849" y="3876377"/>
            <a:ext cx="150019" cy="17145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7986461" y="3870127"/>
            <a:ext cx="586039" cy="183952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/>
          <p:nvPr/>
        </p:nvSpPr>
        <p:spPr>
          <a:xfrm>
            <a:off x="7986461" y="3870127"/>
            <a:ext cx="586039" cy="18395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&lt;|end|&gt;</a:t>
            </a:r>
            <a:endParaRPr lang="en-US" sz="784" dirty="0"/>
          </a:p>
        </p:txBody>
      </p:sp>
      <p:sp>
        <p:nvSpPr>
          <p:cNvPr id="40" name="Shape 30"/>
          <p:cNvSpPr/>
          <p:nvPr/>
        </p:nvSpPr>
        <p:spPr>
          <a:xfrm>
            <a:off x="571500" y="4593431"/>
            <a:ext cx="8001000" cy="797198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1"/>
          <p:cNvSpPr/>
          <p:nvPr/>
        </p:nvSpPr>
        <p:spPr>
          <a:xfrm>
            <a:off x="571500" y="4593431"/>
            <a:ext cx="42863" cy="79719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94" y="4877730"/>
            <a:ext cx="228600" cy="22860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121569" y="4772025"/>
            <a:ext cx="727233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Serial Processing:</a:t>
            </a:r>
            <a:r>
              <a:rPr lang="en-US" sz="1159" dirty="0">
                <a:solidFill>
                  <a:srgbClr val="333333"/>
                </a:solidFill>
              </a:rPr>
              <a:t> Unlike reading (which can be parallelized), writing must be done sequentially. This is why generating long responses takes time.</a:t>
            </a:r>
            <a:endParaRPr lang="en-US" sz="109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756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Sampling Strategies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742950" y="1294805"/>
            <a:ext cx="32235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Greedy Decoding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742950" y="1564481"/>
            <a:ext cx="322353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Always select the token with the highest probability. Deterministic but often repetitive and boring.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42950" y="2378869"/>
            <a:ext cx="32235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Temperature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742950" y="2648545"/>
            <a:ext cx="3223533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Scales the logits before softmax. 
</a:t>
            </a:r>
            <a:r>
              <a:rPr lang="en-US" sz="987" b="1" dirty="0">
                <a:solidFill>
                  <a:srgbClr val="555555"/>
                </a:solidFill>
              </a:rPr>
              <a:t>Low Temp (&lt; 1.0):</a:t>
            </a:r>
            <a:r>
              <a:rPr lang="en-US" sz="1050" dirty="0">
                <a:solidFill>
                  <a:srgbClr val="555555"/>
                </a:solidFill>
              </a:rPr>
              <a:t> Sharpens distribution (more confident).
</a:t>
            </a:r>
            <a:r>
              <a:rPr lang="en-US" sz="987" b="1" dirty="0">
                <a:solidFill>
                  <a:srgbClr val="555555"/>
                </a:solidFill>
              </a:rPr>
              <a:t>High Temp (&gt; 1.0):</a:t>
            </a:r>
            <a:r>
              <a:rPr lang="en-US" sz="1050" dirty="0">
                <a:solidFill>
                  <a:srgbClr val="555555"/>
                </a:solidFill>
              </a:rPr>
              <a:t> Flattens distribution (more random).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42950" y="3862983"/>
            <a:ext cx="32235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Top-p (Nucleus)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742950" y="4132659"/>
            <a:ext cx="322353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Select from the smallest set of tokens whose cumulative probability exceeds </a:t>
            </a:r>
            <a:r>
              <a:rPr lang="en-US" sz="1050" i="1" dirty="0">
                <a:solidFill>
                  <a:srgbClr val="555555"/>
                </a:solidFill>
              </a:rPr>
              <a:t>p</a:t>
            </a:r>
            <a:r>
              <a:rPr lang="en-US" sz="1050" dirty="0">
                <a:solidFill>
                  <a:srgbClr val="555555"/>
                </a:solidFill>
              </a:rPr>
              <a:t> (e.g., 0.9). Dynamically adjusts the pool size.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95108" y="1294805"/>
            <a:ext cx="4177392" cy="3652242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616230" y="1509117"/>
            <a:ext cx="374195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Effect of Temperature on Probability</a:t>
            </a:r>
            <a:endParaRPr lang="en-US" sz="109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6230" y="1866305"/>
            <a:ext cx="3734395" cy="25003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18720" y="4509492"/>
            <a:ext cx="8031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Low Temp (0.1)</a:t>
            </a:r>
            <a:endParaRPr lang="en-US" sz="834" dirty="0"/>
          </a:p>
        </p:txBody>
      </p:sp>
      <p:sp>
        <p:nvSpPr>
          <p:cNvPr id="15" name="Text 10"/>
          <p:cNvSpPr/>
          <p:nvPr/>
        </p:nvSpPr>
        <p:spPr>
          <a:xfrm>
            <a:off x="6207668" y="4509492"/>
            <a:ext cx="6634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Normal (1.0)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7156838" y="4509492"/>
            <a:ext cx="8417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High Temp (2.0)</a:t>
            </a:r>
            <a:endParaRPr lang="en-US" sz="83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3" y="1062800"/>
            <a:ext cx="714375" cy="714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095127" y="2184369"/>
            <a:ext cx="9537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8CC63F"/>
                </a:solidFill>
              </a:rPr>
              <a:t>Part 5</a:t>
            </a:r>
            <a:endParaRPr lang="en-US" sz="1602" dirty="0"/>
          </a:p>
        </p:txBody>
      </p:sp>
      <p:sp>
        <p:nvSpPr>
          <p:cNvPr id="6" name="Text 1"/>
          <p:cNvSpPr/>
          <p:nvPr/>
        </p:nvSpPr>
        <p:spPr>
          <a:xfrm>
            <a:off x="1156199" y="2639783"/>
            <a:ext cx="6831602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11111"/>
                </a:solidFill>
              </a:rPr>
              <a:t>Supervised Fine-Tuning</a:t>
            </a:r>
            <a:endParaRPr lang="en-US" sz="3731" dirty="0"/>
          </a:p>
        </p:txBody>
      </p:sp>
      <p:sp>
        <p:nvSpPr>
          <p:cNvPr id="7" name="Text 2"/>
          <p:cNvSpPr/>
          <p:nvPr/>
        </p:nvSpPr>
        <p:spPr>
          <a:xfrm>
            <a:off x="2122308" y="3905650"/>
            <a:ext cx="489935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From Document Completer to Helpful Assistant</a:t>
            </a:r>
            <a:endParaRPr lang="en-US" sz="170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243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Base Model vs. Assistant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294805"/>
            <a:ext cx="3857625" cy="3429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71500" y="1294805"/>
            <a:ext cx="3857625" cy="57150"/>
          </a:xfrm>
          <a:prstGeom prst="rect">
            <a:avLst/>
          </a:prstGeom>
          <a:solidFill>
            <a:srgbClr val="7575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2978860" y="1187648"/>
            <a:ext cx="1235952" cy="207169"/>
          </a:xfrm>
          <a:prstGeom prst="rect">
            <a:avLst/>
          </a:prstGeom>
          <a:solidFill>
            <a:srgbClr val="7575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2978860" y="1187648"/>
            <a:ext cx="1235952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Pre-Training Only</a:t>
            </a:r>
            <a:endParaRPr lang="en-US" sz="683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1531441"/>
            <a:ext cx="1714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4419" y="1509117"/>
            <a:ext cx="128316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Base Model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785813" y="1925241"/>
            <a:ext cx="3429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 "Document Completer". It simply predicts the most likely next words based on internet statistics. It doesn't know it's an assistant.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85813" y="2739628"/>
            <a:ext cx="3429000" cy="1769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928688" y="2882503"/>
            <a:ext cx="3143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</a:rPr>
              <a:t>User: "What is the capital of France?"</a:t>
            </a:r>
            <a:endParaRPr lang="en-US" sz="885" dirty="0"/>
          </a:p>
        </p:txBody>
      </p:sp>
      <p:sp>
        <p:nvSpPr>
          <p:cNvPr id="14" name="Text 9"/>
          <p:cNvSpPr/>
          <p:nvPr/>
        </p:nvSpPr>
        <p:spPr>
          <a:xfrm>
            <a:off x="928688" y="3479006"/>
            <a:ext cx="31383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D32F2F"/>
                </a:solidFill>
              </a:rPr>
              <a:t>Model: "And what is the capital of Germany? What is</a:t>
            </a:r>
            <a:endParaRPr lang="en-US" sz="942" dirty="0"/>
          </a:p>
        </p:txBody>
      </p:sp>
      <p:sp>
        <p:nvSpPr>
          <p:cNvPr id="15" name="Text 10"/>
          <p:cNvSpPr/>
          <p:nvPr/>
        </p:nvSpPr>
        <p:spPr>
          <a:xfrm>
            <a:off x="928688" y="3654028"/>
            <a:ext cx="18589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D32F2F"/>
                </a:solidFill>
              </a:rPr>
              <a:t>the capital of Italy? (10 points)"</a:t>
            </a:r>
            <a:endParaRPr lang="en-US" sz="942" dirty="0"/>
          </a:p>
        </p:txBody>
      </p:sp>
      <p:sp>
        <p:nvSpPr>
          <p:cNvPr id="16" name="Text 11"/>
          <p:cNvSpPr/>
          <p:nvPr/>
        </p:nvSpPr>
        <p:spPr>
          <a:xfrm>
            <a:off x="928688" y="3936206"/>
            <a:ext cx="3143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999999"/>
                </a:solidFill>
              </a:rPr>
              <a:t>(The model thinks this is a geography quiz list)</a:t>
            </a:r>
            <a:endParaRPr lang="en-US" sz="727" dirty="0"/>
          </a:p>
        </p:txBody>
      </p:sp>
      <p:sp>
        <p:nvSpPr>
          <p:cNvPr id="17" name="Shape 12"/>
          <p:cNvSpPr/>
          <p:nvPr/>
        </p:nvSpPr>
        <p:spPr>
          <a:xfrm>
            <a:off x="4714875" y="1294805"/>
            <a:ext cx="3857625" cy="34290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714875" y="1294805"/>
            <a:ext cx="3857625" cy="57150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096730" y="1187648"/>
            <a:ext cx="1261458" cy="207169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096730" y="1187648"/>
            <a:ext cx="1261458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Post-Training (SFT)</a:t>
            </a:r>
            <a:endParaRPr lang="en-US" sz="683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531441"/>
            <a:ext cx="28575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22094" y="1509117"/>
            <a:ext cx="18918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Assistant Model</a:t>
            </a:r>
            <a:endParaRPr lang="en-US" sz="1397" dirty="0"/>
          </a:p>
        </p:txBody>
      </p:sp>
      <p:sp>
        <p:nvSpPr>
          <p:cNvPr id="23" name="Text 17"/>
          <p:cNvSpPr/>
          <p:nvPr/>
        </p:nvSpPr>
        <p:spPr>
          <a:xfrm>
            <a:off x="4929188" y="1925241"/>
            <a:ext cx="34290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 "Helpful Agent". It has been fine-tuned on instructions to be helpful, harmless, and honest. It answers questions directly.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929188" y="2739628"/>
            <a:ext cx="3429000" cy="17698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5072063" y="2882503"/>
            <a:ext cx="3143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</a:rPr>
              <a:t>User: "What is the capital of France?"</a:t>
            </a:r>
            <a:endParaRPr lang="en-US" sz="885" dirty="0"/>
          </a:p>
        </p:txBody>
      </p:sp>
      <p:sp>
        <p:nvSpPr>
          <p:cNvPr id="26" name="Text 20"/>
          <p:cNvSpPr/>
          <p:nvPr/>
        </p:nvSpPr>
        <p:spPr>
          <a:xfrm>
            <a:off x="5072063" y="3479006"/>
            <a:ext cx="229529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2E7D32"/>
                </a:solidFill>
              </a:rPr>
              <a:t>Model: "The capital of France is Paris."</a:t>
            </a:r>
            <a:endParaRPr lang="en-US" sz="942" dirty="0"/>
          </a:p>
        </p:txBody>
      </p:sp>
      <p:sp>
        <p:nvSpPr>
          <p:cNvPr id="27" name="Text 21"/>
          <p:cNvSpPr/>
          <p:nvPr/>
        </p:nvSpPr>
        <p:spPr>
          <a:xfrm>
            <a:off x="5072063" y="3761184"/>
            <a:ext cx="3143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999999"/>
                </a:solidFill>
              </a:rPr>
              <a:t>(The model understands the intent to answer)</a:t>
            </a:r>
            <a:endParaRPr lang="en-US" sz="727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Conversation Format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To a model, a "conversation" is just a single document formatted with a specific schema. Special tokens are used to delimit turns and define roles.</a:t>
            </a:r>
            <a:endParaRPr lang="en-US" sz="1269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74366"/>
            <a:ext cx="160734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3672" y="2048470"/>
            <a:ext cx="12196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What We See (UI)</a:t>
            </a:r>
            <a:endParaRPr lang="en-US" sz="987" dirty="0"/>
          </a:p>
        </p:txBody>
      </p:sp>
      <p:sp>
        <p:nvSpPr>
          <p:cNvPr id="8" name="Shape 3"/>
          <p:cNvSpPr/>
          <p:nvPr/>
        </p:nvSpPr>
        <p:spPr>
          <a:xfrm>
            <a:off x="571500" y="2314575"/>
            <a:ext cx="2205968" cy="1521619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1290451" y="2457450"/>
            <a:ext cx="1344141" cy="56435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1290451" y="2457450"/>
            <a:ext cx="1344141" cy="5643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Hello, who are you?</a:t>
            </a:r>
            <a:endParaRPr lang="en-US" sz="942" dirty="0"/>
          </a:p>
        </p:txBody>
      </p:sp>
      <p:sp>
        <p:nvSpPr>
          <p:cNvPr id="11" name="Shape 6"/>
          <p:cNvSpPr/>
          <p:nvPr/>
        </p:nvSpPr>
        <p:spPr>
          <a:xfrm>
            <a:off x="714375" y="3128963"/>
            <a:ext cx="1344141" cy="564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714375" y="3128963"/>
            <a:ext cx="1344141" cy="5643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 am an AI assistant.</a:t>
            </a:r>
            <a:endParaRPr lang="en-US" sz="942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7613" y="2803029"/>
            <a:ext cx="250031" cy="28575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6269" y="2370832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50581" y="2344936"/>
            <a:ext cx="248619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What The Model Sees (Raw Tokens)</a:t>
            </a:r>
            <a:endParaRPr lang="en-US" sz="987" dirty="0"/>
          </a:p>
        </p:txBody>
      </p:sp>
      <p:sp>
        <p:nvSpPr>
          <p:cNvPr id="16" name="Shape 9"/>
          <p:cNvSpPr/>
          <p:nvPr/>
        </p:nvSpPr>
        <p:spPr>
          <a:xfrm>
            <a:off x="4436269" y="2611041"/>
            <a:ext cx="4136231" cy="928688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4629150" y="2789634"/>
            <a:ext cx="692246" cy="28575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4629150" y="2789634"/>
            <a:ext cx="692246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&lt;|user|&gt;</a:t>
            </a:r>
            <a:endParaRPr lang="en-US" sz="987" dirty="0"/>
          </a:p>
        </p:txBody>
      </p:sp>
      <p:sp>
        <p:nvSpPr>
          <p:cNvPr id="19" name="Shape 12"/>
          <p:cNvSpPr/>
          <p:nvPr/>
        </p:nvSpPr>
        <p:spPr>
          <a:xfrm>
            <a:off x="5387141" y="2789634"/>
            <a:ext cx="442075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5387141" y="2789634"/>
            <a:ext cx="442075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Hello,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5894961" y="2789634"/>
            <a:ext cx="344212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5894961" y="2789634"/>
            <a:ext cx="344212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who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304917" y="2789634"/>
            <a:ext cx="274058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6304917" y="2789634"/>
            <a:ext cx="274058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are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644720" y="2789634"/>
            <a:ext cx="366787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6644720" y="2789634"/>
            <a:ext cx="366787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you?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7077252" y="2789634"/>
            <a:ext cx="646816" cy="28575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7077252" y="2789634"/>
            <a:ext cx="646816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&lt;|end|&gt;</a:t>
            </a:r>
            <a:endParaRPr lang="en-US" sz="987" dirty="0"/>
          </a:p>
        </p:txBody>
      </p:sp>
      <p:sp>
        <p:nvSpPr>
          <p:cNvPr id="29" name="Shape 22"/>
          <p:cNvSpPr/>
          <p:nvPr/>
        </p:nvSpPr>
        <p:spPr>
          <a:xfrm>
            <a:off x="4629150" y="3075384"/>
            <a:ext cx="1025128" cy="28575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4629150" y="3075384"/>
            <a:ext cx="1025128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&lt;|assistant|&gt;</a:t>
            </a:r>
            <a:endParaRPr lang="en-US" sz="987" dirty="0"/>
          </a:p>
        </p:txBody>
      </p:sp>
      <p:sp>
        <p:nvSpPr>
          <p:cNvPr id="31" name="Shape 24"/>
          <p:cNvSpPr/>
          <p:nvPr/>
        </p:nvSpPr>
        <p:spPr>
          <a:xfrm>
            <a:off x="5720023" y="3075384"/>
            <a:ext cx="105594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5720023" y="3075384"/>
            <a:ext cx="105594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I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891361" y="3075384"/>
            <a:ext cx="270904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5891361" y="3075384"/>
            <a:ext cx="270904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am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228011" y="3075384"/>
            <a:ext cx="225614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6228011" y="3075384"/>
            <a:ext cx="225614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an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6519370" y="3075384"/>
            <a:ext cx="196900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1"/>
          <p:cNvSpPr/>
          <p:nvPr/>
        </p:nvSpPr>
        <p:spPr>
          <a:xfrm>
            <a:off x="6519370" y="3075384"/>
            <a:ext cx="196900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AI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782014" y="3075384"/>
            <a:ext cx="689372" cy="28575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6782014" y="3075384"/>
            <a:ext cx="689372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DDDDDD"/>
                </a:solidFill>
              </a:rPr>
              <a:t>assistant.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7537131" y="3075384"/>
            <a:ext cx="646816" cy="28575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7537131" y="3075384"/>
            <a:ext cx="646816" cy="2857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&lt;|end|&gt;</a:t>
            </a:r>
            <a:endParaRPr lang="en-US" sz="987" dirty="0"/>
          </a:p>
        </p:txBody>
      </p:sp>
      <p:sp>
        <p:nvSpPr>
          <p:cNvPr id="43" name="Text 36"/>
          <p:cNvSpPr/>
          <p:nvPr/>
        </p:nvSpPr>
        <p:spPr>
          <a:xfrm>
            <a:off x="2028379" y="4193381"/>
            <a:ext cx="8850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Control Tokens:</a:t>
            </a:r>
            <a:endParaRPr lang="en-US" sz="784" dirty="0"/>
          </a:p>
        </p:txBody>
      </p:sp>
      <p:sp>
        <p:nvSpPr>
          <p:cNvPr id="44" name="Text 37"/>
          <p:cNvSpPr/>
          <p:nvPr/>
        </p:nvSpPr>
        <p:spPr>
          <a:xfrm>
            <a:off x="2984860" y="4193381"/>
            <a:ext cx="16257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Define structure &amp; boundaries</a:t>
            </a:r>
            <a:endParaRPr lang="en-US" sz="834" dirty="0"/>
          </a:p>
        </p:txBody>
      </p:sp>
      <p:sp>
        <p:nvSpPr>
          <p:cNvPr id="45" name="Text 38"/>
          <p:cNvSpPr/>
          <p:nvPr/>
        </p:nvSpPr>
        <p:spPr>
          <a:xfrm>
            <a:off x="5039190" y="4193381"/>
            <a:ext cx="9220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Content Tokens:</a:t>
            </a:r>
            <a:endParaRPr lang="en-US" sz="784" dirty="0"/>
          </a:p>
        </p:txBody>
      </p:sp>
      <p:sp>
        <p:nvSpPr>
          <p:cNvPr id="46" name="Text 39"/>
          <p:cNvSpPr/>
          <p:nvPr/>
        </p:nvSpPr>
        <p:spPr>
          <a:xfrm>
            <a:off x="6032702" y="4193381"/>
            <a:ext cx="12972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The actual message text</a:t>
            </a:r>
            <a:endParaRPr lang="en-US" sz="83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SFT Training Examples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SFT datasets consist of thousands of diverse, high-quality conversations written by human experts to demonstrate ideal behavior.</a:t>
            </a:r>
            <a:endParaRPr lang="en-US" sz="1269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60079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4388" y="2048470"/>
            <a:ext cx="14039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Creative Writing</a:t>
            </a:r>
            <a:endParaRPr lang="en-US" sz="987" dirty="0"/>
          </a:p>
        </p:txBody>
      </p:sp>
      <p:sp>
        <p:nvSpPr>
          <p:cNvPr id="8" name="Shape 3"/>
          <p:cNvSpPr/>
          <p:nvPr/>
        </p:nvSpPr>
        <p:spPr>
          <a:xfrm>
            <a:off x="571500" y="2436019"/>
            <a:ext cx="2524116" cy="2207307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714375" y="2578894"/>
            <a:ext cx="2095491" cy="630045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821531" y="2664619"/>
            <a:ext cx="188117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565C0">
                    <a:alpha val="70000"/>
                  </a:srgbClr>
                </a:solidFill>
              </a:rPr>
              <a:t>User</a:t>
            </a:r>
            <a:endParaRPr lang="en-US" sz="534" dirty="0"/>
          </a:p>
        </p:txBody>
      </p:sp>
      <p:sp>
        <p:nvSpPr>
          <p:cNvPr id="11" name="Text 6"/>
          <p:cNvSpPr/>
          <p:nvPr/>
        </p:nvSpPr>
        <p:spPr>
          <a:xfrm>
            <a:off x="821531" y="2804982"/>
            <a:ext cx="14706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565C0"/>
                </a:solidFill>
              </a:rPr>
              <a:t>Write a haiku about a robot</a:t>
            </a:r>
            <a:endParaRPr lang="en-US" sz="834" dirty="0"/>
          </a:p>
        </p:txBody>
      </p:sp>
      <p:sp>
        <p:nvSpPr>
          <p:cNvPr id="12" name="Text 7"/>
          <p:cNvSpPr/>
          <p:nvPr/>
        </p:nvSpPr>
        <p:spPr>
          <a:xfrm>
            <a:off x="821531" y="2964991"/>
            <a:ext cx="5517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565C0"/>
                </a:solidFill>
              </a:rPr>
              <a:t>dreaming.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1295837" y="3316095"/>
            <a:ext cx="1656904" cy="790054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402993" y="3401820"/>
            <a:ext cx="144259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3691E">
                    <a:alpha val="70000"/>
                  </a:srgbClr>
                </a:solidFill>
              </a:rPr>
              <a:t>Assistant</a:t>
            </a:r>
            <a:endParaRPr lang="en-US" sz="534" dirty="0"/>
          </a:p>
        </p:txBody>
      </p:sp>
      <p:sp>
        <p:nvSpPr>
          <p:cNvPr id="15" name="Text 10"/>
          <p:cNvSpPr/>
          <p:nvPr/>
        </p:nvSpPr>
        <p:spPr>
          <a:xfrm>
            <a:off x="1402993" y="3542184"/>
            <a:ext cx="12156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691E"/>
                </a:solidFill>
              </a:rPr>
              <a:t>Metal heart beats slow</a:t>
            </a:r>
            <a:endParaRPr lang="en-US" sz="834" dirty="0"/>
          </a:p>
        </p:txBody>
      </p:sp>
      <p:sp>
        <p:nvSpPr>
          <p:cNvPr id="16" name="Text 11"/>
          <p:cNvSpPr/>
          <p:nvPr/>
        </p:nvSpPr>
        <p:spPr>
          <a:xfrm>
            <a:off x="1402993" y="3702193"/>
            <a:ext cx="14425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691E"/>
                </a:solidFill>
              </a:rPr>
              <a:t>Dreaming of electric sheep</a:t>
            </a:r>
            <a:endParaRPr lang="en-US" sz="834" dirty="0"/>
          </a:p>
        </p:txBody>
      </p:sp>
      <p:sp>
        <p:nvSpPr>
          <p:cNvPr id="17" name="Text 12"/>
          <p:cNvSpPr/>
          <p:nvPr/>
        </p:nvSpPr>
        <p:spPr>
          <a:xfrm>
            <a:off x="1402993" y="3862201"/>
            <a:ext cx="10376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691E"/>
                </a:solidFill>
              </a:rPr>
              <a:t>Waking to the stars</a:t>
            </a:r>
            <a:endParaRPr lang="en-US" sz="834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9928" y="2060079"/>
            <a:ext cx="214313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95678" y="2048470"/>
            <a:ext cx="16718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Coding &amp; Debugging</a:t>
            </a:r>
            <a:endParaRPr lang="en-US" sz="987" dirty="0"/>
          </a:p>
        </p:txBody>
      </p:sp>
      <p:sp>
        <p:nvSpPr>
          <p:cNvPr id="20" name="Shape 14"/>
          <p:cNvSpPr/>
          <p:nvPr/>
        </p:nvSpPr>
        <p:spPr>
          <a:xfrm>
            <a:off x="3309928" y="2436019"/>
            <a:ext cx="2524116" cy="2207307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3452803" y="2578894"/>
            <a:ext cx="1682828" cy="740048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3559959" y="2664619"/>
            <a:ext cx="1468515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565C0">
                    <a:alpha val="70000"/>
                  </a:srgbClr>
                </a:solidFill>
              </a:rPr>
              <a:t>User</a:t>
            </a:r>
            <a:endParaRPr lang="en-US" sz="534" dirty="0"/>
          </a:p>
        </p:txBody>
      </p:sp>
      <p:sp>
        <p:nvSpPr>
          <p:cNvPr id="23" name="Text 17"/>
          <p:cNvSpPr/>
          <p:nvPr/>
        </p:nvSpPr>
        <p:spPr>
          <a:xfrm>
            <a:off x="3559959" y="2804982"/>
            <a:ext cx="11172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565C0"/>
                </a:solidFill>
              </a:rPr>
              <a:t>Fix this Python error:</a:t>
            </a:r>
            <a:endParaRPr lang="en-US" sz="834" dirty="0"/>
          </a:p>
        </p:txBody>
      </p:sp>
      <p:sp>
        <p:nvSpPr>
          <p:cNvPr id="24" name="Shape 18"/>
          <p:cNvSpPr/>
          <p:nvPr/>
        </p:nvSpPr>
        <p:spPr>
          <a:xfrm>
            <a:off x="3559959" y="2998924"/>
            <a:ext cx="1468515" cy="234293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3559959" y="2998924"/>
            <a:ext cx="1468515" cy="23429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IndexError: list index out of range</a:t>
            </a:r>
            <a:endParaRPr lang="en-US" sz="621" dirty="0"/>
          </a:p>
        </p:txBody>
      </p:sp>
      <p:sp>
        <p:nvSpPr>
          <p:cNvPr id="26" name="Shape 20"/>
          <p:cNvSpPr/>
          <p:nvPr/>
        </p:nvSpPr>
        <p:spPr>
          <a:xfrm>
            <a:off x="3595678" y="3426098"/>
            <a:ext cx="2095491" cy="1060066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3702834" y="3511823"/>
            <a:ext cx="188117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3691E">
                    <a:alpha val="70000"/>
                  </a:srgbClr>
                </a:solidFill>
              </a:rPr>
              <a:t>Assistant</a:t>
            </a:r>
            <a:endParaRPr lang="en-US" sz="534" dirty="0"/>
          </a:p>
        </p:txBody>
      </p:sp>
      <p:sp>
        <p:nvSpPr>
          <p:cNvPr id="28" name="Text 22"/>
          <p:cNvSpPr/>
          <p:nvPr/>
        </p:nvSpPr>
        <p:spPr>
          <a:xfrm>
            <a:off x="3702834" y="3652186"/>
            <a:ext cx="17456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691E"/>
                </a:solidFill>
              </a:rPr>
              <a:t>This error happens when you try</a:t>
            </a:r>
            <a:endParaRPr lang="en-US" sz="834" dirty="0"/>
          </a:p>
        </p:txBody>
      </p:sp>
      <p:sp>
        <p:nvSpPr>
          <p:cNvPr id="29" name="Text 23"/>
          <p:cNvSpPr/>
          <p:nvPr/>
        </p:nvSpPr>
        <p:spPr>
          <a:xfrm>
            <a:off x="3702834" y="3812195"/>
            <a:ext cx="16470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691E"/>
                </a:solidFill>
              </a:rPr>
              <a:t>to access an index that doesn't</a:t>
            </a:r>
            <a:endParaRPr lang="en-US" sz="834" dirty="0"/>
          </a:p>
        </p:txBody>
      </p:sp>
      <p:sp>
        <p:nvSpPr>
          <p:cNvPr id="30" name="Text 24"/>
          <p:cNvSpPr/>
          <p:nvPr/>
        </p:nvSpPr>
        <p:spPr>
          <a:xfrm>
            <a:off x="3702834" y="3972204"/>
            <a:ext cx="16406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691E"/>
                </a:solidFill>
              </a:rPr>
              <a:t>exist. Check your loop bounds:</a:t>
            </a:r>
            <a:endParaRPr lang="en-US" sz="834" dirty="0"/>
          </a:p>
        </p:txBody>
      </p:sp>
      <p:sp>
        <p:nvSpPr>
          <p:cNvPr id="31" name="Shape 25"/>
          <p:cNvSpPr/>
          <p:nvPr/>
        </p:nvSpPr>
        <p:spPr>
          <a:xfrm>
            <a:off x="3702834" y="4166146"/>
            <a:ext cx="1881178" cy="234293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3702834" y="4166146"/>
            <a:ext cx="1881178" cy="23429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for i in range(len(my_list)):</a:t>
            </a:r>
            <a:endParaRPr lang="en-US" sz="621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56" y="2060079"/>
            <a:ext cx="171450" cy="1714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291244" y="2048470"/>
            <a:ext cx="15260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Logic &amp; Reasoning</a:t>
            </a:r>
            <a:endParaRPr lang="en-US" sz="987" dirty="0"/>
          </a:p>
        </p:txBody>
      </p:sp>
      <p:sp>
        <p:nvSpPr>
          <p:cNvPr id="35" name="Shape 28"/>
          <p:cNvSpPr/>
          <p:nvPr/>
        </p:nvSpPr>
        <p:spPr>
          <a:xfrm>
            <a:off x="6048356" y="2436019"/>
            <a:ext cx="2524116" cy="2193020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191231" y="2578894"/>
            <a:ext cx="2095491" cy="790054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6298388" y="2664619"/>
            <a:ext cx="188117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565C0">
                    <a:alpha val="70000"/>
                  </a:srgbClr>
                </a:solidFill>
              </a:rPr>
              <a:t>User</a:t>
            </a:r>
            <a:endParaRPr lang="en-US" sz="534" dirty="0"/>
          </a:p>
        </p:txBody>
      </p:sp>
      <p:sp>
        <p:nvSpPr>
          <p:cNvPr id="38" name="Text 31"/>
          <p:cNvSpPr/>
          <p:nvPr/>
        </p:nvSpPr>
        <p:spPr>
          <a:xfrm>
            <a:off x="6298388" y="2804982"/>
            <a:ext cx="16107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565C0"/>
                </a:solidFill>
              </a:rPr>
              <a:t>If I have 3 apples and eat one,</a:t>
            </a:r>
            <a:endParaRPr lang="en-US" sz="834" dirty="0"/>
          </a:p>
        </p:txBody>
      </p:sp>
      <p:sp>
        <p:nvSpPr>
          <p:cNvPr id="39" name="Text 32"/>
          <p:cNvSpPr/>
          <p:nvPr/>
        </p:nvSpPr>
        <p:spPr>
          <a:xfrm>
            <a:off x="6298388" y="2964991"/>
            <a:ext cx="18372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565C0"/>
                </a:solidFill>
              </a:rPr>
              <a:t>then buy two more, how many do</a:t>
            </a:r>
            <a:endParaRPr lang="en-US" sz="834" dirty="0"/>
          </a:p>
        </p:txBody>
      </p:sp>
      <p:sp>
        <p:nvSpPr>
          <p:cNvPr id="40" name="Text 33"/>
          <p:cNvSpPr/>
          <p:nvPr/>
        </p:nvSpPr>
        <p:spPr>
          <a:xfrm>
            <a:off x="6298388" y="2964991"/>
            <a:ext cx="1876016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565C0"/>
                </a:solidFill>
              </a:rPr>
              <a:t>I have?</a:t>
            </a:r>
            <a:endParaRPr lang="en-US" sz="834" dirty="0"/>
          </a:p>
        </p:txBody>
      </p:sp>
      <p:sp>
        <p:nvSpPr>
          <p:cNvPr id="41" name="Shape 34"/>
          <p:cNvSpPr/>
          <p:nvPr/>
        </p:nvSpPr>
        <p:spPr>
          <a:xfrm>
            <a:off x="6334106" y="3476104"/>
            <a:ext cx="2095491" cy="790054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6441263" y="3561829"/>
            <a:ext cx="188117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3691E">
                    <a:alpha val="70000"/>
                  </a:srgbClr>
                </a:solidFill>
              </a:rPr>
              <a:t>Assistant</a:t>
            </a:r>
            <a:endParaRPr lang="en-US" sz="534" dirty="0"/>
          </a:p>
        </p:txBody>
      </p:sp>
      <p:sp>
        <p:nvSpPr>
          <p:cNvPr id="43" name="Text 36"/>
          <p:cNvSpPr/>
          <p:nvPr/>
        </p:nvSpPr>
        <p:spPr>
          <a:xfrm>
            <a:off x="6441263" y="3702193"/>
            <a:ext cx="18065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691E"/>
                </a:solidFill>
              </a:rPr>
              <a:t>Let's step through it: 1. Start with</a:t>
            </a:r>
            <a:endParaRPr lang="en-US" sz="834" dirty="0"/>
          </a:p>
        </p:txBody>
      </p:sp>
      <p:sp>
        <p:nvSpPr>
          <p:cNvPr id="44" name="Text 37"/>
          <p:cNvSpPr/>
          <p:nvPr/>
        </p:nvSpPr>
        <p:spPr>
          <a:xfrm>
            <a:off x="6441263" y="3702193"/>
            <a:ext cx="1871914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691E"/>
                </a:solidFill>
              </a:rPr>
              <a:t>3 apples. 2. Eat 1 -&gt; 2 left. 3. Buy 2</a:t>
            </a:r>
            <a:endParaRPr lang="en-US" sz="834" dirty="0"/>
          </a:p>
        </p:txBody>
      </p:sp>
      <p:sp>
        <p:nvSpPr>
          <p:cNvPr id="45" name="Text 38"/>
          <p:cNvSpPr/>
          <p:nvPr/>
        </p:nvSpPr>
        <p:spPr>
          <a:xfrm>
            <a:off x="6441263" y="3862201"/>
            <a:ext cx="1851096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691E"/>
                </a:solidFill>
              </a:rPr>
              <a:t>-&gt; 2 + 2 = 4. You have 4 apples.</a:t>
            </a:r>
            <a:endParaRPr lang="en-US" sz="83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458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SFT Dataset: Quality over Quantity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23367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In the SFT stage, the rules of the game change. We no longer need massive scale; we need massive </a:t>
            </a:r>
            <a:r>
              <a:rPr lang="en-US" sz="1193" b="1" dirty="0">
                <a:solidFill>
                  <a:srgbClr val="555555"/>
                </a:solidFill>
              </a:rPr>
              <a:t>quality</a:t>
            </a:r>
            <a:r>
              <a:rPr lang="en-US" sz="1269" dirty="0">
                <a:solidFill>
                  <a:srgbClr val="555555"/>
                </a:solidFill>
              </a:rPr>
              <a:t>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1891308"/>
            <a:ext cx="3786188" cy="214312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1891308"/>
            <a:ext cx="3786188" cy="5715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2034183"/>
            <a:ext cx="357188" cy="3571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28660" y="2505670"/>
            <a:ext cx="127183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Pre-Training</a:t>
            </a:r>
            <a:endParaRPr lang="en-US" sz="1193" dirty="0"/>
          </a:p>
        </p:txBody>
      </p:sp>
      <p:sp>
        <p:nvSpPr>
          <p:cNvPr id="10" name="Text 5"/>
          <p:cNvSpPr/>
          <p:nvPr/>
        </p:nvSpPr>
        <p:spPr>
          <a:xfrm>
            <a:off x="2061837" y="2796778"/>
            <a:ext cx="80548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777777"/>
                </a:solidFill>
              </a:rPr>
              <a:t>10T+</a:t>
            </a:r>
            <a:endParaRPr lang="en-US" sz="2436" dirty="0"/>
          </a:p>
        </p:txBody>
      </p:sp>
      <p:sp>
        <p:nvSpPr>
          <p:cNvPr id="11" name="Text 6"/>
          <p:cNvSpPr/>
          <p:nvPr/>
        </p:nvSpPr>
        <p:spPr>
          <a:xfrm>
            <a:off x="1445298" y="3320058"/>
            <a:ext cx="203856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Tokens</a:t>
            </a:r>
            <a:r>
              <a:rPr lang="en-US" sz="1050" dirty="0">
                <a:solidFill>
                  <a:srgbClr val="555555"/>
                </a:solidFill>
              </a:rPr>
              <a:t>
 Noisy, uncurated internet text.
 "Quantity is King"</a:t>
            </a:r>
            <a:endParaRPr lang="en-US" sz="987" dirty="0"/>
          </a:p>
        </p:txBody>
      </p:sp>
      <p:sp>
        <p:nvSpPr>
          <p:cNvPr id="12" name="Shape 7"/>
          <p:cNvSpPr/>
          <p:nvPr/>
        </p:nvSpPr>
        <p:spPr>
          <a:xfrm>
            <a:off x="4357688" y="2402979"/>
            <a:ext cx="428625" cy="428625"/>
          </a:xfrm>
          <a:prstGeom prst="ellipse">
            <a:avLst/>
          </a:prstGeom>
          <a:solidFill>
            <a:srgbClr val="111111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4357688" y="2402979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VS</a:t>
            </a:r>
            <a:endParaRPr lang="en-US" sz="987" dirty="0"/>
          </a:p>
        </p:txBody>
      </p:sp>
      <p:sp>
        <p:nvSpPr>
          <p:cNvPr id="14" name="Shape 9"/>
          <p:cNvSpPr/>
          <p:nvPr/>
        </p:nvSpPr>
        <p:spPr>
          <a:xfrm>
            <a:off x="4786313" y="1891308"/>
            <a:ext cx="3786188" cy="2143125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786313" y="1891308"/>
            <a:ext cx="3786188" cy="57150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813" y="2034183"/>
            <a:ext cx="357188" cy="3571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93368" y="2505670"/>
            <a:ext cx="117204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Fine-Tuning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6260185" y="2796778"/>
            <a:ext cx="83841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100K</a:t>
            </a:r>
            <a:endParaRPr lang="en-US" sz="2436" dirty="0"/>
          </a:p>
        </p:txBody>
      </p:sp>
      <p:sp>
        <p:nvSpPr>
          <p:cNvPr id="19" name="Text 13"/>
          <p:cNvSpPr/>
          <p:nvPr/>
        </p:nvSpPr>
        <p:spPr>
          <a:xfrm>
            <a:off x="5614262" y="3320058"/>
            <a:ext cx="213028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555555"/>
                </a:solidFill>
              </a:rPr>
              <a:t>Examples</a:t>
            </a:r>
            <a:r>
              <a:rPr lang="en-US" sz="1050" dirty="0">
                <a:solidFill>
                  <a:srgbClr val="555555"/>
                </a:solidFill>
              </a:rPr>
              <a:t>
 Expert-written, verified, perfect.
 "Quality is King"</a:t>
            </a:r>
            <a:endParaRPr lang="en-US" sz="987" dirty="0"/>
          </a:p>
        </p:txBody>
      </p:sp>
      <p:sp>
        <p:nvSpPr>
          <p:cNvPr id="20" name="Shape 14"/>
          <p:cNvSpPr/>
          <p:nvPr/>
        </p:nvSpPr>
        <p:spPr>
          <a:xfrm>
            <a:off x="571500" y="4205883"/>
            <a:ext cx="8001000" cy="600075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71500" y="4205883"/>
            <a:ext cx="42863" cy="60007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398764"/>
            <a:ext cx="160734" cy="21431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3684" y="4291608"/>
            <a:ext cx="75830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The LIMA Hypothesis:</a:t>
            </a:r>
            <a:r>
              <a:rPr lang="en-US" sz="1159" dirty="0">
                <a:solidFill>
                  <a:srgbClr val="333333"/>
                </a:solidFill>
              </a:rPr>
              <a:t> "Less Is More for Alignment". A model can learn the "assistant style" from as few as 1,000 high-quality examples.</a:t>
            </a:r>
            <a:endParaRPr lang="en-US" sz="109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4424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The Fine-tuning Process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Technically, SFT uses the same training loop as pre-training. The critical difference is </a:t>
            </a:r>
            <a:r>
              <a:rPr lang="en-US" sz="1193" b="1" dirty="0">
                <a:solidFill>
                  <a:srgbClr val="555555"/>
                </a:solidFill>
              </a:rPr>
              <a:t>Loss Masking</a:t>
            </a:r>
            <a:r>
              <a:rPr lang="en-US" sz="1269" dirty="0">
                <a:solidFill>
                  <a:srgbClr val="555555"/>
                </a:solidFill>
              </a:rPr>
              <a:t>: we only train the model on the assistant's responses, not the user's queries.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119908"/>
            <a:ext cx="8001000" cy="2112764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57250" y="2405658"/>
            <a:ext cx="7429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333333"/>
                </a:solidFill>
              </a:rPr>
              <a:t>Loss Masking Visualization</a:t>
            </a:r>
            <a:endParaRPr lang="en-US" sz="1090" dirty="0"/>
          </a:p>
        </p:txBody>
      </p:sp>
      <p:sp>
        <p:nvSpPr>
          <p:cNvPr id="8" name="Shape 4"/>
          <p:cNvSpPr/>
          <p:nvPr/>
        </p:nvSpPr>
        <p:spPr>
          <a:xfrm>
            <a:off x="1435922" y="2834283"/>
            <a:ext cx="860124" cy="366117"/>
          </a:xfrm>
          <a:prstGeom prst="rect">
            <a:avLst/>
          </a:prstGeom>
          <a:solidFill>
            <a:srgbClr val="E0E0E0"/>
          </a:solidFill>
          <a:ln w="18288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435922" y="2834283"/>
            <a:ext cx="860124" cy="36611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&lt;|user|&gt;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660587" y="3243263"/>
            <a:ext cx="4107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Loss = 0</a:t>
            </a:r>
            <a:endParaRPr lang="en-US" sz="683" dirty="0"/>
          </a:p>
        </p:txBody>
      </p:sp>
      <p:sp>
        <p:nvSpPr>
          <p:cNvPr id="11" name="Shape 7"/>
          <p:cNvSpPr/>
          <p:nvPr/>
        </p:nvSpPr>
        <p:spPr>
          <a:xfrm>
            <a:off x="2353196" y="2834283"/>
            <a:ext cx="595805" cy="366117"/>
          </a:xfrm>
          <a:prstGeom prst="rect">
            <a:avLst/>
          </a:prstGeom>
          <a:solidFill>
            <a:srgbClr val="E0E0E0"/>
          </a:solidFill>
          <a:ln w="18288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353196" y="2834283"/>
            <a:ext cx="595805" cy="36611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What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445702" y="3243263"/>
            <a:ext cx="4107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Loss = 0</a:t>
            </a:r>
            <a:endParaRPr lang="en-US" sz="683" dirty="0"/>
          </a:p>
        </p:txBody>
      </p:sp>
      <p:sp>
        <p:nvSpPr>
          <p:cNvPr id="14" name="Shape 10"/>
          <p:cNvSpPr/>
          <p:nvPr/>
        </p:nvSpPr>
        <p:spPr>
          <a:xfrm>
            <a:off x="3006151" y="2834283"/>
            <a:ext cx="428625" cy="366117"/>
          </a:xfrm>
          <a:prstGeom prst="rect">
            <a:avLst/>
          </a:prstGeom>
          <a:solidFill>
            <a:srgbClr val="E0E0E0"/>
          </a:solidFill>
          <a:ln w="18288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006151" y="2834283"/>
            <a:ext cx="428625" cy="36611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is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015081" y="3243263"/>
            <a:ext cx="4107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Loss = 0</a:t>
            </a:r>
            <a:endParaRPr lang="en-US" sz="683" dirty="0"/>
          </a:p>
        </p:txBody>
      </p:sp>
      <p:sp>
        <p:nvSpPr>
          <p:cNvPr id="17" name="Shape 13"/>
          <p:cNvSpPr/>
          <p:nvPr/>
        </p:nvSpPr>
        <p:spPr>
          <a:xfrm>
            <a:off x="3506214" y="2834283"/>
            <a:ext cx="444643" cy="366117"/>
          </a:xfrm>
          <a:prstGeom prst="rect">
            <a:avLst/>
          </a:prstGeom>
          <a:solidFill>
            <a:srgbClr val="E0E0E0"/>
          </a:solidFill>
          <a:ln w="18288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506214" y="2834283"/>
            <a:ext cx="444643" cy="36611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999999"/>
                </a:solidFill>
              </a:rPr>
              <a:t>AI?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523152" y="3243263"/>
            <a:ext cx="4107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Loss = 0</a:t>
            </a:r>
            <a:endParaRPr lang="en-US" sz="683" dirty="0"/>
          </a:p>
        </p:txBody>
      </p:sp>
      <p:sp>
        <p:nvSpPr>
          <p:cNvPr id="20" name="Shape 16"/>
          <p:cNvSpPr/>
          <p:nvPr/>
        </p:nvSpPr>
        <p:spPr>
          <a:xfrm>
            <a:off x="4014285" y="2834283"/>
            <a:ext cx="1210866" cy="366117"/>
          </a:xfrm>
          <a:prstGeom prst="rect">
            <a:avLst/>
          </a:prstGeom>
          <a:solidFill>
            <a:srgbClr val="E8F5E9"/>
          </a:solidFill>
          <a:ln w="18288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014285" y="2834283"/>
            <a:ext cx="1210866" cy="36611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E7D32"/>
                </a:solidFill>
              </a:rPr>
              <a:t>&lt;|assistant|&gt;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4414335" y="3243263"/>
            <a:ext cx="4107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Loss &gt; 0</a:t>
            </a:r>
            <a:endParaRPr lang="en-US" sz="683" dirty="0"/>
          </a:p>
        </p:txBody>
      </p:sp>
      <p:sp>
        <p:nvSpPr>
          <p:cNvPr id="23" name="Shape 19"/>
          <p:cNvSpPr/>
          <p:nvPr/>
        </p:nvSpPr>
        <p:spPr>
          <a:xfrm>
            <a:off x="5282301" y="2834283"/>
            <a:ext cx="428625" cy="366117"/>
          </a:xfrm>
          <a:prstGeom prst="rect">
            <a:avLst/>
          </a:prstGeom>
          <a:solidFill>
            <a:srgbClr val="E8F5E9"/>
          </a:solidFill>
          <a:ln w="18288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282301" y="2834283"/>
            <a:ext cx="428625" cy="36611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E7D32"/>
                </a:solidFill>
              </a:rPr>
              <a:t>AI</a:t>
            </a:r>
            <a:endParaRPr lang="en-US" sz="987" dirty="0"/>
          </a:p>
        </p:txBody>
      </p:sp>
      <p:sp>
        <p:nvSpPr>
          <p:cNvPr id="25" name="Text 21"/>
          <p:cNvSpPr/>
          <p:nvPr/>
        </p:nvSpPr>
        <p:spPr>
          <a:xfrm>
            <a:off x="5291231" y="3243263"/>
            <a:ext cx="4107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Loss &gt; 0</a:t>
            </a:r>
            <a:endParaRPr lang="en-US" sz="683" dirty="0"/>
          </a:p>
        </p:txBody>
      </p:sp>
      <p:sp>
        <p:nvSpPr>
          <p:cNvPr id="26" name="Shape 22"/>
          <p:cNvSpPr/>
          <p:nvPr/>
        </p:nvSpPr>
        <p:spPr>
          <a:xfrm>
            <a:off x="5782363" y="2834283"/>
            <a:ext cx="428625" cy="366117"/>
          </a:xfrm>
          <a:prstGeom prst="rect">
            <a:avLst/>
          </a:prstGeom>
          <a:solidFill>
            <a:srgbClr val="E8F5E9"/>
          </a:solidFill>
          <a:ln w="18288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782363" y="2834283"/>
            <a:ext cx="428625" cy="36611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E7D32"/>
                </a:solidFill>
              </a:rPr>
              <a:t>is</a:t>
            </a:r>
            <a:endParaRPr lang="en-US" sz="987" dirty="0"/>
          </a:p>
        </p:txBody>
      </p:sp>
      <p:sp>
        <p:nvSpPr>
          <p:cNvPr id="28" name="Text 24"/>
          <p:cNvSpPr/>
          <p:nvPr/>
        </p:nvSpPr>
        <p:spPr>
          <a:xfrm>
            <a:off x="5791293" y="3243263"/>
            <a:ext cx="4107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Loss &gt; 0</a:t>
            </a:r>
            <a:endParaRPr lang="en-US" sz="683" dirty="0"/>
          </a:p>
        </p:txBody>
      </p:sp>
      <p:sp>
        <p:nvSpPr>
          <p:cNvPr id="29" name="Shape 25"/>
          <p:cNvSpPr/>
          <p:nvPr/>
        </p:nvSpPr>
        <p:spPr>
          <a:xfrm>
            <a:off x="6282426" y="2834283"/>
            <a:ext cx="874691" cy="366117"/>
          </a:xfrm>
          <a:prstGeom prst="rect">
            <a:avLst/>
          </a:prstGeom>
          <a:solidFill>
            <a:srgbClr val="E8F5E9"/>
          </a:solidFill>
          <a:ln w="18288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282426" y="2834283"/>
            <a:ext cx="874691" cy="36611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E7D32"/>
                </a:solidFill>
              </a:rPr>
              <a:t>software</a:t>
            </a:r>
            <a:endParaRPr lang="en-US" sz="987" dirty="0"/>
          </a:p>
        </p:txBody>
      </p:sp>
      <p:sp>
        <p:nvSpPr>
          <p:cNvPr id="31" name="Text 27"/>
          <p:cNvSpPr/>
          <p:nvPr/>
        </p:nvSpPr>
        <p:spPr>
          <a:xfrm>
            <a:off x="6514374" y="3243263"/>
            <a:ext cx="4107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Loss &gt; 0</a:t>
            </a:r>
            <a:endParaRPr lang="en-US" sz="683" dirty="0"/>
          </a:p>
        </p:txBody>
      </p:sp>
      <p:sp>
        <p:nvSpPr>
          <p:cNvPr id="32" name="Shape 28"/>
          <p:cNvSpPr/>
          <p:nvPr/>
        </p:nvSpPr>
        <p:spPr>
          <a:xfrm>
            <a:off x="7214267" y="2834283"/>
            <a:ext cx="428625" cy="366117"/>
          </a:xfrm>
          <a:prstGeom prst="rect">
            <a:avLst/>
          </a:prstGeom>
          <a:solidFill>
            <a:srgbClr val="E8F5E9"/>
          </a:solidFill>
          <a:ln w="18288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7214267" y="2834283"/>
            <a:ext cx="428625" cy="36611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E7D32"/>
                </a:solidFill>
              </a:rPr>
              <a:t>...</a:t>
            </a:r>
            <a:endParaRPr lang="en-US" sz="987" dirty="0"/>
          </a:p>
        </p:txBody>
      </p:sp>
      <p:sp>
        <p:nvSpPr>
          <p:cNvPr id="34" name="Text 30"/>
          <p:cNvSpPr/>
          <p:nvPr/>
        </p:nvSpPr>
        <p:spPr>
          <a:xfrm>
            <a:off x="7223196" y="3243263"/>
            <a:ext cx="4107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32F2F"/>
                </a:solidFill>
              </a:rPr>
              <a:t>Loss &gt; 0</a:t>
            </a:r>
            <a:endParaRPr lang="en-US" sz="683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499" y="3752255"/>
            <a:ext cx="160734" cy="12858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725383" y="3729038"/>
            <a:ext cx="26854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777777"/>
                </a:solidFill>
              </a:rPr>
              <a:t>Model sees user text but is not graded on it</a:t>
            </a:r>
            <a:endParaRPr lang="en-US" sz="942" dirty="0"/>
          </a:p>
        </p:txBody>
      </p:sp>
      <p:sp>
        <p:nvSpPr>
          <p:cNvPr id="37" name="Text 32"/>
          <p:cNvSpPr/>
          <p:nvPr/>
        </p:nvSpPr>
        <p:spPr>
          <a:xfrm>
            <a:off x="4553694" y="3729038"/>
            <a:ext cx="708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777777"/>
                </a:solidFill>
              </a:rPr>
              <a:t>|</a:t>
            </a:r>
            <a:endParaRPr lang="en-US" sz="942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907" y="3752255"/>
            <a:ext cx="160734" cy="12858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018791" y="3729038"/>
            <a:ext cx="26176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777777"/>
                </a:solidFill>
              </a:rPr>
              <a:t>Model is graded ONLY on its own response</a:t>
            </a:r>
            <a:endParaRPr lang="en-US" sz="942" dirty="0"/>
          </a:p>
        </p:txBody>
      </p:sp>
      <p:sp>
        <p:nvSpPr>
          <p:cNvPr id="40" name="Shape 34"/>
          <p:cNvSpPr/>
          <p:nvPr/>
        </p:nvSpPr>
        <p:spPr>
          <a:xfrm>
            <a:off x="571500" y="4475559"/>
            <a:ext cx="8001000" cy="797198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571500" y="4475559"/>
            <a:ext cx="42863" cy="79719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4731283"/>
            <a:ext cx="214313" cy="28575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178719" y="4654153"/>
            <a:ext cx="721518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Why?</a:t>
            </a:r>
            <a:r>
              <a:rPr lang="en-US" sz="1159" dirty="0">
                <a:solidFill>
                  <a:srgbClr val="333333"/>
                </a:solidFill>
              </a:rPr>
              <a:t> We don't want the model to learn how to "ask questions like a user". We want to focus all its learning capacity on "answering questions like an expert".</a:t>
            </a:r>
            <a:endParaRPr lang="en-US" sz="109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8748" y="88963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From Document Completer to Assistant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437680"/>
            <a:ext cx="3286125" cy="271462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571500" y="1437680"/>
            <a:ext cx="3286125" cy="57150"/>
          </a:xfrm>
          <a:prstGeom prst="rect">
            <a:avLst/>
          </a:prstGeom>
          <a:solidFill>
            <a:srgbClr val="7575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1857375" y="1723430"/>
            <a:ext cx="714375" cy="691158"/>
          </a:xfrm>
          <a:prstGeom prst="ellipse">
            <a:avLst/>
          </a:prstGeom>
          <a:solidFill>
            <a:srgbClr val="75757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688" y="1926134"/>
            <a:ext cx="285750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72964" y="2628900"/>
            <a:ext cx="128316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Base Model</a:t>
            </a:r>
            <a:endParaRPr lang="en-US" sz="1397" dirty="0"/>
          </a:p>
        </p:txBody>
      </p:sp>
      <p:sp>
        <p:nvSpPr>
          <p:cNvPr id="10" name="Text 5"/>
          <p:cNvSpPr/>
          <p:nvPr/>
        </p:nvSpPr>
        <p:spPr>
          <a:xfrm>
            <a:off x="785813" y="3009305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Trained on the raw internet. It mimics the chaos, variety, and noise of human text. It has no specific goal other than "prediction".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3857625" y="2271713"/>
            <a:ext cx="1428750" cy="4536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3857625" y="2271713"/>
            <a:ext cx="1428750" cy="453628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Supervised Fine-Tuning</a:t>
            </a:r>
            <a:endParaRPr lang="en-US" sz="784" dirty="0"/>
          </a:p>
        </p:txBody>
      </p:sp>
      <p:sp>
        <p:nvSpPr>
          <p:cNvPr id="13" name="Shape 8"/>
          <p:cNvSpPr/>
          <p:nvPr/>
        </p:nvSpPr>
        <p:spPr>
          <a:xfrm>
            <a:off x="3857625" y="2796778"/>
            <a:ext cx="1428750" cy="2857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3906989" y="2896791"/>
            <a:ext cx="13299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565C0"/>
                </a:solidFill>
              </a:rPr>
              <a:t>Instruction Alignment</a:t>
            </a:r>
            <a:endParaRPr lang="en-US" sz="683" dirty="0"/>
          </a:p>
        </p:txBody>
      </p:sp>
      <p:sp>
        <p:nvSpPr>
          <p:cNvPr id="15" name="Shape 10"/>
          <p:cNvSpPr/>
          <p:nvPr/>
        </p:nvSpPr>
        <p:spPr>
          <a:xfrm>
            <a:off x="5286375" y="1437680"/>
            <a:ext cx="3286125" cy="271462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5286375" y="1437680"/>
            <a:ext cx="3286125" cy="57150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572250" y="1723430"/>
            <a:ext cx="714375" cy="714375"/>
          </a:xfrm>
          <a:prstGeom prst="ellipse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0844" y="1937742"/>
            <a:ext cx="357188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83505" y="2652117"/>
            <a:ext cx="189183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Assistant Model</a:t>
            </a:r>
            <a:endParaRPr lang="en-US" sz="1397" dirty="0"/>
          </a:p>
        </p:txBody>
      </p:sp>
      <p:sp>
        <p:nvSpPr>
          <p:cNvPr id="20" name="Text 14"/>
          <p:cNvSpPr/>
          <p:nvPr/>
        </p:nvSpPr>
        <p:spPr>
          <a:xfrm>
            <a:off x="5500688" y="3032522"/>
            <a:ext cx="28575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Trained on curated dialogues. It adopts a specific persona: helpful, harmless, and honest. It focuses on "serving the user".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3" y="1062800"/>
            <a:ext cx="714375" cy="714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095127" y="2184369"/>
            <a:ext cx="9537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8CC63F"/>
                </a:solidFill>
              </a:rPr>
              <a:t>Part 6</a:t>
            </a:r>
            <a:endParaRPr lang="en-US" sz="1602" dirty="0"/>
          </a:p>
        </p:txBody>
      </p:sp>
      <p:sp>
        <p:nvSpPr>
          <p:cNvPr id="6" name="Text 1"/>
          <p:cNvSpPr/>
          <p:nvPr/>
        </p:nvSpPr>
        <p:spPr>
          <a:xfrm>
            <a:off x="2200582" y="2639783"/>
            <a:ext cx="4742836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11111"/>
                </a:solidFill>
              </a:rPr>
              <a:t>Hallucinations</a:t>
            </a:r>
            <a:endParaRPr lang="en-US" sz="3731" dirty="0"/>
          </a:p>
        </p:txBody>
      </p:sp>
      <p:sp>
        <p:nvSpPr>
          <p:cNvPr id="7" name="Text 2"/>
          <p:cNvSpPr/>
          <p:nvPr/>
        </p:nvSpPr>
        <p:spPr>
          <a:xfrm>
            <a:off x="2636323" y="3905650"/>
            <a:ext cx="387135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The Mechanism of Plausible Untruths</a:t>
            </a:r>
            <a:endParaRPr lang="en-US" sz="1704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459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The Mechanism of Hallucination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Hallucinations occur because LLMs are </a:t>
            </a:r>
            <a:r>
              <a:rPr lang="en-US" sz="1193" b="1" dirty="0">
                <a:solidFill>
                  <a:srgbClr val="555555"/>
                </a:solidFill>
              </a:rPr>
              <a:t>not databases</a:t>
            </a:r>
            <a:r>
              <a:rPr lang="en-US" sz="1269" dirty="0">
                <a:solidFill>
                  <a:srgbClr val="555555"/>
                </a:solidFill>
              </a:rPr>
              <a:t>. They do not "retrieve" facts; they "reconstruct" them based on statistical patterns.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048470"/>
            <a:ext cx="3821906" cy="28575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048470"/>
            <a:ext cx="3821906" cy="57150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030541" y="1941314"/>
            <a:ext cx="1148553" cy="207169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030541" y="1941314"/>
            <a:ext cx="1148553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Retrieval System</a:t>
            </a:r>
            <a:endParaRPr lang="en-US" sz="683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285107"/>
            <a:ext cx="200025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2994" y="2262783"/>
            <a:ext cx="10287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Database</a:t>
            </a:r>
            <a:endParaRPr lang="en-US" sz="1397" dirty="0"/>
          </a:p>
        </p:txBody>
      </p:sp>
      <p:sp>
        <p:nvSpPr>
          <p:cNvPr id="12" name="Text 7"/>
          <p:cNvSpPr/>
          <p:nvPr/>
        </p:nvSpPr>
        <p:spPr>
          <a:xfrm>
            <a:off x="785813" y="2678906"/>
            <a:ext cx="33932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Stores exact records. If information is missing, it explicitly fails. It cannot invent data.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85813" y="3221831"/>
            <a:ext cx="3393281" cy="14698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928688" y="3746004"/>
            <a:ext cx="31075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</a:rPr>
              <a:t>Query: "First person on Mars?"</a:t>
            </a:r>
            <a:endParaRPr lang="en-US" sz="885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8" y="4015680"/>
            <a:ext cx="128588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7275" y="3992463"/>
            <a:ext cx="15745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32F2F"/>
                </a:solidFill>
              </a:rPr>
              <a:t>Error: Record not found.</a:t>
            </a:r>
            <a:endParaRPr lang="en-US" sz="885" dirty="0"/>
          </a:p>
        </p:txBody>
      </p:sp>
      <p:sp>
        <p:nvSpPr>
          <p:cNvPr id="17" name="Shape 11"/>
          <p:cNvSpPr/>
          <p:nvPr/>
        </p:nvSpPr>
        <p:spPr>
          <a:xfrm>
            <a:off x="4750594" y="2048470"/>
            <a:ext cx="3821906" cy="28575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750594" y="2048470"/>
            <a:ext cx="3821906" cy="5715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7125444" y="1941314"/>
            <a:ext cx="1232743" cy="207169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7125444" y="1941314"/>
            <a:ext cx="1232743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Generative System</a:t>
            </a:r>
            <a:endParaRPr lang="en-US" sz="683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906" y="2285107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0663" y="2262783"/>
            <a:ext cx="42628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LLM</a:t>
            </a:r>
            <a:endParaRPr lang="en-US" sz="1397" dirty="0"/>
          </a:p>
        </p:txBody>
      </p:sp>
      <p:sp>
        <p:nvSpPr>
          <p:cNvPr id="23" name="Text 16"/>
          <p:cNvSpPr/>
          <p:nvPr/>
        </p:nvSpPr>
        <p:spPr>
          <a:xfrm>
            <a:off x="4964906" y="2678906"/>
            <a:ext cx="33932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Predicts the next word. If information is missing, it </a:t>
            </a:r>
            <a:r>
              <a:rPr lang="en-US" sz="987" b="1" dirty="0">
                <a:solidFill>
                  <a:srgbClr val="555555"/>
                </a:solidFill>
              </a:rPr>
              <a:t>improvises</a:t>
            </a:r>
            <a:r>
              <a:rPr lang="en-US" sz="1050" dirty="0">
                <a:solidFill>
                  <a:srgbClr val="555555"/>
                </a:solidFill>
              </a:rPr>
              <a:t> a plausible completion based on similar contexts.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964906" y="3421856"/>
            <a:ext cx="3393281" cy="12698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5107781" y="3654921"/>
            <a:ext cx="31075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</a:rPr>
              <a:t>Query: "First person on Mars?"</a:t>
            </a:r>
            <a:endParaRPr lang="en-US" sz="885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7781" y="3924598"/>
            <a:ext cx="128588" cy="1285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36369" y="3901380"/>
            <a:ext cx="24555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9800"/>
                </a:solidFill>
              </a:rPr>
              <a:t>"The first person to walk on Mars was</a:t>
            </a:r>
            <a:endParaRPr lang="en-US" sz="885" dirty="0"/>
          </a:p>
        </p:txBody>
      </p:sp>
      <p:sp>
        <p:nvSpPr>
          <p:cNvPr id="28" name="Text 20"/>
          <p:cNvSpPr/>
          <p:nvPr/>
        </p:nvSpPr>
        <p:spPr>
          <a:xfrm>
            <a:off x="5107781" y="4076402"/>
            <a:ext cx="19196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9800"/>
                </a:solidFill>
              </a:rPr>
              <a:t>Captain John Carter in 2035..."</a:t>
            </a:r>
            <a:endParaRPr lang="en-US" sz="885" dirty="0"/>
          </a:p>
        </p:txBody>
      </p:sp>
      <p:sp>
        <p:nvSpPr>
          <p:cNvPr id="29" name="Text 21"/>
          <p:cNvSpPr/>
          <p:nvPr/>
        </p:nvSpPr>
        <p:spPr>
          <a:xfrm>
            <a:off x="5107781" y="4322862"/>
            <a:ext cx="31075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999999"/>
                </a:solidFill>
              </a:rPr>
              <a:t>(Sounds correct, but is fiction)</a:t>
            </a:r>
            <a:endParaRPr lang="en-US" sz="727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0603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Parametric Knowledge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Parametric knowledge refers to the facts and information that are "compressed" into the model's weights during pre-training. It is </a:t>
            </a:r>
            <a:r>
              <a:rPr lang="en-US" sz="1193" b="1" dirty="0">
                <a:solidFill>
                  <a:srgbClr val="555555"/>
                </a:solidFill>
              </a:rPr>
              <a:t>not</a:t>
            </a:r>
            <a:r>
              <a:rPr lang="en-US" sz="1269" dirty="0">
                <a:solidFill>
                  <a:srgbClr val="555555"/>
                </a:solidFill>
              </a:rPr>
              <a:t> a database.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119908"/>
            <a:ext cx="3786188" cy="2857500"/>
          </a:xfrm>
          <a:prstGeom prst="rect">
            <a:avLst/>
          </a:prstGeom>
          <a:solidFill>
            <a:srgbClr val="F5F5F5"/>
          </a:solidFill>
          <a:ln w="18288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2100263" y="2334220"/>
            <a:ext cx="714375" cy="682228"/>
          </a:xfrm>
          <a:prstGeom prst="ellipse">
            <a:avLst/>
          </a:prstGeom>
          <a:solidFill>
            <a:srgbClr val="FFFFFF"/>
          </a:solidFill>
          <a:ln w="27432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2434" y="2532459"/>
            <a:ext cx="250031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03192" y="3159323"/>
            <a:ext cx="2508517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Traditional Database</a:t>
            </a:r>
            <a:endParaRPr lang="en-US" sz="1397" dirty="0"/>
          </a:p>
        </p:txBody>
      </p:sp>
      <p:sp>
        <p:nvSpPr>
          <p:cNvPr id="10" name="Text 5"/>
          <p:cNvSpPr/>
          <p:nvPr/>
        </p:nvSpPr>
        <p:spPr>
          <a:xfrm>
            <a:off x="1847971" y="3504009"/>
            <a:ext cx="12189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555555"/>
                </a:solidFill>
              </a:rPr>
              <a:t>Exact Retrieval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785813" y="3821906"/>
            <a:ext cx="33432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Stores data perfectly. When you query it, you get exactly what was written, or nothing at all.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785813" y="4393406"/>
            <a:ext cx="3343275" cy="3696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785813" y="4393406"/>
            <a:ext cx="3343275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"Like looking up a fact in an encyclopedia."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4393406" y="2524423"/>
            <a:ext cx="357188" cy="357188"/>
          </a:xfrm>
          <a:prstGeom prst="ellipse">
            <a:avLst/>
          </a:prstGeom>
          <a:solidFill>
            <a:srgbClr val="111111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4393406" y="252442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VS</a:t>
            </a:r>
            <a:endParaRPr lang="en-US" sz="784" dirty="0"/>
          </a:p>
        </p:txBody>
      </p:sp>
      <p:sp>
        <p:nvSpPr>
          <p:cNvPr id="16" name="Shape 11"/>
          <p:cNvSpPr/>
          <p:nvPr/>
        </p:nvSpPr>
        <p:spPr>
          <a:xfrm>
            <a:off x="4772025" y="2119908"/>
            <a:ext cx="3800475" cy="2857500"/>
          </a:xfrm>
          <a:prstGeom prst="rect">
            <a:avLst/>
          </a:prstGeom>
          <a:solidFill>
            <a:srgbClr val="E8F5E9"/>
          </a:solidFill>
          <a:ln w="18288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322219" y="2334220"/>
            <a:ext cx="714375" cy="682228"/>
          </a:xfrm>
          <a:prstGeom prst="ellipse">
            <a:avLst/>
          </a:prstGeom>
          <a:solidFill>
            <a:srgbClr val="FFFFFF"/>
          </a:solidFill>
          <a:ln w="27432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8672" y="2532459"/>
            <a:ext cx="321469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74528" y="3159323"/>
            <a:ext cx="260972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Large Language Model</a:t>
            </a:r>
            <a:endParaRPr lang="en-US" sz="1397" dirty="0"/>
          </a:p>
        </p:txBody>
      </p:sp>
      <p:sp>
        <p:nvSpPr>
          <p:cNvPr id="20" name="Text 14"/>
          <p:cNvSpPr/>
          <p:nvPr/>
        </p:nvSpPr>
        <p:spPr>
          <a:xfrm>
            <a:off x="5481042" y="3504009"/>
            <a:ext cx="23967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555555"/>
                </a:solidFill>
              </a:rPr>
              <a:t>Probabilistic Reconstruction</a:t>
            </a:r>
            <a:endParaRPr lang="en-US" sz="885" dirty="0"/>
          </a:p>
        </p:txBody>
      </p:sp>
      <p:sp>
        <p:nvSpPr>
          <p:cNvPr id="21" name="Text 15"/>
          <p:cNvSpPr/>
          <p:nvPr/>
        </p:nvSpPr>
        <p:spPr>
          <a:xfrm>
            <a:off x="5000625" y="3821906"/>
            <a:ext cx="3357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Stores "patterns" and "relationships". When you query it, it reconstructs the most likely answer.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000625" y="4393406"/>
            <a:ext cx="3357563" cy="36968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000625" y="4393406"/>
            <a:ext cx="3357563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"Like trying to remember a book you read 5 years ago."</a:t>
            </a:r>
            <a:endParaRPr lang="en-US" sz="834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459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Two Types of Knowledge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When an LLM answers a question, it pulls information from two distinct sources. Understanding this distinction is key to solving hallucinations.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048470"/>
            <a:ext cx="3857625" cy="28575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048470"/>
            <a:ext cx="3857625" cy="57150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270820"/>
            <a:ext cx="257175" cy="2571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0144" y="2262783"/>
            <a:ext cx="131698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Parametric</a:t>
            </a:r>
            <a:endParaRPr lang="en-US" sz="1397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786063"/>
            <a:ext cx="100013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7263" y="2750344"/>
            <a:ext cx="24790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Source:</a:t>
            </a:r>
            <a:r>
              <a:rPr lang="en-US" sz="1050" dirty="0">
                <a:solidFill>
                  <a:srgbClr val="333333"/>
                </a:solidFill>
              </a:rPr>
              <a:t> Model Weights (Pre-training)</a:t>
            </a:r>
            <a:endParaRPr lang="en-US" sz="987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093244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71550" y="3057525"/>
            <a:ext cx="204542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Nature:</a:t>
            </a:r>
            <a:r>
              <a:rPr lang="en-US" sz="1050" dirty="0">
                <a:solidFill>
                  <a:srgbClr val="333333"/>
                </a:solidFill>
              </a:rPr>
              <a:t> Static, Frozen, "Lossy"</a:t>
            </a:r>
            <a:endParaRPr lang="en-US" sz="987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3400425"/>
            <a:ext cx="114300" cy="1143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71550" y="3364706"/>
            <a:ext cx="32432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Risk:</a:t>
            </a:r>
            <a:r>
              <a:rPr lang="en-US" sz="1050" dirty="0">
                <a:solidFill>
                  <a:srgbClr val="333333"/>
                </a:solidFill>
              </a:rPr>
              <a:t> Prone to hallucination when facts are obscure.</a:t>
            </a:r>
            <a:endParaRPr lang="en-US" sz="987" dirty="0"/>
          </a:p>
        </p:txBody>
      </p:sp>
      <p:sp>
        <p:nvSpPr>
          <p:cNvPr id="16" name="Shape 8"/>
          <p:cNvSpPr/>
          <p:nvPr/>
        </p:nvSpPr>
        <p:spPr>
          <a:xfrm>
            <a:off x="785813" y="4127302"/>
            <a:ext cx="3429000" cy="56435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9"/>
          <p:cNvSpPr/>
          <p:nvPr/>
        </p:nvSpPr>
        <p:spPr>
          <a:xfrm>
            <a:off x="785813" y="4127302"/>
            <a:ext cx="28575" cy="564356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/>
          <p:cNvSpPr/>
          <p:nvPr/>
        </p:nvSpPr>
        <p:spPr>
          <a:xfrm>
            <a:off x="785813" y="4127302"/>
            <a:ext cx="3429000" cy="5643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"Like taking a closed-book exam relying only on your memory."</a:t>
            </a:r>
            <a:endParaRPr lang="en-US" sz="942" dirty="0"/>
          </a:p>
        </p:txBody>
      </p:sp>
      <p:sp>
        <p:nvSpPr>
          <p:cNvPr id="19" name="Shape 11"/>
          <p:cNvSpPr/>
          <p:nvPr/>
        </p:nvSpPr>
        <p:spPr>
          <a:xfrm>
            <a:off x="4714875" y="2048470"/>
            <a:ext cx="3857625" cy="2857500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4714875" y="2048470"/>
            <a:ext cx="3857625" cy="57150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2270820"/>
            <a:ext cx="289322" cy="2571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325666" y="2262783"/>
            <a:ext cx="135399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Contextual</a:t>
            </a:r>
            <a:endParaRPr lang="en-US" sz="1397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2786063"/>
            <a:ext cx="128588" cy="1143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129213" y="2750344"/>
            <a:ext cx="2412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Source:</a:t>
            </a:r>
            <a:r>
              <a:rPr lang="en-US" sz="1050" dirty="0">
                <a:solidFill>
                  <a:srgbClr val="333333"/>
                </a:solidFill>
              </a:rPr>
              <a:t> The Prompt (Input Window)</a:t>
            </a:r>
            <a:endParaRPr lang="en-US" sz="987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9188" y="3093244"/>
            <a:ext cx="114300" cy="1143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114925" y="3057525"/>
            <a:ext cx="25183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Nature:</a:t>
            </a:r>
            <a:r>
              <a:rPr lang="en-US" sz="1050" dirty="0">
                <a:solidFill>
                  <a:srgbClr val="333333"/>
                </a:solidFill>
              </a:rPr>
              <a:t> Dynamic, Up-to-date, Precise</a:t>
            </a:r>
            <a:endParaRPr lang="en-US" sz="987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9188" y="3400425"/>
            <a:ext cx="114300" cy="1143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14925" y="3364706"/>
            <a:ext cx="29506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Benefit:</a:t>
            </a:r>
            <a:r>
              <a:rPr lang="en-US" sz="1050" dirty="0">
                <a:solidFill>
                  <a:srgbClr val="333333"/>
                </a:solidFill>
              </a:rPr>
              <a:t> Reduces hallucination (Grounding).</a:t>
            </a:r>
            <a:endParaRPr lang="en-US" sz="987" dirty="0"/>
          </a:p>
        </p:txBody>
      </p:sp>
      <p:sp>
        <p:nvSpPr>
          <p:cNvPr id="29" name="Shape 17"/>
          <p:cNvSpPr/>
          <p:nvPr/>
        </p:nvSpPr>
        <p:spPr>
          <a:xfrm>
            <a:off x="4929188" y="4127302"/>
            <a:ext cx="3429000" cy="564356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8"/>
          <p:cNvSpPr/>
          <p:nvPr/>
        </p:nvSpPr>
        <p:spPr>
          <a:xfrm>
            <a:off x="4929188" y="4127302"/>
            <a:ext cx="28575" cy="564356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9"/>
          <p:cNvSpPr/>
          <p:nvPr/>
        </p:nvSpPr>
        <p:spPr>
          <a:xfrm>
            <a:off x="4929188" y="4127302"/>
            <a:ext cx="3429000" cy="5643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i="1" dirty="0">
                <a:solidFill>
                  <a:srgbClr val="555555"/>
                </a:solidFill>
              </a:rPr>
              <a:t>"Like taking an open-book exam with the textbook in front of you."</a:t>
            </a:r>
            <a:endParaRPr lang="en-US" sz="942" dirty="0"/>
          </a:p>
        </p:txBody>
      </p:sp>
      <p:sp>
        <p:nvSpPr>
          <p:cNvPr id="32" name="Shape 20"/>
          <p:cNvSpPr/>
          <p:nvPr/>
        </p:nvSpPr>
        <p:spPr>
          <a:xfrm>
            <a:off x="2885349" y="4639866"/>
            <a:ext cx="3373301" cy="408980"/>
          </a:xfrm>
          <a:prstGeom prst="round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1"/>
          <p:cNvSpPr/>
          <p:nvPr/>
        </p:nvSpPr>
        <p:spPr>
          <a:xfrm>
            <a:off x="2885349" y="4639866"/>
            <a:ext cx="3373301" cy="408980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Output = Model(Parametric + Contextual)</a:t>
            </a:r>
            <a:endParaRPr lang="en-US" sz="987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779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Context as Working Memory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The "Context Window" acts as the model's short-term working memory. Any information placed here is immediately accessible for reasoning, without training.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742950" y="2048470"/>
            <a:ext cx="317313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In-Context Learning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42950" y="2353866"/>
            <a:ext cx="317313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We can "teach" the model new facts simply by pasting them into the prompt. The model reads and applies them instantly.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42950" y="3168253"/>
            <a:ext cx="317313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Grounding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42950" y="3473648"/>
            <a:ext cx="317313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By forcing the model to answer </a:t>
            </a:r>
            <a:r>
              <a:rPr lang="en-US" sz="1050" i="1" dirty="0">
                <a:solidFill>
                  <a:srgbClr val="555555"/>
                </a:solidFill>
              </a:rPr>
              <a:t>only</a:t>
            </a:r>
            <a:r>
              <a:rPr lang="en-US" sz="1050" dirty="0">
                <a:solidFill>
                  <a:srgbClr val="555555"/>
                </a:solidFill>
              </a:rPr>
              <a:t> using the provided context, we drastically reduce hallucinations.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42950" y="4288036"/>
            <a:ext cx="317313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Ephemeral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742950" y="4593431"/>
            <a:ext cx="317313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This knowledge is temporary. Once the chat session ends, the context is wiped clean.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44712" y="2048470"/>
            <a:ext cx="4227788" cy="3159323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451868" y="2155627"/>
            <a:ext cx="15213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CONTEXT WINDOW (32k Tokens)</a:t>
            </a:r>
            <a:endParaRPr lang="en-US" sz="727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563" y="2173486"/>
            <a:ext cx="112514" cy="10001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09077" y="2155627"/>
            <a:ext cx="3562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ACTIVE</a:t>
            </a:r>
            <a:endParaRPr lang="en-US" sz="727" dirty="0"/>
          </a:p>
        </p:txBody>
      </p:sp>
      <p:sp>
        <p:nvSpPr>
          <p:cNvPr id="16" name="Shape 11"/>
          <p:cNvSpPr/>
          <p:nvPr/>
        </p:nvSpPr>
        <p:spPr>
          <a:xfrm>
            <a:off x="4451868" y="2441377"/>
            <a:ext cx="4013476" cy="478631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451868" y="2441377"/>
            <a:ext cx="21431" cy="478631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523305" y="2512814"/>
            <a:ext cx="387060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9800"/>
                </a:solidFill>
              </a:rPr>
              <a:t>System Instruction</a:t>
            </a:r>
            <a:endParaRPr lang="en-US" sz="584" dirty="0"/>
          </a:p>
        </p:txBody>
      </p:sp>
      <p:sp>
        <p:nvSpPr>
          <p:cNvPr id="19" name="Text 14"/>
          <p:cNvSpPr/>
          <p:nvPr/>
        </p:nvSpPr>
        <p:spPr>
          <a:xfrm>
            <a:off x="4523305" y="2684264"/>
            <a:ext cx="36882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CCCCCC"/>
                </a:solidFill>
              </a:rPr>
              <a:t>You are a helpful assistant. Answer using ONLY the provided context.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4451868" y="2991445"/>
            <a:ext cx="4013476" cy="650081"/>
          </a:xfrm>
          <a:prstGeom prst="rect">
            <a:avLst/>
          </a:prstGeom>
          <a:solidFill>
            <a:srgbClr val="1A33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451868" y="2991445"/>
            <a:ext cx="21431" cy="650081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523305" y="3062883"/>
            <a:ext cx="387060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8CC63F"/>
                </a:solidFill>
              </a:rPr>
              <a:t>Injected Context (The "Knowledge")</a:t>
            </a:r>
            <a:endParaRPr lang="en-US" sz="584" dirty="0"/>
          </a:p>
        </p:txBody>
      </p:sp>
      <p:sp>
        <p:nvSpPr>
          <p:cNvPr id="23" name="Text 18"/>
          <p:cNvSpPr/>
          <p:nvPr/>
        </p:nvSpPr>
        <p:spPr>
          <a:xfrm>
            <a:off x="4523305" y="3234333"/>
            <a:ext cx="21459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5D6A7"/>
                </a:solidFill>
              </a:rPr>
              <a:t>[Doc 1]: The Q3 revenue for Aaseya was</a:t>
            </a:r>
            <a:endParaRPr lang="en-US" sz="834" dirty="0"/>
          </a:p>
        </p:txBody>
      </p:sp>
      <p:sp>
        <p:nvSpPr>
          <p:cNvPr id="24" name="Shape 19"/>
          <p:cNvSpPr/>
          <p:nvPr/>
        </p:nvSpPr>
        <p:spPr>
          <a:xfrm>
            <a:off x="6669305" y="3234333"/>
            <a:ext cx="459042" cy="155377"/>
          </a:xfrm>
          <a:prstGeom prst="rect">
            <a:avLst/>
          </a:prstGeom>
          <a:solidFill>
            <a:srgbClr val="8CC63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669305" y="3234333"/>
            <a:ext cx="459042" cy="155377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$12.5M</a:t>
            </a:r>
            <a:endParaRPr lang="en-US" sz="784" dirty="0"/>
          </a:p>
        </p:txBody>
      </p:sp>
      <p:sp>
        <p:nvSpPr>
          <p:cNvPr id="26" name="Text 21"/>
          <p:cNvSpPr/>
          <p:nvPr/>
        </p:nvSpPr>
        <p:spPr>
          <a:xfrm>
            <a:off x="7128346" y="3234333"/>
            <a:ext cx="11036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5D6A7"/>
                </a:solidFill>
              </a:rPr>
              <a:t>, a 20% increase YoY.</a:t>
            </a:r>
            <a:endParaRPr lang="en-US" sz="834" dirty="0"/>
          </a:p>
        </p:txBody>
      </p:sp>
      <p:sp>
        <p:nvSpPr>
          <p:cNvPr id="27" name="Text 22"/>
          <p:cNvSpPr/>
          <p:nvPr/>
        </p:nvSpPr>
        <p:spPr>
          <a:xfrm>
            <a:off x="4523305" y="3405783"/>
            <a:ext cx="12876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5D6A7"/>
                </a:solidFill>
              </a:rPr>
              <a:t>[Doc 2]: The new CEO is</a:t>
            </a:r>
            <a:endParaRPr lang="en-US" sz="834" dirty="0"/>
          </a:p>
        </p:txBody>
      </p:sp>
      <p:sp>
        <p:nvSpPr>
          <p:cNvPr id="28" name="Shape 23"/>
          <p:cNvSpPr/>
          <p:nvPr/>
        </p:nvSpPr>
        <p:spPr>
          <a:xfrm>
            <a:off x="5810910" y="3405783"/>
            <a:ext cx="559277" cy="155377"/>
          </a:xfrm>
          <a:prstGeom prst="rect">
            <a:avLst/>
          </a:prstGeom>
          <a:solidFill>
            <a:srgbClr val="8CC63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810910" y="3405783"/>
            <a:ext cx="559277" cy="155377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Jane Doe</a:t>
            </a:r>
            <a:endParaRPr lang="en-US" sz="784" dirty="0"/>
          </a:p>
        </p:txBody>
      </p:sp>
      <p:sp>
        <p:nvSpPr>
          <p:cNvPr id="30" name="Text 25"/>
          <p:cNvSpPr/>
          <p:nvPr/>
        </p:nvSpPr>
        <p:spPr>
          <a:xfrm>
            <a:off x="6370188" y="3405783"/>
            <a:ext cx="306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A5D6A7"/>
                </a:solidFill>
              </a:rPr>
              <a:t>.</a:t>
            </a:r>
            <a:endParaRPr lang="en-US" sz="834" dirty="0"/>
          </a:p>
        </p:txBody>
      </p:sp>
      <p:sp>
        <p:nvSpPr>
          <p:cNvPr id="31" name="Shape 26"/>
          <p:cNvSpPr/>
          <p:nvPr/>
        </p:nvSpPr>
        <p:spPr>
          <a:xfrm>
            <a:off x="4451868" y="3712964"/>
            <a:ext cx="4013476" cy="478631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451868" y="3712964"/>
            <a:ext cx="21431" cy="478631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4523305" y="3784402"/>
            <a:ext cx="387060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2A5F5"/>
                </a:solidFill>
              </a:rPr>
              <a:t>User Question</a:t>
            </a:r>
            <a:endParaRPr lang="en-US" sz="584" dirty="0"/>
          </a:p>
        </p:txBody>
      </p:sp>
      <p:sp>
        <p:nvSpPr>
          <p:cNvPr id="34" name="Text 29"/>
          <p:cNvSpPr/>
          <p:nvPr/>
        </p:nvSpPr>
        <p:spPr>
          <a:xfrm>
            <a:off x="4523305" y="3955852"/>
            <a:ext cx="23104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BBDEFB"/>
                </a:solidFill>
              </a:rPr>
              <a:t>Who is the CEO and what was the revenue?</a:t>
            </a:r>
            <a:endParaRPr lang="en-US" sz="834" dirty="0"/>
          </a:p>
        </p:txBody>
      </p:sp>
      <p:sp>
        <p:nvSpPr>
          <p:cNvPr id="35" name="Shape 30"/>
          <p:cNvSpPr/>
          <p:nvPr/>
        </p:nvSpPr>
        <p:spPr>
          <a:xfrm>
            <a:off x="4451868" y="4263033"/>
            <a:ext cx="4013476" cy="478631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4451868" y="4263033"/>
            <a:ext cx="21431" cy="4786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4523305" y="4334470"/>
            <a:ext cx="387060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Model Output</a:t>
            </a:r>
            <a:endParaRPr lang="en-US" sz="584" dirty="0"/>
          </a:p>
        </p:txBody>
      </p:sp>
      <p:sp>
        <p:nvSpPr>
          <p:cNvPr id="38" name="Text 33"/>
          <p:cNvSpPr/>
          <p:nvPr/>
        </p:nvSpPr>
        <p:spPr>
          <a:xfrm>
            <a:off x="4523305" y="4505920"/>
            <a:ext cx="28592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The CEO is Jane Doe and the Q3 revenue was $12.5M.</a:t>
            </a:r>
            <a:endParaRPr lang="en-US" sz="834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888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Retrieval-Augmented Generation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RAG is the industry standard for fixing hallucinations. Instead of relying on the model's internal memory, we provide it with the correct information in the prompt.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119908"/>
            <a:ext cx="8001000" cy="2208814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1214438" y="2405658"/>
            <a:ext cx="714375" cy="714375"/>
          </a:xfrm>
          <a:prstGeom prst="ellipse">
            <a:avLst/>
          </a:prstGeom>
          <a:solidFill>
            <a:srgbClr val="FFFFFF"/>
          </a:solidFill>
          <a:ln w="27432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" y="2619970"/>
            <a:ext cx="285750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11048" y="3262908"/>
            <a:ext cx="92115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1. Retrieve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857250" y="3548658"/>
            <a:ext cx="1428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Search external database for documents relevant to the user's query.</a:t>
            </a:r>
            <a:endParaRPr lang="en-US" sz="834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8051" y="3110015"/>
            <a:ext cx="187523" cy="214313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214813" y="2262783"/>
            <a:ext cx="714375" cy="303609"/>
          </a:xfrm>
          <a:prstGeom prst="round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4214813" y="2262783"/>
            <a:ext cx="714375" cy="30360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Crucial Step</a:t>
            </a:r>
            <a:endParaRPr lang="en-US" sz="584" dirty="0"/>
          </a:p>
        </p:txBody>
      </p:sp>
      <p:sp>
        <p:nvSpPr>
          <p:cNvPr id="14" name="Shape 8"/>
          <p:cNvSpPr/>
          <p:nvPr/>
        </p:nvSpPr>
        <p:spPr>
          <a:xfrm>
            <a:off x="4214813" y="2405658"/>
            <a:ext cx="714375" cy="714375"/>
          </a:xfrm>
          <a:prstGeom prst="ellipse">
            <a:avLst/>
          </a:prstGeom>
          <a:solidFill>
            <a:srgbClr val="FFFFFF"/>
          </a:solidFill>
          <a:ln w="27432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25" y="2619970"/>
            <a:ext cx="285750" cy="285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077016" y="3262908"/>
            <a:ext cx="9899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2. Augment</a:t>
            </a:r>
            <a:endParaRPr lang="en-US" sz="1090" dirty="0"/>
          </a:p>
        </p:txBody>
      </p:sp>
      <p:sp>
        <p:nvSpPr>
          <p:cNvPr id="17" name="Text 10"/>
          <p:cNvSpPr/>
          <p:nvPr/>
        </p:nvSpPr>
        <p:spPr>
          <a:xfrm>
            <a:off x="3857625" y="3548658"/>
            <a:ext cx="1428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Paste the retrieved documents into the prompt context window.</a:t>
            </a:r>
            <a:endParaRPr lang="en-US" sz="834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8426" y="3110015"/>
            <a:ext cx="187523" cy="214313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215188" y="2405658"/>
            <a:ext cx="714375" cy="714375"/>
          </a:xfrm>
          <a:prstGeom prst="ellipse">
            <a:avLst/>
          </a:prstGeom>
          <a:solidFill>
            <a:srgbClr val="FFFFFF"/>
          </a:solidFill>
          <a:ln w="27432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3781" y="2619970"/>
            <a:ext cx="357188" cy="2857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78870" y="3262908"/>
            <a:ext cx="9869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3333"/>
                </a:solidFill>
              </a:rPr>
              <a:t>3. Generate</a:t>
            </a:r>
            <a:endParaRPr lang="en-US" sz="1090" dirty="0"/>
          </a:p>
        </p:txBody>
      </p:sp>
      <p:sp>
        <p:nvSpPr>
          <p:cNvPr id="22" name="Text 13"/>
          <p:cNvSpPr/>
          <p:nvPr/>
        </p:nvSpPr>
        <p:spPr>
          <a:xfrm>
            <a:off x="6858000" y="3548658"/>
            <a:ext cx="1428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Model answers the question using </a:t>
            </a:r>
            <a:r>
              <a:rPr lang="en-US" sz="784" b="1" dirty="0">
                <a:solidFill>
                  <a:srgbClr val="555555"/>
                </a:solidFill>
              </a:rPr>
              <a:t>only</a:t>
            </a:r>
            <a:r>
              <a:rPr lang="en-US" sz="834" dirty="0">
                <a:solidFill>
                  <a:srgbClr val="555555"/>
                </a:solidFill>
              </a:rPr>
              <a:t> the provided context.</a:t>
            </a:r>
            <a:endParaRPr lang="en-US" sz="834" dirty="0"/>
          </a:p>
        </p:txBody>
      </p:sp>
      <p:sp>
        <p:nvSpPr>
          <p:cNvPr id="23" name="Shape 14"/>
          <p:cNvSpPr/>
          <p:nvPr/>
        </p:nvSpPr>
        <p:spPr>
          <a:xfrm>
            <a:off x="571500" y="4600184"/>
            <a:ext cx="3893344" cy="645784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5"/>
          <p:cNvSpPr/>
          <p:nvPr/>
        </p:nvSpPr>
        <p:spPr>
          <a:xfrm>
            <a:off x="571500" y="4600184"/>
            <a:ext cx="42863" cy="645784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815920"/>
            <a:ext cx="214313" cy="21431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71563" y="4743059"/>
            <a:ext cx="32289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Without RAG:</a:t>
            </a:r>
            <a:r>
              <a:rPr lang="en-US" sz="942" dirty="0">
                <a:solidFill>
                  <a:srgbClr val="333333"/>
                </a:solidFill>
              </a:rPr>
              <a:t> "I think the Q3 revenue was maybe $10M..." (Hallucination risk)</a:t>
            </a:r>
            <a:endParaRPr lang="en-US" sz="885" dirty="0"/>
          </a:p>
        </p:txBody>
      </p:sp>
      <p:sp>
        <p:nvSpPr>
          <p:cNvPr id="27" name="Shape 17"/>
          <p:cNvSpPr/>
          <p:nvPr/>
        </p:nvSpPr>
        <p:spPr>
          <a:xfrm>
            <a:off x="4657725" y="4600184"/>
            <a:ext cx="3914775" cy="645784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8"/>
          <p:cNvSpPr/>
          <p:nvPr/>
        </p:nvSpPr>
        <p:spPr>
          <a:xfrm>
            <a:off x="4657725" y="4600184"/>
            <a:ext cx="42863" cy="64578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2031" y="4815920"/>
            <a:ext cx="214313" cy="214313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79219" y="4743059"/>
            <a:ext cx="32504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With RAG:</a:t>
            </a:r>
            <a:r>
              <a:rPr lang="en-US" sz="942" dirty="0">
                <a:solidFill>
                  <a:srgbClr val="333333"/>
                </a:solidFill>
              </a:rPr>
              <a:t> "According to the Q3 report (Page 12), revenue was $12.5M." (Grounded)</a:t>
            </a:r>
            <a:endParaRPr lang="en-US" sz="88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RAG System Architecture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Retrieval-Augmented Generation (RAG) bridges the gap between the model's frozen weights and your dynamic data.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2811763" y="1834158"/>
            <a:ext cx="1194290" cy="207169"/>
          </a:xfrm>
          <a:prstGeom prst="round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2811763" y="1834158"/>
            <a:ext cx="1194290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FFFF"/>
                </a:solidFill>
              </a:rPr>
              <a:t>Retrieval Phase</a:t>
            </a:r>
            <a:endParaRPr lang="en-US" sz="683" dirty="0"/>
          </a:p>
        </p:txBody>
      </p:sp>
      <p:sp>
        <p:nvSpPr>
          <p:cNvPr id="8" name="Shape 4"/>
          <p:cNvSpPr/>
          <p:nvPr/>
        </p:nvSpPr>
        <p:spPr>
          <a:xfrm>
            <a:off x="6046794" y="1834158"/>
            <a:ext cx="1325556" cy="207169"/>
          </a:xfrm>
          <a:prstGeom prst="round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46794" y="1834158"/>
            <a:ext cx="1325556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FFFF"/>
                </a:solidFill>
              </a:rPr>
              <a:t>Generation Phase</a:t>
            </a:r>
            <a:endParaRPr lang="en-US" sz="683" dirty="0"/>
          </a:p>
        </p:txBody>
      </p:sp>
      <p:sp>
        <p:nvSpPr>
          <p:cNvPr id="10" name="Shape 6"/>
          <p:cNvSpPr/>
          <p:nvPr/>
        </p:nvSpPr>
        <p:spPr>
          <a:xfrm>
            <a:off x="857250" y="2119908"/>
            <a:ext cx="714375" cy="714375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422" y="2334220"/>
            <a:ext cx="250031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6949" y="2977158"/>
            <a:ext cx="89497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User Query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571500" y="3243263"/>
            <a:ext cx="1285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"What is our Q3 revenue?"</a:t>
            </a:r>
            <a:endParaRPr lang="en-US" sz="834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0617" y="2369939"/>
            <a:ext cx="133945" cy="214313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536031" y="2119908"/>
            <a:ext cx="714375" cy="714375"/>
          </a:xfrm>
          <a:prstGeom prst="ellipse">
            <a:avLst/>
          </a:prstGeom>
          <a:solidFill>
            <a:srgbClr val="FFFFFF"/>
          </a:solidFill>
          <a:ln w="27432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0344" y="2334220"/>
            <a:ext cx="285750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555593" y="2977158"/>
            <a:ext cx="67525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Retrieve</a:t>
            </a:r>
            <a:endParaRPr lang="en-US" sz="987" dirty="0"/>
          </a:p>
        </p:txBody>
      </p:sp>
      <p:sp>
        <p:nvSpPr>
          <p:cNvPr id="18" name="Text 11"/>
          <p:cNvSpPr/>
          <p:nvPr/>
        </p:nvSpPr>
        <p:spPr>
          <a:xfrm>
            <a:off x="2250281" y="3243263"/>
            <a:ext cx="1285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Search Vector DB for similar chunks.</a:t>
            </a:r>
            <a:endParaRPr lang="en-US" sz="834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398" y="2369939"/>
            <a:ext cx="133945" cy="214313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8209" y="2977158"/>
            <a:ext cx="150019" cy="17145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214813" y="2119908"/>
            <a:ext cx="714375" cy="714375"/>
          </a:xfrm>
          <a:prstGeom prst="ellipse">
            <a:avLst/>
          </a:prstGeom>
          <a:solidFill>
            <a:srgbClr val="FFFFFF"/>
          </a:solidFill>
          <a:ln w="27432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9125" y="2334220"/>
            <a:ext cx="285750" cy="28575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275534" y="2977158"/>
            <a:ext cx="5929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Rerank</a:t>
            </a:r>
            <a:endParaRPr lang="en-US" sz="987" dirty="0"/>
          </a:p>
        </p:txBody>
      </p:sp>
      <p:sp>
        <p:nvSpPr>
          <p:cNvPr id="24" name="Text 14"/>
          <p:cNvSpPr/>
          <p:nvPr/>
        </p:nvSpPr>
        <p:spPr>
          <a:xfrm>
            <a:off x="3929063" y="3243263"/>
            <a:ext cx="1285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Filter &amp; sort for highest relevance.</a:t>
            </a:r>
            <a:endParaRPr lang="en-US" sz="834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8180" y="2369939"/>
            <a:ext cx="133945" cy="214313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5893594" y="2119908"/>
            <a:ext cx="714375" cy="714375"/>
          </a:xfrm>
          <a:prstGeom prst="ellipse">
            <a:avLst/>
          </a:prstGeom>
          <a:solidFill>
            <a:srgbClr val="FFFFFF"/>
          </a:solidFill>
          <a:ln w="27432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25" y="2334220"/>
            <a:ext cx="214313" cy="28575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881874" y="2977158"/>
            <a:ext cx="7378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Augment</a:t>
            </a:r>
            <a:endParaRPr lang="en-US" sz="987" dirty="0"/>
          </a:p>
        </p:txBody>
      </p:sp>
      <p:sp>
        <p:nvSpPr>
          <p:cNvPr id="29" name="Text 17"/>
          <p:cNvSpPr/>
          <p:nvPr/>
        </p:nvSpPr>
        <p:spPr>
          <a:xfrm>
            <a:off x="5607844" y="3243263"/>
            <a:ext cx="1285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Inject context into the prompt.</a:t>
            </a:r>
            <a:endParaRPr lang="en-US" sz="834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6961" y="2369939"/>
            <a:ext cx="133945" cy="214313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7572375" y="2119908"/>
            <a:ext cx="714375" cy="714375"/>
          </a:xfrm>
          <a:prstGeom prst="ellipse">
            <a:avLst/>
          </a:prstGeom>
          <a:solidFill>
            <a:srgbClr val="8CC63F"/>
          </a:solidFill>
          <a:ln w="27432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0969" y="2334220"/>
            <a:ext cx="357188" cy="28575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7561994" y="2977158"/>
            <a:ext cx="7351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Generate</a:t>
            </a:r>
            <a:endParaRPr lang="en-US" sz="987" dirty="0"/>
          </a:p>
        </p:txBody>
      </p:sp>
      <p:sp>
        <p:nvSpPr>
          <p:cNvPr id="34" name="Text 20"/>
          <p:cNvSpPr/>
          <p:nvPr/>
        </p:nvSpPr>
        <p:spPr>
          <a:xfrm>
            <a:off x="7286625" y="3243263"/>
            <a:ext cx="1285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Answer based ONLY on provided context.</a:t>
            </a:r>
            <a:endParaRPr lang="en-US" sz="834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Tool Use and Function Calling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LLMs are isolated "brains in a jar". To interact with the real world, we give them </a:t>
            </a:r>
            <a:r>
              <a:rPr lang="en-US" sz="1193" b="1" dirty="0">
                <a:solidFill>
                  <a:srgbClr val="555555"/>
                </a:solidFill>
              </a:rPr>
              <a:t>tools</a:t>
            </a:r>
            <a:r>
              <a:rPr lang="en-US" sz="1269" dirty="0">
                <a:solidFill>
                  <a:srgbClr val="555555"/>
                </a:solidFill>
              </a:rPr>
              <a:t> (functions) that they can decide to call when needed.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048470"/>
            <a:ext cx="1571625" cy="1198364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297" y="2205633"/>
            <a:ext cx="250031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4556" y="2598539"/>
            <a:ext cx="8054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User Query</a:t>
            </a:r>
            <a:endParaRPr lang="en-US" sz="885" dirty="0"/>
          </a:p>
        </p:txBody>
      </p:sp>
      <p:sp>
        <p:nvSpPr>
          <p:cNvPr id="9" name="Shape 4"/>
          <p:cNvSpPr/>
          <p:nvPr/>
        </p:nvSpPr>
        <p:spPr>
          <a:xfrm>
            <a:off x="714375" y="2844998"/>
            <a:ext cx="1285875" cy="244673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714375" y="2844998"/>
            <a:ext cx="1285875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"What is 123 * 456?"</a:t>
            </a:r>
            <a:endParaRPr lang="en-US" sz="621" dirty="0"/>
          </a:p>
        </p:txBody>
      </p:sp>
      <p:sp>
        <p:nvSpPr>
          <p:cNvPr id="11" name="Shape 6"/>
          <p:cNvSpPr/>
          <p:nvPr/>
        </p:nvSpPr>
        <p:spPr>
          <a:xfrm>
            <a:off x="2214563" y="2490490"/>
            <a:ext cx="428625" cy="2857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2714625" y="2048470"/>
            <a:ext cx="1571625" cy="1198364"/>
          </a:xfrm>
          <a:prstGeom prst="rect">
            <a:avLst/>
          </a:prstGeom>
          <a:solidFill>
            <a:srgbClr val="E3F2FD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7563" y="2205633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023955" y="2598539"/>
            <a:ext cx="95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LLM Decision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2857500" y="2844998"/>
            <a:ext cx="1285875" cy="244673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2857500" y="2844998"/>
            <a:ext cx="1285875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call_tool("calc", "123*456")</a:t>
            </a:r>
            <a:endParaRPr lang="en-US" sz="621" dirty="0"/>
          </a:p>
        </p:txBody>
      </p:sp>
      <p:sp>
        <p:nvSpPr>
          <p:cNvPr id="17" name="Shape 11"/>
          <p:cNvSpPr/>
          <p:nvPr/>
        </p:nvSpPr>
        <p:spPr>
          <a:xfrm>
            <a:off x="4357688" y="2490490"/>
            <a:ext cx="428625" cy="2857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857750" y="2048470"/>
            <a:ext cx="1571625" cy="1198364"/>
          </a:xfrm>
          <a:prstGeom prst="rect">
            <a:avLst/>
          </a:prstGeom>
          <a:solidFill>
            <a:srgbClr val="F1F8E9"/>
          </a:solidFill>
          <a:ln w="18288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4969" y="2205633"/>
            <a:ext cx="357188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5663" y="2598539"/>
            <a:ext cx="8557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System Exec</a:t>
            </a:r>
            <a:endParaRPr lang="en-US" sz="885" dirty="0"/>
          </a:p>
        </p:txBody>
      </p:sp>
      <p:sp>
        <p:nvSpPr>
          <p:cNvPr id="21" name="Shape 14"/>
          <p:cNvSpPr/>
          <p:nvPr/>
        </p:nvSpPr>
        <p:spPr>
          <a:xfrm>
            <a:off x="5000625" y="2844998"/>
            <a:ext cx="1285875" cy="244673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5000625" y="2844998"/>
            <a:ext cx="1285875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Result: 56088</a:t>
            </a:r>
            <a:endParaRPr lang="en-US" sz="621" dirty="0"/>
          </a:p>
        </p:txBody>
      </p:sp>
      <p:sp>
        <p:nvSpPr>
          <p:cNvPr id="23" name="Shape 16"/>
          <p:cNvSpPr/>
          <p:nvPr/>
        </p:nvSpPr>
        <p:spPr>
          <a:xfrm>
            <a:off x="6500813" y="2490490"/>
            <a:ext cx="428625" cy="2857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7000875" y="2048470"/>
            <a:ext cx="1571625" cy="1198364"/>
          </a:xfrm>
          <a:prstGeom prst="rect">
            <a:avLst/>
          </a:prstGeom>
          <a:solidFill>
            <a:srgbClr val="E3F2FD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3813" y="2191345"/>
            <a:ext cx="285750" cy="2857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86262" y="2584252"/>
            <a:ext cx="10008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Final Answer</a:t>
            </a:r>
            <a:endParaRPr lang="en-US" sz="885" dirty="0"/>
          </a:p>
        </p:txBody>
      </p:sp>
      <p:sp>
        <p:nvSpPr>
          <p:cNvPr id="27" name="Shape 19"/>
          <p:cNvSpPr/>
          <p:nvPr/>
        </p:nvSpPr>
        <p:spPr>
          <a:xfrm>
            <a:off x="7143750" y="2830711"/>
            <a:ext cx="1285875" cy="244673"/>
          </a:xfrm>
          <a:prstGeom prst="rect">
            <a:avLst/>
          </a:prstGeom>
          <a:solidFill>
            <a:srgbClr val="FFFFFF">
              <a:alpha val="70000"/>
            </a:srgbClr>
          </a:solidFill>
          <a:ln w="9144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7143750" y="2830711"/>
            <a:ext cx="1285875" cy="2446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"The answer is 56,088."</a:t>
            </a:r>
            <a:endParaRPr lang="en-US" sz="621" dirty="0"/>
          </a:p>
        </p:txBody>
      </p:sp>
      <p:sp>
        <p:nvSpPr>
          <p:cNvPr id="29" name="Shape 21"/>
          <p:cNvSpPr/>
          <p:nvPr/>
        </p:nvSpPr>
        <p:spPr>
          <a:xfrm>
            <a:off x="3707285" y="3432572"/>
            <a:ext cx="1729429" cy="2071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3707285" y="3432572"/>
            <a:ext cx="1729429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77777"/>
                </a:solidFill>
              </a:rPr>
              <a:t>Result fed back to context</a:t>
            </a:r>
            <a:endParaRPr lang="en-US" sz="683" dirty="0"/>
          </a:p>
        </p:txBody>
      </p:sp>
      <p:sp>
        <p:nvSpPr>
          <p:cNvPr id="31" name="Shape 23"/>
          <p:cNvSpPr/>
          <p:nvPr/>
        </p:nvSpPr>
        <p:spPr>
          <a:xfrm>
            <a:off x="571500" y="3561159"/>
            <a:ext cx="1893094" cy="38933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571500" y="3561159"/>
            <a:ext cx="28575" cy="389334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656" y="3670102"/>
            <a:ext cx="128588" cy="17145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14400" y="3668316"/>
            <a:ext cx="66004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Calculator</a:t>
            </a:r>
            <a:endParaRPr lang="en-US" sz="885" dirty="0"/>
          </a:p>
        </p:txBody>
      </p:sp>
      <p:sp>
        <p:nvSpPr>
          <p:cNvPr id="35" name="Shape 26"/>
          <p:cNvSpPr/>
          <p:nvPr/>
        </p:nvSpPr>
        <p:spPr>
          <a:xfrm>
            <a:off x="2607469" y="3561159"/>
            <a:ext cx="1893094" cy="38933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7"/>
          <p:cNvSpPr/>
          <p:nvPr/>
        </p:nvSpPr>
        <p:spPr>
          <a:xfrm>
            <a:off x="2607469" y="3561159"/>
            <a:ext cx="28575" cy="389334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4625" y="3670102"/>
            <a:ext cx="171450" cy="17145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2993231" y="3668316"/>
            <a:ext cx="7435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Web Search</a:t>
            </a:r>
            <a:endParaRPr lang="en-US" sz="885" dirty="0"/>
          </a:p>
        </p:txBody>
      </p:sp>
      <p:sp>
        <p:nvSpPr>
          <p:cNvPr id="39" name="Shape 29"/>
          <p:cNvSpPr/>
          <p:nvPr/>
        </p:nvSpPr>
        <p:spPr>
          <a:xfrm>
            <a:off x="4643438" y="3561159"/>
            <a:ext cx="1893094" cy="38933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4643438" y="3561159"/>
            <a:ext cx="28575" cy="389334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0594" y="3670102"/>
            <a:ext cx="150019" cy="17145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007769" y="3668316"/>
            <a:ext cx="6052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Database</a:t>
            </a:r>
            <a:endParaRPr lang="en-US" sz="885" dirty="0"/>
          </a:p>
        </p:txBody>
      </p:sp>
      <p:sp>
        <p:nvSpPr>
          <p:cNvPr id="43" name="Shape 32"/>
          <p:cNvSpPr/>
          <p:nvPr/>
        </p:nvSpPr>
        <p:spPr>
          <a:xfrm>
            <a:off x="6679406" y="3561159"/>
            <a:ext cx="1893094" cy="38933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3"/>
          <p:cNvSpPr/>
          <p:nvPr/>
        </p:nvSpPr>
        <p:spPr>
          <a:xfrm>
            <a:off x="6679406" y="3561159"/>
            <a:ext cx="28575" cy="389334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6563" y="3670102"/>
            <a:ext cx="192881" cy="17145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7086600" y="3668316"/>
            <a:ext cx="6381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Code Exec</a:t>
            </a:r>
            <a:endParaRPr lang="en-US" sz="88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Knowledge of Self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151930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LLMs have no inherent self-awareness. Their "identity" is simply text provided in the context window, often hidden from the user.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1834158"/>
            <a:ext cx="2309803" cy="2000250"/>
          </a:xfrm>
          <a:prstGeom prst="rect">
            <a:avLst/>
          </a:prstGeom>
          <a:solidFill>
            <a:srgbClr val="222222"/>
          </a:solidFill>
          <a:ln w="9144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2035969"/>
            <a:ext cx="144661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6192" y="2012752"/>
            <a:ext cx="10675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System Prompt</a:t>
            </a:r>
            <a:endParaRPr lang="en-US" sz="885" dirty="0"/>
          </a:p>
        </p:txBody>
      </p:sp>
      <p:sp>
        <p:nvSpPr>
          <p:cNvPr id="9" name="Text 4"/>
          <p:cNvSpPr/>
          <p:nvPr/>
        </p:nvSpPr>
        <p:spPr>
          <a:xfrm>
            <a:off x="750094" y="2294930"/>
            <a:ext cx="1952616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8CC63F"/>
                </a:solidFill>
              </a:rPr>
              <a:t>&lt;|system|&gt;
 You are a helpful AI assistant created by </a:t>
            </a:r>
            <a:r>
              <a:rPr lang="en-US" sz="942" dirty="0">
                <a:solidFill>
                  <a:srgbClr val="FFFFFF"/>
                </a:solidFill>
              </a:rPr>
              <a:t>Company X</a:t>
            </a:r>
            <a:r>
              <a:rPr lang="en-US" sz="942" dirty="0">
                <a:solidFill>
                  <a:srgbClr val="8CC63F"/>
                </a:solidFill>
              </a:rPr>
              <a:t>.
 Your knowledge cutoff is </a:t>
            </a:r>
            <a:r>
              <a:rPr lang="en-US" sz="942" dirty="0">
                <a:solidFill>
                  <a:srgbClr val="FFFFFF"/>
                </a:solidFill>
              </a:rPr>
              <a:t>Dec 2023</a:t>
            </a:r>
            <a:r>
              <a:rPr lang="en-US" sz="942" dirty="0">
                <a:solidFill>
                  <a:srgbClr val="8CC63F"/>
                </a:solidFill>
              </a:rPr>
              <a:t>.
 You are polite and concise.</a:t>
            </a:r>
            <a:endParaRPr lang="en-US" sz="942" dirty="0"/>
          </a:p>
        </p:txBody>
      </p:sp>
      <p:sp>
        <p:nvSpPr>
          <p:cNvPr id="10" name="Text 5"/>
          <p:cNvSpPr/>
          <p:nvPr/>
        </p:nvSpPr>
        <p:spPr>
          <a:xfrm>
            <a:off x="1441893" y="3941564"/>
            <a:ext cx="5689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The Script</a:t>
            </a:r>
            <a:endParaRPr lang="en-US" sz="784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4178" y="2822674"/>
            <a:ext cx="250031" cy="2857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417084" y="1834158"/>
            <a:ext cx="2309803" cy="2000250"/>
          </a:xfrm>
          <a:prstGeom prst="rect">
            <a:avLst/>
          </a:prstGeom>
          <a:solidFill>
            <a:srgbClr val="F5F5F5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126" y="2166342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01151" y="2143125"/>
            <a:ext cx="7416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555555"/>
                </a:solidFill>
              </a:rPr>
              <a:t>The Model</a:t>
            </a:r>
            <a:endParaRPr lang="en-US" sz="885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1941" y="2425303"/>
            <a:ext cx="500063" cy="5715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865327" y="3139678"/>
            <a:ext cx="141331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777777"/>
                </a:solidFill>
              </a:rPr>
              <a:t>Processing...
 (Following Instructions)</a:t>
            </a:r>
            <a:endParaRPr lang="en-US" sz="942" dirty="0"/>
          </a:p>
        </p:txBody>
      </p:sp>
      <p:sp>
        <p:nvSpPr>
          <p:cNvPr id="17" name="Text 9"/>
          <p:cNvSpPr/>
          <p:nvPr/>
        </p:nvSpPr>
        <p:spPr>
          <a:xfrm>
            <a:off x="4297775" y="3941564"/>
            <a:ext cx="5484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The Actor</a:t>
            </a:r>
            <a:endParaRPr lang="en-US" sz="784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9763" y="2822674"/>
            <a:ext cx="250031" cy="28575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6262669" y="1834158"/>
            <a:ext cx="2309803" cy="2000250"/>
          </a:xfrm>
          <a:prstGeom prst="rect">
            <a:avLst/>
          </a:prstGeom>
          <a:solidFill>
            <a:srgbClr val="E3F2FD"/>
          </a:solidFill>
          <a:ln w="9144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1263" y="2035969"/>
            <a:ext cx="128588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641288" y="2012752"/>
            <a:ext cx="7950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</a:rPr>
              <a:t>User Query</a:t>
            </a:r>
            <a:endParaRPr lang="en-US" sz="885" dirty="0"/>
          </a:p>
        </p:txBody>
      </p:sp>
      <p:sp>
        <p:nvSpPr>
          <p:cNvPr id="22" name="Text 12"/>
          <p:cNvSpPr/>
          <p:nvPr/>
        </p:nvSpPr>
        <p:spPr>
          <a:xfrm>
            <a:off x="6441263" y="2294930"/>
            <a:ext cx="195261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565C0"/>
                </a:solidFill>
              </a:rPr>
              <a:t>User:</a:t>
            </a:r>
            <a:r>
              <a:rPr lang="en-US" sz="942" dirty="0">
                <a:solidFill>
                  <a:srgbClr val="1565C0"/>
                </a:solidFill>
              </a:rPr>
              <a:t> "Who are you?"
</a:t>
            </a:r>
            <a:r>
              <a:rPr lang="en-US" sz="885" b="1" dirty="0">
                <a:solidFill>
                  <a:srgbClr val="1565C0"/>
                </a:solidFill>
              </a:rPr>
              <a:t>AI:</a:t>
            </a:r>
            <a:r>
              <a:rPr lang="en-US" sz="942" dirty="0">
                <a:solidFill>
                  <a:srgbClr val="1565C0"/>
                </a:solidFill>
              </a:rPr>
              <a:t> "I am a helpful AI assistant created by Company X."</a:t>
            </a:r>
            <a:endParaRPr lang="en-US" sz="885" dirty="0"/>
          </a:p>
        </p:txBody>
      </p:sp>
      <p:sp>
        <p:nvSpPr>
          <p:cNvPr id="23" name="Text 13"/>
          <p:cNvSpPr/>
          <p:nvPr/>
        </p:nvSpPr>
        <p:spPr>
          <a:xfrm>
            <a:off x="6927903" y="3941564"/>
            <a:ext cx="9793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The Performance</a:t>
            </a:r>
            <a:endParaRPr lang="en-US" sz="784" dirty="0"/>
          </a:p>
        </p:txBody>
      </p:sp>
      <p:sp>
        <p:nvSpPr>
          <p:cNvPr id="24" name="Shape 14"/>
          <p:cNvSpPr/>
          <p:nvPr/>
        </p:nvSpPr>
        <p:spPr>
          <a:xfrm>
            <a:off x="571500" y="4239816"/>
            <a:ext cx="8001000" cy="675084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5"/>
          <p:cNvSpPr/>
          <p:nvPr/>
        </p:nvSpPr>
        <p:spPr>
          <a:xfrm>
            <a:off x="571500" y="4239816"/>
            <a:ext cx="42863" cy="675084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4470202"/>
            <a:ext cx="214313" cy="214313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071563" y="4382691"/>
            <a:ext cx="73580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The Mirror Test:</a:t>
            </a:r>
            <a:r>
              <a:rPr lang="en-US" sz="1050" dirty="0">
                <a:solidFill>
                  <a:srgbClr val="333333"/>
                </a:solidFill>
              </a:rPr>
              <a:t> If you don't tell the model who it is in the system prompt, it might hallucinate an identity (e.g., claiming to be a human or a different AI) based on its training data.</a:t>
            </a:r>
            <a:endParaRPr lang="en-US" sz="987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459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Knowing What You Don't Know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One of the hardest problems in AI is </a:t>
            </a:r>
            <a:r>
              <a:rPr lang="en-US" sz="1193" b="1" dirty="0">
                <a:solidFill>
                  <a:srgbClr val="555555"/>
                </a:solidFill>
              </a:rPr>
              <a:t>uncertainty quantification</a:t>
            </a:r>
            <a:r>
              <a:rPr lang="en-US" sz="1269" dirty="0">
                <a:solidFill>
                  <a:srgbClr val="555555"/>
                </a:solidFill>
              </a:rPr>
              <a:t>. Models are often "confidently wrong" and struggle to admit ignorance.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742950" y="1851124"/>
            <a:ext cx="34004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The Confidence Trap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742950" y="2120801"/>
            <a:ext cx="34004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LLMs are trained to predict the most </a:t>
            </a:r>
            <a:r>
              <a:rPr lang="en-US" sz="1050" i="1" dirty="0">
                <a:solidFill>
                  <a:srgbClr val="555555"/>
                </a:solidFill>
              </a:rPr>
              <a:t>likely</a:t>
            </a:r>
            <a:r>
              <a:rPr lang="en-US" sz="1050" dirty="0">
                <a:solidFill>
                  <a:srgbClr val="555555"/>
                </a:solidFill>
              </a:rPr>
              <a:t> next token, not the most </a:t>
            </a:r>
            <a:r>
              <a:rPr lang="en-US" sz="1050" i="1" dirty="0">
                <a:solidFill>
                  <a:srgbClr val="555555"/>
                </a:solidFill>
              </a:rPr>
              <a:t>truthful</a:t>
            </a:r>
            <a:r>
              <a:rPr lang="en-US" sz="1050" dirty="0">
                <a:solidFill>
                  <a:srgbClr val="555555"/>
                </a:solidFill>
              </a:rPr>
              <a:t> one. They prioritize fluency over accuracy.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42950" y="2935188"/>
            <a:ext cx="34004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The RLHF Paradox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42950" y="3204865"/>
            <a:ext cx="34004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Reinforcement learning can sometimes make models </a:t>
            </a:r>
            <a:r>
              <a:rPr lang="en-US" sz="1050" i="1" dirty="0">
                <a:solidFill>
                  <a:srgbClr val="555555"/>
                </a:solidFill>
              </a:rPr>
              <a:t>less</a:t>
            </a:r>
            <a:r>
              <a:rPr lang="en-US" sz="1050" dirty="0">
                <a:solidFill>
                  <a:srgbClr val="555555"/>
                </a:solidFill>
              </a:rPr>
              <a:t> calibrated. By rewarding assertive, helpful answers, we inadvertently punish "I don't know".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42950" y="4219277"/>
            <a:ext cx="34004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The Solution</a:t>
            </a: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742950" y="4488954"/>
            <a:ext cx="34004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Explicitly training models to refuse questions outside their knowledge base (Refusal Training).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0" y="2048470"/>
            <a:ext cx="4000500" cy="285750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140206" y="2191345"/>
            <a:ext cx="1289419" cy="29825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140206" y="2191345"/>
            <a:ext cx="1289419" cy="29825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"I am 100% sure!"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4729163" y="2227064"/>
            <a:ext cx="10339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Model Confidence</a:t>
            </a:r>
            <a:endParaRPr lang="en-US" sz="683" dirty="0"/>
          </a:p>
        </p:txBody>
      </p:sp>
      <p:sp>
        <p:nvSpPr>
          <p:cNvPr id="16" name="Text 12"/>
          <p:cNvSpPr/>
          <p:nvPr/>
        </p:nvSpPr>
        <p:spPr>
          <a:xfrm>
            <a:off x="7416245" y="4405908"/>
            <a:ext cx="94194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Actual Accuracy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 rot="-2700000">
            <a:off x="6397702" y="3000235"/>
            <a:ext cx="483878" cy="483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99999"/>
                </a:solidFill>
              </a:rPr>
              <a:t>Ideal Calibration</a:t>
            </a:r>
            <a:endParaRPr lang="en-US" sz="683" dirty="0"/>
          </a:p>
        </p:txBody>
      </p:sp>
      <p:sp>
        <p:nvSpPr>
          <p:cNvPr id="18" name="Text 14"/>
          <p:cNvSpPr/>
          <p:nvPr/>
        </p:nvSpPr>
        <p:spPr>
          <a:xfrm>
            <a:off x="4943475" y="2548533"/>
            <a:ext cx="11902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32F2F"/>
                </a:solidFill>
              </a:rPr>
              <a:t>Overconfidence Gap</a:t>
            </a:r>
            <a:endParaRPr lang="en-US" sz="784" dirty="0"/>
          </a:p>
        </p:txBody>
      </p:sp>
      <p:sp>
        <p:nvSpPr>
          <p:cNvPr id="19" name="Text 15"/>
          <p:cNvSpPr/>
          <p:nvPr/>
        </p:nvSpPr>
        <p:spPr>
          <a:xfrm>
            <a:off x="5357645" y="4555927"/>
            <a:ext cx="1237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Ideal (Perfectly Calibrated)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6880966" y="4555927"/>
            <a:ext cx="10487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Actual (Overconfident)</a:t>
            </a:r>
            <a:endParaRPr lang="en-US" sz="727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3" y="779924"/>
            <a:ext cx="714375" cy="714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095127" y="1901493"/>
            <a:ext cx="9537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8CC63F"/>
                </a:solidFill>
              </a:rPr>
              <a:t>Part 7</a:t>
            </a:r>
            <a:endParaRPr lang="en-US" sz="1602" dirty="0"/>
          </a:p>
        </p:txBody>
      </p:sp>
      <p:sp>
        <p:nvSpPr>
          <p:cNvPr id="6" name="Text 1"/>
          <p:cNvSpPr/>
          <p:nvPr/>
        </p:nvSpPr>
        <p:spPr>
          <a:xfrm>
            <a:off x="1000125" y="2356907"/>
            <a:ext cx="7143750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11111"/>
                </a:solidFill>
              </a:rPr>
              <a:t>Reasoning and Thinking</a:t>
            </a:r>
            <a:endParaRPr lang="en-US" sz="3731" dirty="0"/>
          </a:p>
        </p:txBody>
      </p:sp>
      <p:sp>
        <p:nvSpPr>
          <p:cNvPr id="7" name="Text 2"/>
          <p:cNvSpPr/>
          <p:nvPr/>
        </p:nvSpPr>
        <p:spPr>
          <a:xfrm>
            <a:off x="2367595" y="4188554"/>
            <a:ext cx="440878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From Pattern Matching to Problem Solving</a:t>
            </a:r>
            <a:endParaRPr lang="en-US" sz="1704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System 1 vs System 2 Thinking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151930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Nobel laureate Daniel Kahneman defined two modes of thought. Understanding them is crucial to understanding how LLMs operate—and where they fail.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1777008"/>
            <a:ext cx="3857625" cy="257175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1777008"/>
            <a:ext cx="3857625" cy="42863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2214563" y="1905595"/>
            <a:ext cx="571500" cy="491133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3156" y="2008287"/>
            <a:ext cx="214313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54960" y="2468166"/>
            <a:ext cx="109067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System 1</a:t>
            </a:r>
            <a:endParaRPr lang="en-US" sz="1602" dirty="0"/>
          </a:p>
        </p:txBody>
      </p:sp>
      <p:sp>
        <p:nvSpPr>
          <p:cNvPr id="11" name="Text 6"/>
          <p:cNvSpPr/>
          <p:nvPr/>
        </p:nvSpPr>
        <p:spPr>
          <a:xfrm>
            <a:off x="1820010" y="2816423"/>
            <a:ext cx="13606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555555"/>
                </a:solidFill>
              </a:rPr>
              <a:t>Fast &amp; Intuitive</a:t>
            </a:r>
            <a:endParaRPr lang="en-US" sz="98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3" y="3108424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7275" y="3082528"/>
            <a:ext cx="149633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Automatic &amp; Effortless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63" y="3345954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57275" y="3320058"/>
            <a:ext cx="116602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Pattern Matching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63" y="3583484"/>
            <a:ext cx="142875" cy="1428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7275" y="3557588"/>
            <a:ext cx="8885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Prone to Bias</a:t>
            </a:r>
            <a:endParaRPr lang="en-US" sz="1050" dirty="0"/>
          </a:p>
        </p:txBody>
      </p:sp>
      <p:sp>
        <p:nvSpPr>
          <p:cNvPr id="18" name="Shape 10"/>
          <p:cNvSpPr/>
          <p:nvPr/>
        </p:nvSpPr>
        <p:spPr>
          <a:xfrm>
            <a:off x="700088" y="3795117"/>
            <a:ext cx="3600450" cy="425053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1"/>
          <p:cNvSpPr/>
          <p:nvPr/>
        </p:nvSpPr>
        <p:spPr>
          <a:xfrm>
            <a:off x="700088" y="3795117"/>
            <a:ext cx="3600450" cy="42505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"2 + 2 = ?"
 "Complete the phrase: Bread and..."</a:t>
            </a:r>
            <a:endParaRPr lang="en-US" sz="834" dirty="0"/>
          </a:p>
        </p:txBody>
      </p:sp>
      <p:sp>
        <p:nvSpPr>
          <p:cNvPr id="20" name="Shape 12"/>
          <p:cNvSpPr/>
          <p:nvPr/>
        </p:nvSpPr>
        <p:spPr>
          <a:xfrm>
            <a:off x="4714875" y="1777008"/>
            <a:ext cx="3857625" cy="257175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4714875" y="1777008"/>
            <a:ext cx="3857625" cy="4286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4"/>
          <p:cNvSpPr/>
          <p:nvPr/>
        </p:nvSpPr>
        <p:spPr>
          <a:xfrm>
            <a:off x="6357938" y="1905595"/>
            <a:ext cx="571500" cy="491133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5094" y="2008287"/>
            <a:ext cx="357188" cy="2857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098335" y="2468166"/>
            <a:ext cx="109067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System 2</a:t>
            </a:r>
            <a:endParaRPr lang="en-US" sz="1602" dirty="0"/>
          </a:p>
        </p:txBody>
      </p:sp>
      <p:sp>
        <p:nvSpPr>
          <p:cNvPr id="25" name="Text 16"/>
          <p:cNvSpPr/>
          <p:nvPr/>
        </p:nvSpPr>
        <p:spPr>
          <a:xfrm>
            <a:off x="5866860" y="2816423"/>
            <a:ext cx="15536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555555"/>
                </a:solidFill>
              </a:rPr>
              <a:t>Slow &amp; Deliberate</a:t>
            </a:r>
            <a:endParaRPr lang="en-US" sz="987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6338" y="3108424"/>
            <a:ext cx="142875" cy="1428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00650" y="3082528"/>
            <a:ext cx="14100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Conscious &amp; Effortful</a:t>
            </a:r>
            <a:endParaRPr lang="en-US" sz="10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6338" y="3345954"/>
            <a:ext cx="142875" cy="14287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00650" y="3320058"/>
            <a:ext cx="12146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Logical Reasoning</a:t>
            </a:r>
            <a:endParaRPr lang="en-US" sz="10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86338" y="3583484"/>
            <a:ext cx="142875" cy="14287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200650" y="3557588"/>
            <a:ext cx="1784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Reliable for Complex Tasks</a:t>
            </a:r>
            <a:endParaRPr lang="en-US" sz="1050" dirty="0"/>
          </a:p>
        </p:txBody>
      </p:sp>
      <p:sp>
        <p:nvSpPr>
          <p:cNvPr id="32" name="Shape 20"/>
          <p:cNvSpPr/>
          <p:nvPr/>
        </p:nvSpPr>
        <p:spPr>
          <a:xfrm>
            <a:off x="4843463" y="3795117"/>
            <a:ext cx="3600450" cy="425053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1"/>
          <p:cNvSpPr/>
          <p:nvPr/>
        </p:nvSpPr>
        <p:spPr>
          <a:xfrm>
            <a:off x="4843463" y="3795117"/>
            <a:ext cx="3600450" cy="42505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"17 * 24 = ?"
 "Write a Python script to parse CSV..."</a:t>
            </a:r>
            <a:endParaRPr lang="en-US" sz="834" dirty="0"/>
          </a:p>
        </p:txBody>
      </p:sp>
      <p:sp>
        <p:nvSpPr>
          <p:cNvPr id="34" name="Shape 22"/>
          <p:cNvSpPr/>
          <p:nvPr/>
        </p:nvSpPr>
        <p:spPr>
          <a:xfrm>
            <a:off x="571500" y="4434483"/>
            <a:ext cx="8001000" cy="532209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3"/>
          <p:cNvSpPr/>
          <p:nvPr/>
        </p:nvSpPr>
        <p:spPr>
          <a:xfrm>
            <a:off x="571500" y="4434483"/>
            <a:ext cx="42863" cy="532209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4593431"/>
            <a:ext cx="160734" cy="214313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017984" y="4505920"/>
            <a:ext cx="7411641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The LLM Reality:</a:t>
            </a:r>
            <a:r>
              <a:rPr lang="en-US" sz="1050" dirty="0">
                <a:solidFill>
                  <a:srgbClr val="333333"/>
                </a:solidFill>
              </a:rPr>
              <a:t> Standard LLMs are pure </a:t>
            </a:r>
            <a:r>
              <a:rPr lang="en-US" sz="987" b="1" dirty="0">
                <a:solidFill>
                  <a:srgbClr val="333333"/>
                </a:solidFill>
              </a:rPr>
              <a:t>System 1</a:t>
            </a:r>
            <a:r>
              <a:rPr lang="en-US" sz="1050" dirty="0">
                <a:solidFill>
                  <a:srgbClr val="333333"/>
                </a:solidFill>
              </a:rPr>
              <a:t> engines. They "blurt out" tokens one by one without planning. To get System 2 behavior, we must force them to "think".</a:t>
            </a:r>
            <a:endParaRPr lang="en-US" sz="987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816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Giving Models Tokens to Think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23367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LLMs cannot "think silently". They must generate tokens to perform computation. By asking them to show their work, we provide the necessary "scratchpad".</a:t>
            </a:r>
            <a:endParaRPr lang="en-US" sz="1269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36849"/>
            <a:ext cx="128588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1525" y="1905595"/>
            <a:ext cx="17256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32F2F"/>
                </a:solidFill>
              </a:rPr>
              <a:t>Standard Prompt</a:t>
            </a:r>
            <a:endParaRPr lang="en-US" sz="1193" dirty="0"/>
          </a:p>
        </p:txBody>
      </p:sp>
      <p:sp>
        <p:nvSpPr>
          <p:cNvPr id="8" name="Shape 3"/>
          <p:cNvSpPr/>
          <p:nvPr/>
        </p:nvSpPr>
        <p:spPr>
          <a:xfrm>
            <a:off x="571500" y="2368153"/>
            <a:ext cx="3821906" cy="52506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571500" y="2368153"/>
            <a:ext cx="28575" cy="525066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571500" y="2368153"/>
            <a:ext cx="3821906" cy="5250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Q:</a:t>
            </a:r>
            <a:r>
              <a:rPr lang="en-US" sz="834" dirty="0">
                <a:solidFill>
                  <a:srgbClr val="333333"/>
                </a:solidFill>
              </a:rPr>
              <a:t> Roger has 5 balls. He buys 2 cans of tennis balls. Each can has 3 balls. How many balls does he have now?</a:t>
            </a:r>
            <a:endParaRPr lang="en-US" sz="784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8159" y="3036094"/>
            <a:ext cx="128588" cy="1714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71500" y="3293269"/>
            <a:ext cx="3821906" cy="383977"/>
          </a:xfrm>
          <a:prstGeom prst="rect">
            <a:avLst/>
          </a:prstGeom>
          <a:solidFill>
            <a:srgbClr val="FFEBEE"/>
          </a:solidFill>
          <a:ln w="9144">
            <a:solidFill>
              <a:srgbClr val="D32F2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571500" y="3293269"/>
            <a:ext cx="3821906" cy="3839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D32F2F"/>
                </a:solidFill>
              </a:rPr>
              <a:t>(Model attempts to guess immediately)</a:t>
            </a:r>
            <a:endParaRPr lang="en-US" sz="834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8159" y="3805833"/>
            <a:ext cx="128588" cy="17145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71500" y="4063008"/>
            <a:ext cx="3821906" cy="40898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1697199" y="4170164"/>
            <a:ext cx="14276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A: The answer is 27.</a:t>
            </a:r>
            <a:endParaRPr lang="en-US" sz="987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4805" y="4196953"/>
            <a:ext cx="142875" cy="142875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0594" y="1936849"/>
            <a:ext cx="214313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36344" y="1905595"/>
            <a:ext cx="176235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E7D32"/>
                </a:solidFill>
              </a:rPr>
              <a:t>Chain of Thought</a:t>
            </a:r>
            <a:endParaRPr lang="en-US" sz="1193" dirty="0"/>
          </a:p>
        </p:txBody>
      </p:sp>
      <p:sp>
        <p:nvSpPr>
          <p:cNvPr id="20" name="Shape 11"/>
          <p:cNvSpPr/>
          <p:nvPr/>
        </p:nvSpPr>
        <p:spPr>
          <a:xfrm>
            <a:off x="4750594" y="2368153"/>
            <a:ext cx="3821906" cy="52506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2"/>
          <p:cNvSpPr/>
          <p:nvPr/>
        </p:nvSpPr>
        <p:spPr>
          <a:xfrm>
            <a:off x="4750594" y="2368153"/>
            <a:ext cx="28575" cy="525066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3"/>
          <p:cNvSpPr/>
          <p:nvPr/>
        </p:nvSpPr>
        <p:spPr>
          <a:xfrm>
            <a:off x="4750594" y="2368153"/>
            <a:ext cx="3821906" cy="5250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Q:</a:t>
            </a:r>
            <a:r>
              <a:rPr lang="en-US" sz="834" dirty="0">
                <a:solidFill>
                  <a:srgbClr val="333333"/>
                </a:solidFill>
              </a:rPr>
              <a:t> [Same Question]
</a:t>
            </a:r>
            <a:r>
              <a:rPr lang="en-US" sz="784" b="1" dirty="0">
                <a:solidFill>
                  <a:srgbClr val="FFFFFF"/>
                </a:solidFill>
              </a:rPr>
              <a:t>Let's think step by step.</a:t>
            </a:r>
            <a:endParaRPr lang="en-US" sz="784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253" y="3036094"/>
            <a:ext cx="128588" cy="17145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4750594" y="3293269"/>
            <a:ext cx="3821906" cy="807244"/>
          </a:xfrm>
          <a:prstGeom prst="rect">
            <a:avLst/>
          </a:prstGeom>
          <a:solidFill>
            <a:srgbClr val="E8F5E9"/>
          </a:solidFill>
          <a:ln w="9144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3400425"/>
            <a:ext cx="50006" cy="135731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4979194" y="3400425"/>
            <a:ext cx="12248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B5E20"/>
                </a:solidFill>
              </a:rPr>
              <a:t>Roger started with 5 balls.</a:t>
            </a:r>
            <a:endParaRPr lang="en-US" sz="727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3593306"/>
            <a:ext cx="50006" cy="135731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4979194" y="3593306"/>
            <a:ext cx="13439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B5E20"/>
                </a:solidFill>
              </a:rPr>
              <a:t>2 cans * 3 balls/can = 6 balls.</a:t>
            </a:r>
            <a:endParaRPr lang="en-US" sz="727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3786188"/>
            <a:ext cx="50006" cy="135731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4979194" y="3786188"/>
            <a:ext cx="7171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B5E20"/>
                </a:solidFill>
              </a:rPr>
              <a:t>5 + 6 = 11 balls.</a:t>
            </a:r>
            <a:endParaRPr lang="en-US" sz="727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253" y="4229100"/>
            <a:ext cx="128588" cy="171450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4750594" y="4486275"/>
            <a:ext cx="3821906" cy="4089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9"/>
          <p:cNvSpPr/>
          <p:nvPr/>
        </p:nvSpPr>
        <p:spPr>
          <a:xfrm>
            <a:off x="5876292" y="4593431"/>
            <a:ext cx="142760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A: The answer is 11.</a:t>
            </a:r>
            <a:endParaRPr lang="en-US" sz="987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3898" y="4620220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459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Chain-of-Thought Reasoning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For complex tasks, LLMs fail if forced to answer immediately. By encouraging them to "show their work," performance improves dramatically.</a:t>
            </a:r>
            <a:endParaRPr lang="en-US" sz="1269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79724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4388" y="2048470"/>
            <a:ext cx="207096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D32F2F"/>
                </a:solidFill>
              </a:rPr>
              <a:t>Standard Prompting</a:t>
            </a:r>
            <a:endParaRPr lang="en-US" sz="1193" dirty="0"/>
          </a:p>
        </p:txBody>
      </p:sp>
      <p:sp>
        <p:nvSpPr>
          <p:cNvPr id="8" name="Shape 3"/>
          <p:cNvSpPr/>
          <p:nvPr/>
        </p:nvSpPr>
        <p:spPr>
          <a:xfrm>
            <a:off x="571500" y="2389584"/>
            <a:ext cx="3857625" cy="2516386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571500" y="2389584"/>
            <a:ext cx="42863" cy="2516386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714375" y="2532459"/>
            <a:ext cx="3571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Input</a:t>
            </a:r>
            <a:endParaRPr lang="en-US" sz="584" dirty="0"/>
          </a:p>
        </p:txBody>
      </p:sp>
      <p:sp>
        <p:nvSpPr>
          <p:cNvPr id="11" name="Text 6"/>
          <p:cNvSpPr/>
          <p:nvPr/>
        </p:nvSpPr>
        <p:spPr>
          <a:xfrm>
            <a:off x="714375" y="2696766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Roger has 5 tennis balls. He buys 2 more cans of tennis balls. Each can has 3 balls. How many balls does he have now?</a:t>
            </a:r>
            <a:endParaRPr lang="en-US" sz="784" dirty="0"/>
          </a:p>
        </p:txBody>
      </p:sp>
      <p:sp>
        <p:nvSpPr>
          <p:cNvPr id="12" name="Text 7"/>
          <p:cNvSpPr/>
          <p:nvPr/>
        </p:nvSpPr>
        <p:spPr>
          <a:xfrm>
            <a:off x="714375" y="3146822"/>
            <a:ext cx="3571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Output</a:t>
            </a:r>
            <a:endParaRPr lang="en-US" sz="584" dirty="0"/>
          </a:p>
        </p:txBody>
      </p:sp>
      <p:sp>
        <p:nvSpPr>
          <p:cNvPr id="13" name="Text 8"/>
          <p:cNvSpPr/>
          <p:nvPr/>
        </p:nvSpPr>
        <p:spPr>
          <a:xfrm>
            <a:off x="714375" y="3311128"/>
            <a:ext cx="3571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The answer is 11.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3577651" y="4541639"/>
            <a:ext cx="708599" cy="221456"/>
          </a:xfrm>
          <a:prstGeom prst="round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4808" y="4602361"/>
            <a:ext cx="62508" cy="1000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83034" y="4577358"/>
            <a:ext cx="39606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Wrong</a:t>
            </a:r>
            <a:endParaRPr lang="en-US" sz="683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2079724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57763" y="2048470"/>
            <a:ext cx="177538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E7D32"/>
                </a:solidFill>
              </a:rPr>
              <a:t>Chain-of-Thought</a:t>
            </a:r>
            <a:endParaRPr lang="en-US" sz="1193" dirty="0"/>
          </a:p>
        </p:txBody>
      </p:sp>
      <p:sp>
        <p:nvSpPr>
          <p:cNvPr id="19" name="Shape 12"/>
          <p:cNvSpPr/>
          <p:nvPr/>
        </p:nvSpPr>
        <p:spPr>
          <a:xfrm>
            <a:off x="4714875" y="2389584"/>
            <a:ext cx="3857625" cy="251638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4714875" y="2389584"/>
            <a:ext cx="42863" cy="2516386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4857750" y="2532459"/>
            <a:ext cx="3571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Input</a:t>
            </a:r>
            <a:endParaRPr lang="en-US" sz="584" dirty="0"/>
          </a:p>
        </p:txBody>
      </p:sp>
      <p:sp>
        <p:nvSpPr>
          <p:cNvPr id="22" name="Text 15"/>
          <p:cNvSpPr/>
          <p:nvPr/>
        </p:nvSpPr>
        <p:spPr>
          <a:xfrm>
            <a:off x="4857750" y="2696766"/>
            <a:ext cx="3571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Roger has 5 tennis balls. He buys 2 more cans of tennis balls. Each can has 3 balls. How many balls does he have now? </a:t>
            </a:r>
            <a:r>
              <a:rPr lang="en-US" sz="784" b="1" dirty="0">
                <a:solidFill>
                  <a:srgbClr val="111111"/>
                </a:solidFill>
              </a:rPr>
              <a:t>Let's think step by step.</a:t>
            </a:r>
            <a:endParaRPr lang="en-US" sz="784" dirty="0"/>
          </a:p>
        </p:txBody>
      </p:sp>
      <p:sp>
        <p:nvSpPr>
          <p:cNvPr id="23" name="Text 16"/>
          <p:cNvSpPr/>
          <p:nvPr/>
        </p:nvSpPr>
        <p:spPr>
          <a:xfrm>
            <a:off x="4857750" y="3318272"/>
            <a:ext cx="3571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Output</a:t>
            </a:r>
            <a:endParaRPr lang="en-US" sz="584" dirty="0"/>
          </a:p>
        </p:txBody>
      </p:sp>
      <p:sp>
        <p:nvSpPr>
          <p:cNvPr id="24" name="Text 17"/>
          <p:cNvSpPr/>
          <p:nvPr/>
        </p:nvSpPr>
        <p:spPr>
          <a:xfrm>
            <a:off x="4857750" y="3482578"/>
            <a:ext cx="3571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1. Roger started with 5 balls.
 2. 2 cans of 3 balls is 2 * 3 = 6 balls.
 3. 5 + 6 = 11.
 The answer is 11.</a:t>
            </a:r>
            <a:endParaRPr lang="en-US" sz="834" dirty="0"/>
          </a:p>
        </p:txBody>
      </p:sp>
      <p:sp>
        <p:nvSpPr>
          <p:cNvPr id="25" name="Shape 18"/>
          <p:cNvSpPr/>
          <p:nvPr/>
        </p:nvSpPr>
        <p:spPr>
          <a:xfrm>
            <a:off x="7628604" y="4541639"/>
            <a:ext cx="801021" cy="221456"/>
          </a:xfrm>
          <a:prstGeom prst="round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760" y="4602361"/>
            <a:ext cx="100013" cy="10001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71492" y="4577358"/>
            <a:ext cx="4509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Correct</a:t>
            </a:r>
            <a:endParaRPr lang="en-US" sz="683" dirty="0"/>
          </a:p>
        </p:txBody>
      </p:sp>
      <p:sp>
        <p:nvSpPr>
          <p:cNvPr id="28" name="Shape 20"/>
          <p:cNvSpPr/>
          <p:nvPr/>
        </p:nvSpPr>
        <p:spPr>
          <a:xfrm>
            <a:off x="571500" y="4445198"/>
            <a:ext cx="8001000" cy="603647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3" y="4639866"/>
            <a:ext cx="160734" cy="21431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89422" y="4552355"/>
            <a:ext cx="726876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Why it works:</a:t>
            </a:r>
            <a:r>
              <a:rPr lang="en-US" sz="1050" dirty="0">
                <a:solidFill>
                  <a:srgbClr val="FFFFFF"/>
                </a:solidFill>
              </a:rPr>
              <a:t> The reasoning steps provide "computation time" and intermediate results in the context window that the model can attend to for the final answer.</a:t>
            </a:r>
            <a:endParaRPr lang="en-US" sz="987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685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Thinking Models: o1 &amp; DeepSeek-R1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A new paradigm of models that don't just predict the next word—they generate a hidden "chain of thought" to reason through problems before answering.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571500" y="2340471"/>
            <a:ext cx="1428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Standard LLM</a:t>
            </a:r>
            <a:endParaRPr lang="en-US" sz="1193" dirty="0"/>
          </a:p>
        </p:txBody>
      </p:sp>
      <p:sp>
        <p:nvSpPr>
          <p:cNvPr id="7" name="Shape 3"/>
          <p:cNvSpPr/>
          <p:nvPr/>
        </p:nvSpPr>
        <p:spPr>
          <a:xfrm>
            <a:off x="2000250" y="2119908"/>
            <a:ext cx="6572250" cy="675084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2143125" y="2262783"/>
            <a:ext cx="908261" cy="38933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143125" y="2262783"/>
            <a:ext cx="908261" cy="389334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Prompt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3122823" y="2443163"/>
            <a:ext cx="4325178" cy="2857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519439" y="2262783"/>
            <a:ext cx="910186" cy="38933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519439" y="2262783"/>
            <a:ext cx="910186" cy="389334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Answer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571500" y="3395960"/>
            <a:ext cx="1428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Thinking Model</a:t>
            </a:r>
            <a:endParaRPr lang="en-US" sz="1193" dirty="0"/>
          </a:p>
        </p:txBody>
      </p:sp>
      <p:sp>
        <p:nvSpPr>
          <p:cNvPr id="14" name="Shape 10"/>
          <p:cNvSpPr/>
          <p:nvPr/>
        </p:nvSpPr>
        <p:spPr>
          <a:xfrm>
            <a:off x="2000250" y="3152180"/>
            <a:ext cx="6572250" cy="955477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2143125" y="3435251"/>
            <a:ext cx="908261" cy="389334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143125" y="3435251"/>
            <a:ext cx="908261" cy="389334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Prompt</a:t>
            </a:r>
            <a:endParaRPr lang="en-US" sz="885" dirty="0"/>
          </a:p>
        </p:txBody>
      </p:sp>
      <p:sp>
        <p:nvSpPr>
          <p:cNvPr id="17" name="Shape 13"/>
          <p:cNvSpPr/>
          <p:nvPr/>
        </p:nvSpPr>
        <p:spPr>
          <a:xfrm>
            <a:off x="3122823" y="3615630"/>
            <a:ext cx="465627" cy="2857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731326" y="3295055"/>
            <a:ext cx="3108145" cy="669727"/>
          </a:xfrm>
          <a:prstGeom prst="rect">
            <a:avLst/>
          </a:prstGeom>
          <a:solidFill>
            <a:srgbClr val="E8F5E9"/>
          </a:solidFill>
          <a:ln w="18288">
            <a:solidFill>
              <a:srgbClr val="8CC63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847760" y="3187898"/>
            <a:ext cx="875277" cy="173236"/>
          </a:xfrm>
          <a:prstGeom prst="round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47760" y="3187898"/>
            <a:ext cx="875277" cy="17323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Hidden Tokens</a:t>
            </a:r>
            <a:endParaRPr lang="en-US" sz="584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135" y="3461147"/>
            <a:ext cx="128588" cy="128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99722" y="3437930"/>
            <a:ext cx="12999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E7D32"/>
                </a:solidFill>
              </a:rPr>
              <a:t>Reasoning Chain</a:t>
            </a:r>
            <a:endParaRPr lang="en-US" sz="885" dirty="0"/>
          </a:p>
        </p:txBody>
      </p:sp>
      <p:sp>
        <p:nvSpPr>
          <p:cNvPr id="23" name="Text 18"/>
          <p:cNvSpPr/>
          <p:nvPr/>
        </p:nvSpPr>
        <p:spPr>
          <a:xfrm>
            <a:off x="4487280" y="3648670"/>
            <a:ext cx="15962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E7D32">
                    <a:alpha val="80000"/>
                  </a:srgbClr>
                </a:solidFill>
              </a:rPr>
              <a:t>Plan → Critique → Refine → Verify</a:t>
            </a:r>
            <a:endParaRPr lang="en-US" sz="727" dirty="0"/>
          </a:p>
        </p:txBody>
      </p:sp>
      <p:sp>
        <p:nvSpPr>
          <p:cNvPr id="24" name="Shape 19"/>
          <p:cNvSpPr/>
          <p:nvPr/>
        </p:nvSpPr>
        <p:spPr>
          <a:xfrm>
            <a:off x="6978774" y="3601343"/>
            <a:ext cx="469199" cy="28575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7519411" y="3420963"/>
            <a:ext cx="910186" cy="38933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7519411" y="3420963"/>
            <a:ext cx="910186" cy="389334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Answer</a:t>
            </a:r>
            <a:endParaRPr lang="en-US" sz="885" dirty="0"/>
          </a:p>
        </p:txBody>
      </p:sp>
      <p:sp>
        <p:nvSpPr>
          <p:cNvPr id="27" name="Shape 22"/>
          <p:cNvSpPr/>
          <p:nvPr/>
        </p:nvSpPr>
        <p:spPr>
          <a:xfrm>
            <a:off x="571500" y="4436269"/>
            <a:ext cx="8001000" cy="675084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71500" y="4436269"/>
            <a:ext cx="42863" cy="6750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666655"/>
            <a:ext cx="214313" cy="21431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71563" y="4579144"/>
            <a:ext cx="73580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Test-Time Compute:</a:t>
            </a:r>
            <a:r>
              <a:rPr lang="en-US" sz="1050" dirty="0">
                <a:solidFill>
                  <a:srgbClr val="333333"/>
                </a:solidFill>
              </a:rPr>
              <a:t> These models trade </a:t>
            </a:r>
            <a:r>
              <a:rPr lang="en-US" sz="1050" i="1" dirty="0">
                <a:solidFill>
                  <a:srgbClr val="333333"/>
                </a:solidFill>
              </a:rPr>
              <a:t>speed</a:t>
            </a:r>
            <a:r>
              <a:rPr lang="en-US" sz="1050" dirty="0">
                <a:solidFill>
                  <a:srgbClr val="333333"/>
                </a:solidFill>
              </a:rPr>
              <a:t> for </a:t>
            </a:r>
            <a:r>
              <a:rPr lang="en-US" sz="1050" i="1" dirty="0">
                <a:solidFill>
                  <a:srgbClr val="333333"/>
                </a:solidFill>
              </a:rPr>
              <a:t>accuracy</a:t>
            </a:r>
            <a:r>
              <a:rPr lang="en-US" sz="1050" dirty="0">
                <a:solidFill>
                  <a:srgbClr val="333333"/>
                </a:solidFill>
              </a:rPr>
              <a:t>. By spending more time (and tokens) "thinking", they achieve superhuman performance on math, coding, and logic tasks.</a:t>
            </a:r>
            <a:endParaRPr lang="en-US" sz="987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6315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DeepSeek-R1: Pure RL Approach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DeepSeek-R1 demonstrated that models can </a:t>
            </a:r>
            <a:r>
              <a:rPr lang="en-US" sz="1193" b="1" dirty="0">
                <a:solidFill>
                  <a:srgbClr val="555555"/>
                </a:solidFill>
              </a:rPr>
              <a:t>discover</a:t>
            </a:r>
            <a:r>
              <a:rPr lang="en-US" sz="1269" dirty="0">
                <a:solidFill>
                  <a:srgbClr val="555555"/>
                </a:solidFill>
              </a:rPr>
              <a:t> how to reason without being explicitly taught, simply by optimizing for correct answers.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048470"/>
            <a:ext cx="8001000" cy="128587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048470"/>
            <a:ext cx="57150" cy="1285875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50094" y="2373511"/>
            <a:ext cx="1428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777777"/>
                </a:solidFill>
              </a:rPr>
              <a:t>Traditional SFT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750094" y="2873573"/>
            <a:ext cx="1428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Imitation Learning</a:t>
            </a:r>
            <a:endParaRPr lang="en-US" sz="727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103" y="2386013"/>
            <a:ext cx="28575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22916" y="2686050"/>
            <a:ext cx="10001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Human Writes Reasoning</a:t>
            </a:r>
            <a:endParaRPr lang="en-US" sz="78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1213" y="2605683"/>
            <a:ext cx="150019" cy="17145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6591" y="2386013"/>
            <a:ext cx="28575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49403" y="2686050"/>
            <a:ext cx="10001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Model Mimics Text</a:t>
            </a:r>
            <a:endParaRPr lang="en-US" sz="784" dirty="0"/>
          </a:p>
        </p:txBody>
      </p:sp>
      <p:sp>
        <p:nvSpPr>
          <p:cNvPr id="15" name="Shape 8"/>
          <p:cNvSpPr/>
          <p:nvPr/>
        </p:nvSpPr>
        <p:spPr>
          <a:xfrm>
            <a:off x="6607969" y="2322612"/>
            <a:ext cx="1785938" cy="7375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9"/>
          <p:cNvSpPr/>
          <p:nvPr/>
        </p:nvSpPr>
        <p:spPr>
          <a:xfrm>
            <a:off x="6715125" y="2433340"/>
            <a:ext cx="627980" cy="173236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/>
          <p:nvPr/>
        </p:nvSpPr>
        <p:spPr>
          <a:xfrm>
            <a:off x="6715125" y="2433340"/>
            <a:ext cx="627980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Limitation</a:t>
            </a:r>
            <a:endParaRPr lang="en-US" sz="584" dirty="0"/>
          </a:p>
        </p:txBody>
      </p:sp>
      <p:sp>
        <p:nvSpPr>
          <p:cNvPr id="18" name="Text 11"/>
          <p:cNvSpPr/>
          <p:nvPr/>
        </p:nvSpPr>
        <p:spPr>
          <a:xfrm>
            <a:off x="7343105" y="2429768"/>
            <a:ext cx="9048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Model is capped</a:t>
            </a:r>
            <a:endParaRPr lang="en-US" sz="834" dirty="0"/>
          </a:p>
        </p:txBody>
      </p:sp>
      <p:sp>
        <p:nvSpPr>
          <p:cNvPr id="19" name="Text 12"/>
          <p:cNvSpPr/>
          <p:nvPr/>
        </p:nvSpPr>
        <p:spPr>
          <a:xfrm>
            <a:off x="6715125" y="2642295"/>
            <a:ext cx="14830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by human ability. Expensive</a:t>
            </a:r>
            <a:endParaRPr lang="en-US" sz="834" dirty="0"/>
          </a:p>
        </p:txBody>
      </p:sp>
      <p:sp>
        <p:nvSpPr>
          <p:cNvPr id="20" name="Text 13"/>
          <p:cNvSpPr/>
          <p:nvPr/>
        </p:nvSpPr>
        <p:spPr>
          <a:xfrm>
            <a:off x="6715125" y="2797671"/>
            <a:ext cx="4384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to scale.</a:t>
            </a:r>
            <a:endParaRPr lang="en-US" sz="834" dirty="0"/>
          </a:p>
        </p:txBody>
      </p:sp>
      <p:sp>
        <p:nvSpPr>
          <p:cNvPr id="21" name="Shape 14"/>
          <p:cNvSpPr/>
          <p:nvPr/>
        </p:nvSpPr>
        <p:spPr>
          <a:xfrm>
            <a:off x="571500" y="3548658"/>
            <a:ext cx="8001000" cy="1285875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571500" y="3548658"/>
            <a:ext cx="57150" cy="128587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7090981" y="3441502"/>
            <a:ext cx="1124331" cy="207169"/>
          </a:xfrm>
          <a:prstGeom prst="round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7090981" y="3441502"/>
            <a:ext cx="1124331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The Breakthrough</a:t>
            </a:r>
            <a:endParaRPr lang="en-US" sz="683" dirty="0"/>
          </a:p>
        </p:txBody>
      </p:sp>
      <p:sp>
        <p:nvSpPr>
          <p:cNvPr id="25" name="Text 18"/>
          <p:cNvSpPr/>
          <p:nvPr/>
        </p:nvSpPr>
        <p:spPr>
          <a:xfrm>
            <a:off x="750094" y="3980855"/>
            <a:ext cx="1428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565C0"/>
                </a:solidFill>
              </a:rPr>
              <a:t>DeepSeek-R1</a:t>
            </a:r>
            <a:endParaRPr lang="en-US" sz="1090" dirty="0"/>
          </a:p>
        </p:txBody>
      </p:sp>
      <p:sp>
        <p:nvSpPr>
          <p:cNvPr id="26" name="Text 19"/>
          <p:cNvSpPr/>
          <p:nvPr/>
        </p:nvSpPr>
        <p:spPr>
          <a:xfrm>
            <a:off x="750094" y="4266605"/>
            <a:ext cx="1428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1565C0"/>
                </a:solidFill>
              </a:rPr>
              <a:t>Pure Reinforcement</a:t>
            </a:r>
            <a:endParaRPr lang="en-US" sz="727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6024" y="388620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270261" y="4186238"/>
            <a:ext cx="10001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Complex Problem</a:t>
            </a:r>
            <a:endParaRPr lang="en-US" sz="784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3250" y="4105870"/>
            <a:ext cx="150019" cy="171450"/>
          </a:xfrm>
          <a:prstGeom prst="rect">
            <a:avLst/>
          </a:prstGeom>
        </p:spPr>
      </p:pic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1894" y="3886200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786132" y="4186238"/>
            <a:ext cx="10001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Model Explores Paths</a:t>
            </a:r>
            <a:endParaRPr lang="en-US" sz="784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9120" y="4105870"/>
            <a:ext cx="150019" cy="171450"/>
          </a:xfrm>
          <a:prstGeom prst="rect">
            <a:avLst/>
          </a:prstGeom>
        </p:spPr>
      </p:pic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7764" y="3886200"/>
            <a:ext cx="228600" cy="2286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302002" y="4186238"/>
            <a:ext cx="100012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Reward Correct Answer</a:t>
            </a:r>
            <a:endParaRPr lang="en-US" sz="784" dirty="0"/>
          </a:p>
        </p:txBody>
      </p:sp>
      <p:sp>
        <p:nvSpPr>
          <p:cNvPr id="35" name="Shape 23"/>
          <p:cNvSpPr/>
          <p:nvPr/>
        </p:nvSpPr>
        <p:spPr>
          <a:xfrm>
            <a:off x="6607969" y="3822799"/>
            <a:ext cx="1785938" cy="7375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4"/>
          <p:cNvSpPr/>
          <p:nvPr/>
        </p:nvSpPr>
        <p:spPr>
          <a:xfrm>
            <a:off x="6715125" y="3933527"/>
            <a:ext cx="545241" cy="173236"/>
          </a:xfrm>
          <a:prstGeom prst="rect">
            <a:avLst/>
          </a:prstGeom>
          <a:solidFill>
            <a:srgbClr val="BBDE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5"/>
          <p:cNvSpPr/>
          <p:nvPr/>
        </p:nvSpPr>
        <p:spPr>
          <a:xfrm>
            <a:off x="6715125" y="3933527"/>
            <a:ext cx="545241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565C0"/>
                </a:solidFill>
              </a:rPr>
              <a:t>Outcome</a:t>
            </a:r>
            <a:endParaRPr lang="en-US" sz="584" dirty="0"/>
          </a:p>
        </p:txBody>
      </p:sp>
      <p:sp>
        <p:nvSpPr>
          <p:cNvPr id="38" name="Text 26"/>
          <p:cNvSpPr/>
          <p:nvPr/>
        </p:nvSpPr>
        <p:spPr>
          <a:xfrm>
            <a:off x="7260366" y="3929955"/>
            <a:ext cx="3965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Model</a:t>
            </a:r>
            <a:endParaRPr lang="en-US" sz="834" dirty="0"/>
          </a:p>
        </p:txBody>
      </p:sp>
      <p:sp>
        <p:nvSpPr>
          <p:cNvPr id="39" name="Text 27"/>
          <p:cNvSpPr/>
          <p:nvPr/>
        </p:nvSpPr>
        <p:spPr>
          <a:xfrm>
            <a:off x="7656872" y="3929955"/>
            <a:ext cx="4240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invents</a:t>
            </a:r>
            <a:endParaRPr lang="en-US" sz="784" dirty="0"/>
          </a:p>
        </p:txBody>
      </p:sp>
      <p:sp>
        <p:nvSpPr>
          <p:cNvPr id="40" name="Text 28"/>
          <p:cNvSpPr/>
          <p:nvPr/>
        </p:nvSpPr>
        <p:spPr>
          <a:xfrm>
            <a:off x="6715125" y="4142482"/>
            <a:ext cx="13916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strategies: self-correction,</a:t>
            </a:r>
            <a:endParaRPr lang="en-US" sz="834" dirty="0"/>
          </a:p>
        </p:txBody>
      </p:sp>
      <p:sp>
        <p:nvSpPr>
          <p:cNvPr id="41" name="Text 29"/>
          <p:cNvSpPr/>
          <p:nvPr/>
        </p:nvSpPr>
        <p:spPr>
          <a:xfrm>
            <a:off x="6715125" y="4297859"/>
            <a:ext cx="15207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backtracking, and reflection.</a:t>
            </a:r>
            <a:endParaRPr lang="en-US" sz="834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7747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Emergent Reasoning Behaviors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When optimized for correctness, models spontaneously develop sophisticated strategies—without being explicitly taught to do so.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048470"/>
            <a:ext cx="3893344" cy="1393031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048470"/>
            <a:ext cx="42863" cy="1393031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14375" y="2191345"/>
            <a:ext cx="500063" cy="5000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334220"/>
            <a:ext cx="214313" cy="2143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57313" y="2191345"/>
            <a:ext cx="29646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Self-Correction</a:t>
            </a:r>
            <a:endParaRPr lang="en-US" sz="1193" dirty="0"/>
          </a:p>
        </p:txBody>
      </p:sp>
      <p:sp>
        <p:nvSpPr>
          <p:cNvPr id="11" name="Shape 6"/>
          <p:cNvSpPr/>
          <p:nvPr/>
        </p:nvSpPr>
        <p:spPr>
          <a:xfrm>
            <a:off x="1357313" y="2496741"/>
            <a:ext cx="2964656" cy="539353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1357313" y="2496741"/>
            <a:ext cx="2964656" cy="53935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Wait, I made a mistake in the previous step. The integral of x^2 is x^3/3, not x^3. Let me fix that.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4679156" y="2048470"/>
            <a:ext cx="3893344" cy="1393031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679156" y="2048470"/>
            <a:ext cx="42863" cy="139303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1428750" y="2425303"/>
            <a:ext cx="119993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45" i="1" dirty="0">
                <a:solidFill>
                  <a:srgbClr val="EEEEEE"/>
                </a:solidFill>
              </a:rPr>
              <a:t>\"</a:t>
            </a:r>
            <a:endParaRPr lang="en-US" sz="2145" dirty="0"/>
          </a:p>
        </p:txBody>
      </p:sp>
      <p:sp>
        <p:nvSpPr>
          <p:cNvPr id="16" name="Shape 11"/>
          <p:cNvSpPr/>
          <p:nvPr/>
        </p:nvSpPr>
        <p:spPr>
          <a:xfrm>
            <a:off x="4822031" y="2191345"/>
            <a:ext cx="500063" cy="5000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4906" y="2334220"/>
            <a:ext cx="214313" cy="2143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64969" y="2191345"/>
            <a:ext cx="29646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Verification</a:t>
            </a:r>
            <a:endParaRPr lang="en-US" sz="1193" dirty="0"/>
          </a:p>
        </p:txBody>
      </p:sp>
      <p:sp>
        <p:nvSpPr>
          <p:cNvPr id="19" name="Shape 13"/>
          <p:cNvSpPr/>
          <p:nvPr/>
        </p:nvSpPr>
        <p:spPr>
          <a:xfrm>
            <a:off x="5464969" y="2496741"/>
            <a:ext cx="2964656" cy="539353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464969" y="2496741"/>
            <a:ext cx="2964656" cy="53935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Let me double-check this result by plugging the value back into the original equation... Yes, it holds.</a:t>
            </a:r>
            <a:endParaRPr lang="en-US" sz="834" dirty="0"/>
          </a:p>
        </p:txBody>
      </p:sp>
      <p:sp>
        <p:nvSpPr>
          <p:cNvPr id="21" name="Shape 15"/>
          <p:cNvSpPr/>
          <p:nvPr/>
        </p:nvSpPr>
        <p:spPr>
          <a:xfrm>
            <a:off x="571500" y="3655814"/>
            <a:ext cx="3893344" cy="1393031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71500" y="3655814"/>
            <a:ext cx="42863" cy="1393031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5536406" y="2425303"/>
            <a:ext cx="119993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45" i="1" dirty="0">
                <a:solidFill>
                  <a:srgbClr val="EEEEEE"/>
                </a:solidFill>
              </a:rPr>
              <a:t>\"</a:t>
            </a:r>
            <a:endParaRPr lang="en-US" sz="2145" dirty="0"/>
          </a:p>
        </p:txBody>
      </p:sp>
      <p:sp>
        <p:nvSpPr>
          <p:cNvPr id="24" name="Shape 18"/>
          <p:cNvSpPr/>
          <p:nvPr/>
        </p:nvSpPr>
        <p:spPr>
          <a:xfrm>
            <a:off x="714375" y="3798689"/>
            <a:ext cx="500063" cy="5000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941564"/>
            <a:ext cx="214313" cy="21431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57313" y="3798689"/>
            <a:ext cx="29646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Backtracking</a:t>
            </a:r>
            <a:endParaRPr lang="en-US" sz="1193" dirty="0"/>
          </a:p>
        </p:txBody>
      </p:sp>
      <p:sp>
        <p:nvSpPr>
          <p:cNvPr id="27" name="Shape 20"/>
          <p:cNvSpPr/>
          <p:nvPr/>
        </p:nvSpPr>
        <p:spPr>
          <a:xfrm>
            <a:off x="1357313" y="4104084"/>
            <a:ext cx="2964656" cy="694730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1357313" y="4104084"/>
            <a:ext cx="2964656" cy="6947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This approach seems to be leading to a contradiction. Let me try a different method using substitution instead.</a:t>
            </a:r>
            <a:endParaRPr lang="en-US" sz="834" dirty="0"/>
          </a:p>
        </p:txBody>
      </p:sp>
      <p:sp>
        <p:nvSpPr>
          <p:cNvPr id="29" name="Shape 22"/>
          <p:cNvSpPr/>
          <p:nvPr/>
        </p:nvSpPr>
        <p:spPr>
          <a:xfrm>
            <a:off x="4679156" y="3655814"/>
            <a:ext cx="3893344" cy="1393031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679156" y="3655814"/>
            <a:ext cx="42863" cy="1393031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1428750" y="4032647"/>
            <a:ext cx="119993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45" i="1" dirty="0">
                <a:solidFill>
                  <a:srgbClr val="EEEEEE"/>
                </a:solidFill>
              </a:rPr>
              <a:t>\"</a:t>
            </a:r>
            <a:endParaRPr lang="en-US" sz="2145" dirty="0"/>
          </a:p>
        </p:txBody>
      </p:sp>
      <p:sp>
        <p:nvSpPr>
          <p:cNvPr id="32" name="Shape 25"/>
          <p:cNvSpPr/>
          <p:nvPr/>
        </p:nvSpPr>
        <p:spPr>
          <a:xfrm>
            <a:off x="4822031" y="3798689"/>
            <a:ext cx="500063" cy="5000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4906" y="3941564"/>
            <a:ext cx="214313" cy="21431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64969" y="3798689"/>
            <a:ext cx="296465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Reflection</a:t>
            </a:r>
            <a:endParaRPr lang="en-US" sz="1193" dirty="0"/>
          </a:p>
        </p:txBody>
      </p:sp>
      <p:sp>
        <p:nvSpPr>
          <p:cNvPr id="35" name="Shape 27"/>
          <p:cNvSpPr/>
          <p:nvPr/>
        </p:nvSpPr>
        <p:spPr>
          <a:xfrm>
            <a:off x="5464969" y="4104084"/>
            <a:ext cx="2964656" cy="539353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5464969" y="4104084"/>
            <a:ext cx="2964656" cy="53935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i="1" dirty="0">
                <a:solidFill>
                  <a:srgbClr val="555555"/>
                </a:solidFill>
              </a:rPr>
              <a:t>This looks like a trick question. I should be careful about the edge cases where x equals zero.</a:t>
            </a:r>
            <a:endParaRPr lang="en-US" sz="834" dirty="0"/>
          </a:p>
        </p:txBody>
      </p:sp>
      <p:sp>
        <p:nvSpPr>
          <p:cNvPr id="37" name="Text 29"/>
          <p:cNvSpPr/>
          <p:nvPr/>
        </p:nvSpPr>
        <p:spPr>
          <a:xfrm>
            <a:off x="5536406" y="4032647"/>
            <a:ext cx="119993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45" i="1" dirty="0">
                <a:solidFill>
                  <a:srgbClr val="EEEEEE"/>
                </a:solidFill>
              </a:rPr>
              <a:t>\"</a:t>
            </a:r>
            <a:endParaRPr lang="en-US" sz="214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3" y="1062800"/>
            <a:ext cx="714375" cy="714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095127" y="2184369"/>
            <a:ext cx="9537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8CC63F"/>
                </a:solidFill>
              </a:rPr>
              <a:t>Part 8</a:t>
            </a:r>
            <a:endParaRPr lang="en-US" sz="1602" dirty="0"/>
          </a:p>
        </p:txBody>
      </p:sp>
      <p:sp>
        <p:nvSpPr>
          <p:cNvPr id="6" name="Text 1"/>
          <p:cNvSpPr/>
          <p:nvPr/>
        </p:nvSpPr>
        <p:spPr>
          <a:xfrm>
            <a:off x="3912598" y="2639783"/>
            <a:ext cx="1318803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11111"/>
                </a:solidFill>
              </a:rPr>
              <a:t>RLHF</a:t>
            </a:r>
            <a:endParaRPr lang="en-US" sz="3731" dirty="0"/>
          </a:p>
        </p:txBody>
      </p:sp>
      <p:sp>
        <p:nvSpPr>
          <p:cNvPr id="7" name="Text 2"/>
          <p:cNvSpPr/>
          <p:nvPr/>
        </p:nvSpPr>
        <p:spPr>
          <a:xfrm>
            <a:off x="2108578" y="3905650"/>
            <a:ext cx="492681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Reinforcement Learning from Human Feedback</a:t>
            </a:r>
            <a:endParaRPr lang="en-US" sz="1704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459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Why RLHF?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Pre-training creates a model that can predict the next word. RLHF transforms that raw capability into an assistant that aligns with human values.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048470"/>
            <a:ext cx="3357563" cy="28575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048470"/>
            <a:ext cx="3357563" cy="57150"/>
          </a:xfrm>
          <a:prstGeom prst="rect">
            <a:avLst/>
          </a:prstGeom>
          <a:solidFill>
            <a:srgbClr val="7777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270820"/>
            <a:ext cx="321469" cy="2571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14438" y="2262783"/>
            <a:ext cx="128316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Base Model</a:t>
            </a:r>
            <a:endParaRPr lang="en-US" sz="1397" dirty="0"/>
          </a:p>
        </p:txBody>
      </p:sp>
      <p:sp>
        <p:nvSpPr>
          <p:cNvPr id="10" name="Text 5"/>
          <p:cNvSpPr/>
          <p:nvPr/>
        </p:nvSpPr>
        <p:spPr>
          <a:xfrm>
            <a:off x="785813" y="2678906"/>
            <a:ext cx="29289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Trained on the raw internet. Its only goal is to complete the document.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932634"/>
            <a:ext cx="80367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7617" y="3909417"/>
            <a:ext cx="852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Unpredictable</a:t>
            </a:r>
            <a:endParaRPr lang="en-US" sz="942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4193381"/>
            <a:ext cx="80367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37617" y="4170164"/>
            <a:ext cx="12019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Can be Toxic/Biased</a:t>
            </a:r>
            <a:endParaRPr lang="en-US" sz="942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4454128"/>
            <a:ext cx="80367" cy="1285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37617" y="4430911"/>
            <a:ext cx="16042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Doesn't follow instructions</a:t>
            </a:r>
            <a:endParaRPr lang="en-US" sz="942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6984" y="3143250"/>
            <a:ext cx="250031" cy="2857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214087" y="3500438"/>
            <a:ext cx="71585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</a:rPr>
              <a:t>RLHF Alignment</a:t>
            </a:r>
            <a:endParaRPr lang="en-US" sz="784" dirty="0"/>
          </a:p>
        </p:txBody>
      </p:sp>
      <p:sp>
        <p:nvSpPr>
          <p:cNvPr id="19" name="Shape 10"/>
          <p:cNvSpPr/>
          <p:nvPr/>
        </p:nvSpPr>
        <p:spPr>
          <a:xfrm>
            <a:off x="5214938" y="2048470"/>
            <a:ext cx="3357563" cy="28575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1"/>
          <p:cNvSpPr/>
          <p:nvPr/>
        </p:nvSpPr>
        <p:spPr>
          <a:xfrm>
            <a:off x="5214938" y="2048470"/>
            <a:ext cx="3357563" cy="57150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0" y="2270820"/>
            <a:ext cx="321469" cy="25717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857875" y="2262783"/>
            <a:ext cx="169901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Aligned Model</a:t>
            </a:r>
            <a:endParaRPr lang="en-US" sz="1397" dirty="0"/>
          </a:p>
        </p:txBody>
      </p:sp>
      <p:sp>
        <p:nvSpPr>
          <p:cNvPr id="23" name="Text 13"/>
          <p:cNvSpPr/>
          <p:nvPr/>
        </p:nvSpPr>
        <p:spPr>
          <a:xfrm>
            <a:off x="5429250" y="2678906"/>
            <a:ext cx="29289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Fine-tuned with human feedback. Its goal is to be a helpful assistant.</a:t>
            </a:r>
            <a:endParaRPr lang="en-US" sz="105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0" y="3932634"/>
            <a:ext cx="128588" cy="12858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629275" y="3909417"/>
            <a:ext cx="12060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Follows Instructions</a:t>
            </a:r>
            <a:endParaRPr lang="en-US" sz="942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0" y="4193381"/>
            <a:ext cx="128588" cy="12858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629275" y="4170164"/>
            <a:ext cx="7613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Safe &amp; Polite</a:t>
            </a:r>
            <a:endParaRPr lang="en-US" sz="942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0" y="4454128"/>
            <a:ext cx="128588" cy="12858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629275" y="4430911"/>
            <a:ext cx="15443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Refuses harmful requests</a:t>
            </a:r>
            <a:endParaRPr lang="en-US" sz="942" dirty="0"/>
          </a:p>
        </p:txBody>
      </p:sp>
      <p:sp>
        <p:nvSpPr>
          <p:cNvPr id="30" name="Shape 17"/>
          <p:cNvSpPr/>
          <p:nvPr/>
        </p:nvSpPr>
        <p:spPr>
          <a:xfrm>
            <a:off x="3046014" y="4730948"/>
            <a:ext cx="3051972" cy="389334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60327" y="4861322"/>
            <a:ext cx="160734" cy="12858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3492498" y="4838105"/>
            <a:ext cx="4684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Helpful</a:t>
            </a:r>
            <a:endParaRPr lang="en-US" sz="885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75257" y="4861322"/>
            <a:ext cx="128588" cy="12858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4375282" y="4838105"/>
            <a:ext cx="6037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Harmless</a:t>
            </a:r>
            <a:endParaRPr lang="en-US" sz="885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93325" y="4861322"/>
            <a:ext cx="160734" cy="128588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5425497" y="4838105"/>
            <a:ext cx="4581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Honest</a:t>
            </a:r>
            <a:endParaRPr lang="en-US" sz="88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The RLHF Workflow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Reinforcement Learning from Human Feedback (RLHF) is a three-step process that transforms a raw predictor into a helpful assistant.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119908"/>
            <a:ext cx="2387212" cy="250031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119908"/>
            <a:ext cx="2387212" cy="571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622217" y="1977033"/>
            <a:ext cx="285750" cy="285750"/>
          </a:xfrm>
          <a:prstGeom prst="ellipse">
            <a:avLst/>
          </a:prstGeom>
          <a:solidFill>
            <a:srgbClr val="1565C0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622217" y="197703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1850" y="2511028"/>
            <a:ext cx="446484" cy="3571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0094" y="3071813"/>
            <a:ext cx="20300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Supervised Fine-Tuning (SFT)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750094" y="3607594"/>
            <a:ext cx="20300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Train the pre-trained model on high-quality demonstration data to learn the "assistant" format.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1239831" y="4194777"/>
            <a:ext cx="1050550" cy="26431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131" y="4269786"/>
            <a:ext cx="75009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86291" y="4251927"/>
            <a:ext cx="6897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Q&amp;A Datasets</a:t>
            </a:r>
            <a:endParaRPr lang="en-US" sz="683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1587" y="3262908"/>
            <a:ext cx="133945" cy="214313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3378408" y="2119908"/>
            <a:ext cx="2387212" cy="250031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1"/>
          <p:cNvSpPr/>
          <p:nvPr/>
        </p:nvSpPr>
        <p:spPr>
          <a:xfrm>
            <a:off x="3378408" y="2119908"/>
            <a:ext cx="2387212" cy="5715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4429125" y="1977033"/>
            <a:ext cx="285750" cy="285750"/>
          </a:xfrm>
          <a:prstGeom prst="ellipse">
            <a:avLst/>
          </a:prstGeom>
          <a:solidFill>
            <a:srgbClr val="FF9800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4429125" y="197703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8758" y="2511028"/>
            <a:ext cx="446484" cy="3571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765370" y="3071813"/>
            <a:ext cx="1613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Reward Modeling</a:t>
            </a:r>
            <a:endParaRPr lang="en-US" sz="1090" dirty="0"/>
          </a:p>
        </p:txBody>
      </p:sp>
      <p:sp>
        <p:nvSpPr>
          <p:cNvPr id="23" name="Text 15"/>
          <p:cNvSpPr/>
          <p:nvPr/>
        </p:nvSpPr>
        <p:spPr>
          <a:xfrm>
            <a:off x="3557001" y="3393281"/>
            <a:ext cx="20300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Train a separate "Judge Model" to predict human preferences by ranking outputs (A &gt; B).</a:t>
            </a:r>
            <a:endParaRPr lang="en-US" sz="834" dirty="0"/>
          </a:p>
        </p:txBody>
      </p:sp>
      <p:sp>
        <p:nvSpPr>
          <p:cNvPr id="24" name="Shape 16"/>
          <p:cNvSpPr/>
          <p:nvPr/>
        </p:nvSpPr>
        <p:spPr>
          <a:xfrm>
            <a:off x="3946615" y="4177308"/>
            <a:ext cx="1250798" cy="26431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0915" y="4266605"/>
            <a:ext cx="100013" cy="10001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218077" y="4248745"/>
            <a:ext cx="8650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Comparison Data</a:t>
            </a:r>
            <a:endParaRPr lang="en-US" sz="683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8495" y="3262908"/>
            <a:ext cx="133945" cy="214313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185315" y="2119908"/>
            <a:ext cx="2387212" cy="2500313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9"/>
          <p:cNvSpPr/>
          <p:nvPr/>
        </p:nvSpPr>
        <p:spPr>
          <a:xfrm>
            <a:off x="6185315" y="2119908"/>
            <a:ext cx="2387212" cy="57150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0"/>
          <p:cNvSpPr/>
          <p:nvPr/>
        </p:nvSpPr>
        <p:spPr>
          <a:xfrm>
            <a:off x="7236033" y="1977033"/>
            <a:ext cx="285750" cy="285750"/>
          </a:xfrm>
          <a:prstGeom prst="ellipse">
            <a:avLst/>
          </a:prstGeom>
          <a:solidFill>
            <a:srgbClr val="8CC63F"/>
          </a:solidFill>
          <a:ln w="27432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/>
          <p:nvPr/>
        </p:nvSpPr>
        <p:spPr>
          <a:xfrm>
            <a:off x="7236033" y="197703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7990" y="2511028"/>
            <a:ext cx="401836" cy="35718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363909" y="3071813"/>
            <a:ext cx="20300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Reinforcement Learning</a:t>
            </a:r>
            <a:endParaRPr lang="en-US" sz="1090" dirty="0"/>
          </a:p>
        </p:txBody>
      </p:sp>
      <p:sp>
        <p:nvSpPr>
          <p:cNvPr id="34" name="Text 23"/>
          <p:cNvSpPr/>
          <p:nvPr/>
        </p:nvSpPr>
        <p:spPr>
          <a:xfrm>
            <a:off x="6363909" y="3607594"/>
            <a:ext cx="20300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Optimize the SFT model to maximize scores from the Reward Model using PPO.</a:t>
            </a:r>
            <a:endParaRPr lang="en-US" sz="834" dirty="0"/>
          </a:p>
        </p:txBody>
      </p:sp>
      <p:sp>
        <p:nvSpPr>
          <p:cNvPr id="35" name="Shape 24"/>
          <p:cNvSpPr/>
          <p:nvPr/>
        </p:nvSpPr>
        <p:spPr>
          <a:xfrm>
            <a:off x="6803920" y="4194777"/>
            <a:ext cx="1149976" cy="264319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8220" y="4269786"/>
            <a:ext cx="125016" cy="100013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100385" y="4251927"/>
            <a:ext cx="7392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PPO Algorithm</a:t>
            </a:r>
            <a:endParaRPr lang="en-US" sz="683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2751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Training the Reward Model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We can't write a mathematical formula for "helpfulness". Instead, we train a neural network to learn human preferences by example.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259211"/>
            <a:ext cx="2351494" cy="2039541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960360" y="2409230"/>
            <a:ext cx="1573746" cy="246459"/>
          </a:xfrm>
          <a:prstGeom prst="round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60360" y="2409230"/>
            <a:ext cx="1573746" cy="24645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1. Human Labeling</a:t>
            </a:r>
            <a:endParaRPr lang="en-US" sz="885" dirty="0"/>
          </a:p>
        </p:txBody>
      </p:sp>
      <p:sp>
        <p:nvSpPr>
          <p:cNvPr id="9" name="Shape 5"/>
          <p:cNvSpPr/>
          <p:nvPr/>
        </p:nvSpPr>
        <p:spPr>
          <a:xfrm>
            <a:off x="714375" y="2798564"/>
            <a:ext cx="997167" cy="714375"/>
          </a:xfrm>
          <a:prstGeom prst="rect">
            <a:avLst/>
          </a:prstGeom>
          <a:solidFill>
            <a:srgbClr val="F1F8E9"/>
          </a:solidFill>
          <a:ln w="18288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85813" y="2870002"/>
            <a:ext cx="3766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Option A</a:t>
            </a:r>
            <a:endParaRPr lang="en-US" sz="584" dirty="0"/>
          </a:p>
        </p:txBody>
      </p:sp>
      <p:sp>
        <p:nvSpPr>
          <p:cNvPr id="11" name="Text 7"/>
          <p:cNvSpPr/>
          <p:nvPr/>
        </p:nvSpPr>
        <p:spPr>
          <a:xfrm>
            <a:off x="785813" y="2986088"/>
            <a:ext cx="668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777777"/>
                </a:solidFill>
              </a:rPr>
              <a:t>"To bake a cake,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785813" y="2986088"/>
            <a:ext cx="82778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777777"/>
                </a:solidFill>
              </a:rPr>
              <a:t>first preheat..."</a:t>
            </a:r>
            <a:endParaRPr lang="en-US" sz="621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236" y="3362920"/>
            <a:ext cx="114300" cy="1143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768692" y="2798564"/>
            <a:ext cx="1011455" cy="714375"/>
          </a:xfrm>
          <a:prstGeom prst="rect">
            <a:avLst/>
          </a:prstGeom>
          <a:solidFill>
            <a:srgbClr val="FFEBEE">
              <a:alpha val="60000"/>
            </a:srgbClr>
          </a:solidFill>
          <a:ln w="18288">
            <a:solidFill>
              <a:srgbClr val="D32F2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1854417" y="2870002"/>
            <a:ext cx="3751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777777"/>
                </a:solidFill>
              </a:rPr>
              <a:t>Option B</a:t>
            </a:r>
            <a:endParaRPr lang="en-US" sz="584" dirty="0"/>
          </a:p>
        </p:txBody>
      </p:sp>
      <p:sp>
        <p:nvSpPr>
          <p:cNvPr id="16" name="Text 11"/>
          <p:cNvSpPr/>
          <p:nvPr/>
        </p:nvSpPr>
        <p:spPr>
          <a:xfrm>
            <a:off x="1854417" y="2986088"/>
            <a:ext cx="6177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777777"/>
                </a:solidFill>
              </a:rPr>
              <a:t>"Cake is a food</a:t>
            </a:r>
            <a:endParaRPr lang="en-US" sz="621" dirty="0"/>
          </a:p>
        </p:txBody>
      </p:sp>
      <p:sp>
        <p:nvSpPr>
          <p:cNvPr id="17" name="Text 12"/>
          <p:cNvSpPr/>
          <p:nvPr/>
        </p:nvSpPr>
        <p:spPr>
          <a:xfrm>
            <a:off x="1854417" y="2986088"/>
            <a:ext cx="84706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777777"/>
                </a:solidFill>
              </a:rPr>
              <a:t>made from..."</a:t>
            </a:r>
            <a:endParaRPr lang="en-US" sz="621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0128" y="3362920"/>
            <a:ext cx="114300" cy="114300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8639" y="3655814"/>
            <a:ext cx="357188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11092" y="4013002"/>
            <a:ext cx="14723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Human picks the better answer</a:t>
            </a:r>
            <a:endParaRPr lang="en-US" sz="727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5869" y="3171825"/>
            <a:ext cx="187523" cy="214313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3396267" y="2119908"/>
            <a:ext cx="2351494" cy="2318147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3808009" y="2262783"/>
            <a:ext cx="1527981" cy="246459"/>
          </a:xfrm>
          <a:prstGeom prst="round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3808009" y="2262783"/>
            <a:ext cx="1527981" cy="24645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2. Preference Data</a:t>
            </a:r>
            <a:endParaRPr lang="en-US" sz="885" dirty="0"/>
          </a:p>
        </p:txBody>
      </p:sp>
      <p:sp>
        <p:nvSpPr>
          <p:cNvPr id="25" name="Text 17"/>
          <p:cNvSpPr/>
          <p:nvPr/>
        </p:nvSpPr>
        <p:spPr>
          <a:xfrm>
            <a:off x="4213947" y="2866430"/>
            <a:ext cx="716133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8CC63F"/>
                </a:solidFill>
              </a:rPr>
              <a:t>A &gt; B</a:t>
            </a:r>
            <a:endParaRPr lang="en-US" sz="2016" dirty="0"/>
          </a:p>
        </p:txBody>
      </p:sp>
      <p:sp>
        <p:nvSpPr>
          <p:cNvPr id="26" name="Text 18"/>
          <p:cNvSpPr/>
          <p:nvPr/>
        </p:nvSpPr>
        <p:spPr>
          <a:xfrm>
            <a:off x="3866080" y="3470077"/>
            <a:ext cx="141183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Create thousands of pairs:
 (Prompt, Winner, Loser)</a:t>
            </a:r>
            <a:endParaRPr lang="en-US" sz="834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6984" y="3995142"/>
            <a:ext cx="250031" cy="285750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0636" y="3164681"/>
            <a:ext cx="187523" cy="214313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6221034" y="2271713"/>
            <a:ext cx="2351494" cy="2000250"/>
          </a:xfrm>
          <a:prstGeom prst="rect">
            <a:avLst/>
          </a:prstGeom>
          <a:solidFill>
            <a:srgbClr val="F9F9F9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0"/>
          <p:cNvSpPr/>
          <p:nvPr/>
        </p:nvSpPr>
        <p:spPr>
          <a:xfrm>
            <a:off x="6459317" y="2414588"/>
            <a:ext cx="1874900" cy="246459"/>
          </a:xfrm>
          <a:prstGeom prst="round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/>
          <p:nvPr/>
        </p:nvSpPr>
        <p:spPr>
          <a:xfrm>
            <a:off x="6459317" y="2414588"/>
            <a:ext cx="1874900" cy="24645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3. Train Reward Model</a:t>
            </a:r>
            <a:endParaRPr lang="en-US" sz="885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8876" y="2803922"/>
            <a:ext cx="535781" cy="42862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804171" y="3339703"/>
            <a:ext cx="11851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Predicts a scalar score</a:t>
            </a:r>
            <a:endParaRPr lang="en-US" sz="834" dirty="0"/>
          </a:p>
        </p:txBody>
      </p:sp>
      <p:sp>
        <p:nvSpPr>
          <p:cNvPr id="34" name="Shape 23"/>
          <p:cNvSpPr/>
          <p:nvPr/>
        </p:nvSpPr>
        <p:spPr>
          <a:xfrm>
            <a:off x="6803417" y="3602236"/>
            <a:ext cx="1186728" cy="376833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/>
          <p:nvPr/>
        </p:nvSpPr>
        <p:spPr>
          <a:xfrm>
            <a:off x="6803417" y="3602236"/>
            <a:ext cx="1186728" cy="376833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565C0"/>
                </a:solidFill>
              </a:rPr>
              <a:t>Score: 0.95</a:t>
            </a:r>
            <a:endParaRPr lang="en-US" sz="1193" dirty="0"/>
          </a:p>
        </p:txBody>
      </p:sp>
      <p:sp>
        <p:nvSpPr>
          <p:cNvPr id="36" name="Shape 25"/>
          <p:cNvSpPr/>
          <p:nvPr/>
        </p:nvSpPr>
        <p:spPr>
          <a:xfrm>
            <a:off x="571500" y="4709517"/>
            <a:ext cx="8001000" cy="675084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6"/>
          <p:cNvSpPr/>
          <p:nvPr/>
        </p:nvSpPr>
        <p:spPr>
          <a:xfrm>
            <a:off x="571500" y="4709517"/>
            <a:ext cx="42863" cy="675084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" y="4939903"/>
            <a:ext cx="214313" cy="214313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071563" y="4852392"/>
            <a:ext cx="73580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The Automated Judge:</a:t>
            </a:r>
            <a:r>
              <a:rPr lang="en-US" sz="1050" dirty="0">
                <a:solidFill>
                  <a:srgbClr val="333333"/>
                </a:solidFill>
              </a:rPr>
              <a:t> Once trained, this Reward Model replaces the human. It can instantly score millions of generated responses during the RL phase.</a:t>
            </a:r>
            <a:endParaRPr lang="en-US" sz="987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PPO: Policy Optimization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Proximal Policy Optimization (PPO) is the standard algorithm for RLHF. It balances the drive to improve rewards with the need for stability.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1428750" y="2155627"/>
            <a:ext cx="2143125" cy="2000250"/>
          </a:xfrm>
          <a:prstGeom prst="rect">
            <a:avLst/>
          </a:prstGeom>
          <a:solidFill>
            <a:srgbClr val="E8F5E9"/>
          </a:solidFill>
          <a:ln w="18288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2214563" y="2334220"/>
            <a:ext cx="571500" cy="5715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3872" y="2491383"/>
            <a:ext cx="192881" cy="2571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39184" y="3048595"/>
            <a:ext cx="172223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Maximize Reward</a:t>
            </a:r>
            <a:endParaRPr lang="en-US" sz="1193" dirty="0"/>
          </a:p>
        </p:txBody>
      </p:sp>
      <p:sp>
        <p:nvSpPr>
          <p:cNvPr id="10" name="Text 5"/>
          <p:cNvSpPr/>
          <p:nvPr/>
        </p:nvSpPr>
        <p:spPr>
          <a:xfrm>
            <a:off x="1607344" y="3353991"/>
            <a:ext cx="178593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Push the model to generate answers that the Reward Model prefers (Helpful, Safe).</a:t>
            </a:r>
            <a:endParaRPr lang="en-US" sz="834" dirty="0"/>
          </a:p>
        </p:txBody>
      </p:sp>
      <p:sp>
        <p:nvSpPr>
          <p:cNvPr id="11" name="Shape 6"/>
          <p:cNvSpPr/>
          <p:nvPr/>
        </p:nvSpPr>
        <p:spPr>
          <a:xfrm>
            <a:off x="4151551" y="2844105"/>
            <a:ext cx="840898" cy="48756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4151551" y="2844105"/>
            <a:ext cx="840898" cy="487561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PPO</a:t>
            </a:r>
            <a:endParaRPr lang="en-US" sz="1397" dirty="0"/>
          </a:p>
        </p:txBody>
      </p:sp>
      <p:sp>
        <p:nvSpPr>
          <p:cNvPr id="13" name="Text 8"/>
          <p:cNvSpPr/>
          <p:nvPr/>
        </p:nvSpPr>
        <p:spPr>
          <a:xfrm>
            <a:off x="4156518" y="3403104"/>
            <a:ext cx="8309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565C0"/>
                </a:solidFill>
              </a:rPr>
              <a:t>The Balancer</a:t>
            </a:r>
            <a:endParaRPr lang="en-US" sz="683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2703" y="3467398"/>
            <a:ext cx="178594" cy="2857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572125" y="2441377"/>
            <a:ext cx="2143125" cy="2000250"/>
          </a:xfrm>
          <a:prstGeom prst="rect">
            <a:avLst/>
          </a:prstGeom>
          <a:solidFill>
            <a:srgbClr val="F5F5F5"/>
          </a:solidFill>
          <a:ln w="18288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6357938" y="2619970"/>
            <a:ext cx="571500" cy="554757"/>
          </a:xfrm>
          <a:prstGeom prst="ellipse">
            <a:avLst/>
          </a:prstGeom>
          <a:solidFill>
            <a:srgbClr val="FFFFFF"/>
          </a:solidFill>
          <a:ln w="27432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9027" y="2768761"/>
            <a:ext cx="289322" cy="2571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15946" y="3317602"/>
            <a:ext cx="145545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Minimize Drift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5750719" y="3622997"/>
            <a:ext cx="178593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KL Penalty:</a:t>
            </a:r>
            <a:r>
              <a:rPr lang="en-US" sz="834" dirty="0">
                <a:solidFill>
                  <a:srgbClr val="555555"/>
                </a:solidFill>
              </a:rPr>
              <a:t> Prevent the model from changing too much from the original SFT version (Stability).</a:t>
            </a:r>
            <a:endParaRPr lang="en-US" sz="784" dirty="0"/>
          </a:p>
        </p:txBody>
      </p:sp>
      <p:sp>
        <p:nvSpPr>
          <p:cNvPr id="20" name="Shape 13"/>
          <p:cNvSpPr/>
          <p:nvPr/>
        </p:nvSpPr>
        <p:spPr>
          <a:xfrm>
            <a:off x="2677734" y="4500563"/>
            <a:ext cx="3788532" cy="428625"/>
          </a:xfrm>
          <a:prstGeom prst="round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2963484" y="4607719"/>
            <a:ext cx="8754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Objective =</a:t>
            </a:r>
            <a:endParaRPr lang="en-US" sz="1090" dirty="0"/>
          </a:p>
        </p:txBody>
      </p:sp>
      <p:sp>
        <p:nvSpPr>
          <p:cNvPr id="22" name="Text 15"/>
          <p:cNvSpPr/>
          <p:nvPr/>
        </p:nvSpPr>
        <p:spPr>
          <a:xfrm>
            <a:off x="3910338" y="4607719"/>
            <a:ext cx="59064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8CC63F"/>
                </a:solidFill>
              </a:rPr>
              <a:t>Reward</a:t>
            </a:r>
            <a:endParaRPr lang="en-US" sz="1090" dirty="0"/>
          </a:p>
        </p:txBody>
      </p:sp>
      <p:sp>
        <p:nvSpPr>
          <p:cNvPr id="23" name="Text 16"/>
          <p:cNvSpPr/>
          <p:nvPr/>
        </p:nvSpPr>
        <p:spPr>
          <a:xfrm>
            <a:off x="4608137" y="4607719"/>
            <a:ext cx="506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-</a:t>
            </a:r>
            <a:endParaRPr lang="en-US" sz="1090" dirty="0"/>
          </a:p>
        </p:txBody>
      </p:sp>
      <p:sp>
        <p:nvSpPr>
          <p:cNvPr id="24" name="Text 17"/>
          <p:cNvSpPr/>
          <p:nvPr/>
        </p:nvSpPr>
        <p:spPr>
          <a:xfrm>
            <a:off x="4730195" y="4607719"/>
            <a:ext cx="14503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9800"/>
                </a:solidFill>
              </a:rPr>
              <a:t>β * KL(New || Old)</a:t>
            </a:r>
            <a:endParaRPr lang="en-US" sz="109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7747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RLHF Challenges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While powerful, RLHF is not a silver bullet. It introduces new complexities and potential failure modes into the training pipeline.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048470"/>
            <a:ext cx="3893344" cy="1393031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048470"/>
            <a:ext cx="42863" cy="1393031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6238" y="2155627"/>
            <a:ext cx="171450" cy="1714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50094" y="2227064"/>
            <a:ext cx="500063" cy="5000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574" y="2369939"/>
            <a:ext cx="241102" cy="2143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93031" y="2227064"/>
            <a:ext cx="28932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Expensive Labeling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1393031" y="2532459"/>
            <a:ext cx="289321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Requires thousands of hours from highly skilled humans (PhDs, coders). Low-quality data leads to poor models.</a:t>
            </a:r>
            <a:endParaRPr lang="en-US" sz="942" dirty="0"/>
          </a:p>
        </p:txBody>
      </p:sp>
      <p:sp>
        <p:nvSpPr>
          <p:cNvPr id="13" name="Shape 7"/>
          <p:cNvSpPr/>
          <p:nvPr/>
        </p:nvSpPr>
        <p:spPr>
          <a:xfrm>
            <a:off x="4679156" y="2048470"/>
            <a:ext cx="3893344" cy="1393031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4679156" y="2048470"/>
            <a:ext cx="42863" cy="1393031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894" y="2155627"/>
            <a:ext cx="171450" cy="17145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857750" y="2227064"/>
            <a:ext cx="500063" cy="5000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3836" y="2369939"/>
            <a:ext cx="267891" cy="21431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500688" y="2227064"/>
            <a:ext cx="28932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Subjectivity</a:t>
            </a:r>
            <a:endParaRPr lang="en-US" sz="1193" dirty="0"/>
          </a:p>
        </p:txBody>
      </p:sp>
      <p:sp>
        <p:nvSpPr>
          <p:cNvPr id="19" name="Text 11"/>
          <p:cNvSpPr/>
          <p:nvPr/>
        </p:nvSpPr>
        <p:spPr>
          <a:xfrm>
            <a:off x="5500688" y="2532459"/>
            <a:ext cx="289321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Human preferences vary wildly. What is "helpful" to one person might be "verbose" or "biased" to another.</a:t>
            </a:r>
            <a:endParaRPr lang="en-US" sz="942" dirty="0"/>
          </a:p>
        </p:txBody>
      </p:sp>
      <p:sp>
        <p:nvSpPr>
          <p:cNvPr id="20" name="Shape 12"/>
          <p:cNvSpPr/>
          <p:nvPr/>
        </p:nvSpPr>
        <p:spPr>
          <a:xfrm>
            <a:off x="571500" y="3655814"/>
            <a:ext cx="3893344" cy="1393031"/>
          </a:xfrm>
          <a:prstGeom prst="rect">
            <a:avLst/>
          </a:prstGeom>
          <a:solidFill>
            <a:srgbClr val="FFF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571500" y="3655814"/>
            <a:ext cx="42863" cy="1393031"/>
          </a:xfrm>
          <a:prstGeom prst="rect">
            <a:avLst/>
          </a:prstGeom>
          <a:solidFill>
            <a:srgbClr val="FBC0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6238" y="3762970"/>
            <a:ext cx="171450" cy="17145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750094" y="3834408"/>
            <a:ext cx="500063" cy="5000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969" y="3977283"/>
            <a:ext cx="214313" cy="21431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393031" y="3834408"/>
            <a:ext cx="28932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Reward Hacking</a:t>
            </a:r>
            <a:endParaRPr lang="en-US" sz="1193" dirty="0"/>
          </a:p>
        </p:txBody>
      </p:sp>
      <p:sp>
        <p:nvSpPr>
          <p:cNvPr id="26" name="Text 16"/>
          <p:cNvSpPr/>
          <p:nvPr/>
        </p:nvSpPr>
        <p:spPr>
          <a:xfrm>
            <a:off x="1393031" y="4139803"/>
            <a:ext cx="289321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Models learn to "game" the system—e.g., writing long, confident-sounding answers that are actually incorrect (Sycophancy).</a:t>
            </a:r>
            <a:endParaRPr lang="en-US" sz="942" dirty="0"/>
          </a:p>
        </p:txBody>
      </p:sp>
      <p:sp>
        <p:nvSpPr>
          <p:cNvPr id="27" name="Shape 17"/>
          <p:cNvSpPr/>
          <p:nvPr/>
        </p:nvSpPr>
        <p:spPr>
          <a:xfrm>
            <a:off x="4679156" y="3655814"/>
            <a:ext cx="3893344" cy="1393031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8"/>
          <p:cNvSpPr/>
          <p:nvPr/>
        </p:nvSpPr>
        <p:spPr>
          <a:xfrm>
            <a:off x="4679156" y="3655814"/>
            <a:ext cx="42863" cy="1393031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894" y="3762970"/>
            <a:ext cx="171450" cy="17145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4857750" y="3834408"/>
            <a:ext cx="500063" cy="5000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3977283"/>
            <a:ext cx="214313" cy="214313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500688" y="3834408"/>
            <a:ext cx="28932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Distribution Shift</a:t>
            </a:r>
            <a:endParaRPr lang="en-US" sz="1193" dirty="0"/>
          </a:p>
        </p:txBody>
      </p:sp>
      <p:sp>
        <p:nvSpPr>
          <p:cNvPr id="33" name="Text 21"/>
          <p:cNvSpPr/>
          <p:nvPr/>
        </p:nvSpPr>
        <p:spPr>
          <a:xfrm>
            <a:off x="5500688" y="4139803"/>
            <a:ext cx="289321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The Reward Model is trained on static data. As the Policy Model improves, it may drift into areas where the Reward Model is inaccurate.</a:t>
            </a:r>
            <a:endParaRPr lang="en-US" sz="942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3459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RL in Verifiable Domains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Reinforcement Learning works best when there is an objective "ground truth" to optimize against. This is why math and coding are the frontiers of reasoning.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048470"/>
            <a:ext cx="3857625" cy="28575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048470"/>
            <a:ext cx="3857625" cy="5715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270820"/>
            <a:ext cx="257175" cy="2571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0144" y="2262783"/>
            <a:ext cx="224129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Verifiable Domains</a:t>
            </a:r>
            <a:endParaRPr lang="en-US" sz="1397" dirty="0"/>
          </a:p>
        </p:txBody>
      </p:sp>
      <p:sp>
        <p:nvSpPr>
          <p:cNvPr id="10" name="Text 5"/>
          <p:cNvSpPr/>
          <p:nvPr/>
        </p:nvSpPr>
        <p:spPr>
          <a:xfrm>
            <a:off x="785813" y="2678906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Answers can be automatically checked by a computer. The reward signal is clear and objective.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785813" y="3221831"/>
            <a:ext cx="1660922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313807"/>
            <a:ext cx="85725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14413" y="3293269"/>
            <a:ext cx="3015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Math</a:t>
            </a:r>
            <a:endParaRPr lang="en-US" sz="784" dirty="0"/>
          </a:p>
        </p:txBody>
      </p:sp>
      <p:sp>
        <p:nvSpPr>
          <p:cNvPr id="14" name="Shape 8"/>
          <p:cNvSpPr/>
          <p:nvPr/>
        </p:nvSpPr>
        <p:spPr>
          <a:xfrm>
            <a:off x="2553891" y="3221831"/>
            <a:ext cx="1660922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5328" y="3313807"/>
            <a:ext cx="142875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839641" y="3293269"/>
            <a:ext cx="3982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Coding</a:t>
            </a:r>
            <a:endParaRPr lang="en-US" sz="784" dirty="0"/>
          </a:p>
        </p:txBody>
      </p:sp>
      <p:sp>
        <p:nvSpPr>
          <p:cNvPr id="17" name="Shape 10"/>
          <p:cNvSpPr/>
          <p:nvPr/>
        </p:nvSpPr>
        <p:spPr>
          <a:xfrm>
            <a:off x="785813" y="3627239"/>
            <a:ext cx="1660922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719215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42988" y="3698677"/>
            <a:ext cx="388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Games</a:t>
            </a:r>
            <a:endParaRPr lang="en-US" sz="784" dirty="0"/>
          </a:p>
        </p:txBody>
      </p:sp>
      <p:sp>
        <p:nvSpPr>
          <p:cNvPr id="20" name="Shape 12"/>
          <p:cNvSpPr/>
          <p:nvPr/>
        </p:nvSpPr>
        <p:spPr>
          <a:xfrm>
            <a:off x="2553891" y="3627239"/>
            <a:ext cx="1660922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5328" y="3719215"/>
            <a:ext cx="100013" cy="1143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796778" y="3698677"/>
            <a:ext cx="3013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Logic</a:t>
            </a:r>
            <a:endParaRPr lang="en-US" sz="784" dirty="0"/>
          </a:p>
        </p:txBody>
      </p:sp>
      <p:sp>
        <p:nvSpPr>
          <p:cNvPr id="23" name="Shape 14"/>
          <p:cNvSpPr/>
          <p:nvPr/>
        </p:nvSpPr>
        <p:spPr>
          <a:xfrm>
            <a:off x="785813" y="4321969"/>
            <a:ext cx="3429000" cy="369689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5"/>
          <p:cNvSpPr/>
          <p:nvPr/>
        </p:nvSpPr>
        <p:spPr>
          <a:xfrm>
            <a:off x="785813" y="4321969"/>
            <a:ext cx="3429000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Reward: Correct / Incorrect</a:t>
            </a:r>
            <a:endParaRPr lang="en-US" sz="784" dirty="0"/>
          </a:p>
        </p:txBody>
      </p:sp>
      <p:sp>
        <p:nvSpPr>
          <p:cNvPr id="25" name="Shape 16"/>
          <p:cNvSpPr/>
          <p:nvPr/>
        </p:nvSpPr>
        <p:spPr>
          <a:xfrm>
            <a:off x="4714875" y="2048470"/>
            <a:ext cx="3857625" cy="285750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7"/>
          <p:cNvSpPr/>
          <p:nvPr/>
        </p:nvSpPr>
        <p:spPr>
          <a:xfrm>
            <a:off x="4714875" y="2048470"/>
            <a:ext cx="3857625" cy="5715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2270820"/>
            <a:ext cx="257175" cy="25717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293519" y="2262783"/>
            <a:ext cx="22337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Subjective Domains</a:t>
            </a:r>
            <a:endParaRPr lang="en-US" sz="1397" dirty="0"/>
          </a:p>
        </p:txBody>
      </p:sp>
      <p:sp>
        <p:nvSpPr>
          <p:cNvPr id="29" name="Text 19"/>
          <p:cNvSpPr/>
          <p:nvPr/>
        </p:nvSpPr>
        <p:spPr>
          <a:xfrm>
            <a:off x="4929188" y="2678906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Answers depend on human preference, style, or nuance. No automatic way to verify "correctness".</a:t>
            </a:r>
            <a:endParaRPr lang="en-US" sz="1050" dirty="0"/>
          </a:p>
        </p:txBody>
      </p:sp>
      <p:sp>
        <p:nvSpPr>
          <p:cNvPr id="30" name="Shape 20"/>
          <p:cNvSpPr/>
          <p:nvPr/>
        </p:nvSpPr>
        <p:spPr>
          <a:xfrm>
            <a:off x="4929188" y="3221831"/>
            <a:ext cx="1660922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313807"/>
            <a:ext cx="114300" cy="1143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186363" y="3293269"/>
            <a:ext cx="3766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Poetry</a:t>
            </a:r>
            <a:endParaRPr lang="en-US" sz="784" dirty="0"/>
          </a:p>
        </p:txBody>
      </p:sp>
      <p:sp>
        <p:nvSpPr>
          <p:cNvPr id="33" name="Shape 22"/>
          <p:cNvSpPr/>
          <p:nvPr/>
        </p:nvSpPr>
        <p:spPr>
          <a:xfrm>
            <a:off x="6697266" y="3221831"/>
            <a:ext cx="1660922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8703" y="3313807"/>
            <a:ext cx="114300" cy="1143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6954441" y="3293269"/>
            <a:ext cx="3150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Email</a:t>
            </a:r>
            <a:endParaRPr lang="en-US" sz="784" dirty="0"/>
          </a:p>
        </p:txBody>
      </p:sp>
      <p:sp>
        <p:nvSpPr>
          <p:cNvPr id="36" name="Shape 24"/>
          <p:cNvSpPr/>
          <p:nvPr/>
        </p:nvSpPr>
        <p:spPr>
          <a:xfrm>
            <a:off x="4929188" y="3627239"/>
            <a:ext cx="1660922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00625" y="3719215"/>
            <a:ext cx="142875" cy="11430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214938" y="3698677"/>
            <a:ext cx="2665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Chat</a:t>
            </a:r>
            <a:endParaRPr lang="en-US" sz="784" dirty="0"/>
          </a:p>
        </p:txBody>
      </p:sp>
      <p:sp>
        <p:nvSpPr>
          <p:cNvPr id="39" name="Shape 26"/>
          <p:cNvSpPr/>
          <p:nvPr/>
        </p:nvSpPr>
        <p:spPr>
          <a:xfrm>
            <a:off x="6697266" y="3627239"/>
            <a:ext cx="1660922" cy="2982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8703" y="3719215"/>
            <a:ext cx="114300" cy="11430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954441" y="3698677"/>
            <a:ext cx="3391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Ethics</a:t>
            </a:r>
            <a:endParaRPr lang="en-US" sz="784" dirty="0"/>
          </a:p>
        </p:txBody>
      </p:sp>
      <p:sp>
        <p:nvSpPr>
          <p:cNvPr id="42" name="Shape 28"/>
          <p:cNvSpPr/>
          <p:nvPr/>
        </p:nvSpPr>
        <p:spPr>
          <a:xfrm>
            <a:off x="4929188" y="4321969"/>
            <a:ext cx="3429000" cy="369689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29"/>
          <p:cNvSpPr/>
          <p:nvPr/>
        </p:nvSpPr>
        <p:spPr>
          <a:xfrm>
            <a:off x="4929188" y="4321969"/>
            <a:ext cx="3429000" cy="3696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Reward: Human Preference</a:t>
            </a:r>
            <a:endParaRPr lang="en-US" sz="784" dirty="0"/>
          </a:p>
        </p:txBody>
      </p:sp>
      <p:sp>
        <p:nvSpPr>
          <p:cNvPr id="44" name="Shape 30"/>
          <p:cNvSpPr/>
          <p:nvPr/>
        </p:nvSpPr>
        <p:spPr>
          <a:xfrm>
            <a:off x="2085305" y="4730948"/>
            <a:ext cx="4973389" cy="389334"/>
          </a:xfrm>
          <a:prstGeom prst="round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99618" y="4861322"/>
            <a:ext cx="96441" cy="128588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2467496" y="4838105"/>
            <a:ext cx="43768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Reasoning capabilities emerge most powerfully where truth is objective.</a:t>
            </a:r>
            <a:endParaRPr lang="en-US" sz="942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3" y="1062800"/>
            <a:ext cx="714375" cy="714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095127" y="2184369"/>
            <a:ext cx="95374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8CC63F"/>
                </a:solidFill>
              </a:rPr>
              <a:t>Part 9</a:t>
            </a:r>
            <a:endParaRPr lang="en-US" sz="1602" dirty="0"/>
          </a:p>
        </p:txBody>
      </p:sp>
      <p:sp>
        <p:nvSpPr>
          <p:cNvPr id="6" name="Text 1"/>
          <p:cNvSpPr/>
          <p:nvPr/>
        </p:nvSpPr>
        <p:spPr>
          <a:xfrm>
            <a:off x="1892731" y="2639783"/>
            <a:ext cx="5358510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11111"/>
                </a:solidFill>
              </a:rPr>
              <a:t>Future Directions</a:t>
            </a:r>
            <a:endParaRPr lang="en-US" sz="3731" dirty="0"/>
          </a:p>
        </p:txBody>
      </p:sp>
      <p:sp>
        <p:nvSpPr>
          <p:cNvPr id="7" name="Text 2"/>
          <p:cNvSpPr/>
          <p:nvPr/>
        </p:nvSpPr>
        <p:spPr>
          <a:xfrm>
            <a:off x="2277182" y="3905650"/>
            <a:ext cx="458960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Where Large Language Models Are Heading</a:t>
            </a:r>
            <a:endParaRPr lang="en-US" sz="1704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9178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Multimodal Models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The future is not just text. "Native" multimodal models process images, audio, and video as easily as they process words—using a single, unified transformer.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3929063" y="3012877"/>
            <a:ext cx="1285875" cy="1285875"/>
          </a:xfrm>
          <a:prstGeom prst="ellipse">
            <a:avLst/>
          </a:prstGeom>
          <a:solidFill>
            <a:srgbClr val="333333"/>
          </a:solidFill>
          <a:ln w="27432">
            <a:solidFill>
              <a:srgbClr val="8CC6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88" y="3318272"/>
            <a:ext cx="428625" cy="428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45930" y="3818334"/>
            <a:ext cx="10521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Unified Model</a:t>
            </a:r>
            <a:endParaRPr lang="en-US" sz="885" dirty="0"/>
          </a:p>
        </p:txBody>
      </p:sp>
      <p:sp>
        <p:nvSpPr>
          <p:cNvPr id="9" name="Shape 4"/>
          <p:cNvSpPr/>
          <p:nvPr/>
        </p:nvSpPr>
        <p:spPr>
          <a:xfrm>
            <a:off x="1285875" y="2191345"/>
            <a:ext cx="2000250" cy="77615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1285875" y="2191345"/>
            <a:ext cx="42863" cy="776157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1428750" y="2365111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552" y="2479411"/>
            <a:ext cx="175022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64531" y="2334220"/>
            <a:ext cx="11787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Text</a:t>
            </a:r>
            <a:endParaRPr lang="en-US" sz="987" dirty="0"/>
          </a:p>
        </p:txBody>
      </p:sp>
      <p:sp>
        <p:nvSpPr>
          <p:cNvPr id="14" name="Text 8"/>
          <p:cNvSpPr/>
          <p:nvPr/>
        </p:nvSpPr>
        <p:spPr>
          <a:xfrm>
            <a:off x="1964531" y="2564606"/>
            <a:ext cx="117871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Reasoning, Coding, Translation</a:t>
            </a:r>
            <a:endParaRPr lang="en-US" sz="727" dirty="0"/>
          </a:p>
        </p:txBody>
      </p:sp>
      <p:sp>
        <p:nvSpPr>
          <p:cNvPr id="15" name="Shape 9"/>
          <p:cNvSpPr/>
          <p:nvPr/>
        </p:nvSpPr>
        <p:spPr>
          <a:xfrm>
            <a:off x="5857875" y="2191345"/>
            <a:ext cx="2000250" cy="77615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5857875" y="2191345"/>
            <a:ext cx="42863" cy="776157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000750" y="2365111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2548" y="2479411"/>
            <a:ext cx="225028" cy="2000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36531" y="2334220"/>
            <a:ext cx="11787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Vision</a:t>
            </a:r>
            <a:endParaRPr lang="en-US" sz="987" dirty="0"/>
          </a:p>
        </p:txBody>
      </p:sp>
      <p:sp>
        <p:nvSpPr>
          <p:cNvPr id="20" name="Text 13"/>
          <p:cNvSpPr/>
          <p:nvPr/>
        </p:nvSpPr>
        <p:spPr>
          <a:xfrm>
            <a:off x="6536531" y="2564606"/>
            <a:ext cx="117871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Image Analysis, OCR, Object Detection</a:t>
            </a:r>
            <a:endParaRPr lang="en-US" sz="727" dirty="0"/>
          </a:p>
        </p:txBody>
      </p:sp>
      <p:sp>
        <p:nvSpPr>
          <p:cNvPr id="21" name="Shape 14"/>
          <p:cNvSpPr/>
          <p:nvPr/>
        </p:nvSpPr>
        <p:spPr>
          <a:xfrm>
            <a:off x="1285875" y="4344126"/>
            <a:ext cx="2000250" cy="77615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1285875" y="4344126"/>
            <a:ext cx="42863" cy="776157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1428750" y="4517892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8053" y="4632192"/>
            <a:ext cx="150019" cy="2000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964531" y="4487001"/>
            <a:ext cx="11787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Audio</a:t>
            </a:r>
            <a:endParaRPr lang="en-US" sz="987" dirty="0"/>
          </a:p>
        </p:txBody>
      </p:sp>
      <p:sp>
        <p:nvSpPr>
          <p:cNvPr id="26" name="Text 18"/>
          <p:cNvSpPr/>
          <p:nvPr/>
        </p:nvSpPr>
        <p:spPr>
          <a:xfrm>
            <a:off x="1964531" y="4717386"/>
            <a:ext cx="117871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Speech-to-Text, Voice Synthesis, Music</a:t>
            </a:r>
            <a:endParaRPr lang="en-US" sz="727" dirty="0"/>
          </a:p>
        </p:txBody>
      </p:sp>
      <p:sp>
        <p:nvSpPr>
          <p:cNvPr id="27" name="Shape 19"/>
          <p:cNvSpPr/>
          <p:nvPr/>
        </p:nvSpPr>
        <p:spPr>
          <a:xfrm>
            <a:off x="5857875" y="4214115"/>
            <a:ext cx="2000250" cy="906168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5857875" y="4214115"/>
            <a:ext cx="42863" cy="906168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6000750" y="4452872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2548" y="4567172"/>
            <a:ext cx="225028" cy="20002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536531" y="4356990"/>
            <a:ext cx="11787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Video</a:t>
            </a:r>
            <a:endParaRPr lang="en-US" sz="987" dirty="0"/>
          </a:p>
        </p:txBody>
      </p:sp>
      <p:sp>
        <p:nvSpPr>
          <p:cNvPr id="32" name="Text 23"/>
          <p:cNvSpPr/>
          <p:nvPr/>
        </p:nvSpPr>
        <p:spPr>
          <a:xfrm>
            <a:off x="6536531" y="4587376"/>
            <a:ext cx="1178719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Temporal Understanding, Motion Generation</a:t>
            </a:r>
            <a:endParaRPr lang="en-US" sz="727" dirty="0"/>
          </a:p>
        </p:txBody>
      </p:sp>
      <p:sp>
        <p:nvSpPr>
          <p:cNvPr id="33" name="Shape 24"/>
          <p:cNvSpPr/>
          <p:nvPr/>
        </p:nvSpPr>
        <p:spPr>
          <a:xfrm>
            <a:off x="3232352" y="5159573"/>
            <a:ext cx="2679297" cy="317897"/>
          </a:xfrm>
          <a:prstGeom prst="round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5"/>
          <p:cNvSpPr/>
          <p:nvPr/>
        </p:nvSpPr>
        <p:spPr>
          <a:xfrm>
            <a:off x="3232352" y="5159573"/>
            <a:ext cx="2679297" cy="317897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565C0"/>
                </a:solidFill>
              </a:rPr>
              <a:t>One Model. Any Input. Any Output.</a:t>
            </a:r>
            <a:endParaRPr lang="en-US" sz="88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2034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AI Agents: From Chatbots to Actors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An "Agent" is an LLM that can actively interact with the world. It uses the model as a reasoning engine to control tools and execute complex tasks.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3929063" y="2941439"/>
            <a:ext cx="1285875" cy="1285875"/>
          </a:xfrm>
          <a:prstGeom prst="ellipse">
            <a:avLst/>
          </a:prstGeom>
          <a:solidFill>
            <a:srgbClr val="1565C0"/>
          </a:solidFill>
          <a:ln w="54864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688" y="3237012"/>
            <a:ext cx="428625" cy="428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11715" y="3737074"/>
            <a:ext cx="7205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LLM Core</a:t>
            </a:r>
            <a:endParaRPr lang="en-US" sz="987" dirty="0"/>
          </a:p>
        </p:txBody>
      </p:sp>
      <p:sp>
        <p:nvSpPr>
          <p:cNvPr id="9" name="Shape 4"/>
          <p:cNvSpPr/>
          <p:nvPr/>
        </p:nvSpPr>
        <p:spPr>
          <a:xfrm>
            <a:off x="1285875" y="2119908"/>
            <a:ext cx="1857375" cy="129332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1285875" y="2119908"/>
            <a:ext cx="42863" cy="1293326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" y="2262783"/>
            <a:ext cx="1571625" cy="2143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28750" y="2584252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Tools (Action)</a:t>
            </a:r>
            <a:endParaRPr lang="en-US" sz="987" dirty="0"/>
          </a:p>
        </p:txBody>
      </p:sp>
      <p:sp>
        <p:nvSpPr>
          <p:cNvPr id="13" name="Text 7"/>
          <p:cNvSpPr/>
          <p:nvPr/>
        </p:nvSpPr>
        <p:spPr>
          <a:xfrm>
            <a:off x="1428750" y="2850356"/>
            <a:ext cx="157162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Web Browser, Python Interpreter, Calculator, APIs. The "hands" of the agent.</a:t>
            </a:r>
            <a:endParaRPr lang="en-US" sz="727" dirty="0"/>
          </a:p>
        </p:txBody>
      </p:sp>
      <p:sp>
        <p:nvSpPr>
          <p:cNvPr id="14" name="Shape 8"/>
          <p:cNvSpPr/>
          <p:nvPr/>
        </p:nvSpPr>
        <p:spPr>
          <a:xfrm>
            <a:off x="6000750" y="2119908"/>
            <a:ext cx="1857375" cy="1293326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6000750" y="2119908"/>
            <a:ext cx="42863" cy="1293326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25" y="2262783"/>
            <a:ext cx="1571625" cy="2143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43625" y="2584252"/>
            <a:ext cx="1571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Planning</a:t>
            </a:r>
            <a:endParaRPr lang="en-US" sz="987" dirty="0"/>
          </a:p>
        </p:txBody>
      </p:sp>
      <p:sp>
        <p:nvSpPr>
          <p:cNvPr id="18" name="Text 11"/>
          <p:cNvSpPr/>
          <p:nvPr/>
        </p:nvSpPr>
        <p:spPr>
          <a:xfrm>
            <a:off x="6143625" y="2850356"/>
            <a:ext cx="157162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Decomposition, Self-Reflection, ReAct (Reasoning + Acting). The "strategy".</a:t>
            </a:r>
            <a:endParaRPr lang="en-US" sz="727" dirty="0"/>
          </a:p>
        </p:txBody>
      </p:sp>
      <p:sp>
        <p:nvSpPr>
          <p:cNvPr id="19" name="Shape 12"/>
          <p:cNvSpPr/>
          <p:nvPr/>
        </p:nvSpPr>
        <p:spPr>
          <a:xfrm>
            <a:off x="3500438" y="3895520"/>
            <a:ext cx="2143125" cy="115332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3500438" y="3895520"/>
            <a:ext cx="42863" cy="1153325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3313" y="4038395"/>
            <a:ext cx="1857375" cy="21431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43313" y="4359864"/>
            <a:ext cx="1857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Memory</a:t>
            </a:r>
            <a:endParaRPr lang="en-US" sz="987" dirty="0"/>
          </a:p>
        </p:txBody>
      </p:sp>
      <p:sp>
        <p:nvSpPr>
          <p:cNvPr id="23" name="Text 15"/>
          <p:cNvSpPr/>
          <p:nvPr/>
        </p:nvSpPr>
        <p:spPr>
          <a:xfrm>
            <a:off x="3643313" y="4625969"/>
            <a:ext cx="18573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Vector Databases (RAG), Short-term context. The "experience".</a:t>
            </a:r>
            <a:endParaRPr lang="en-US" sz="727" dirty="0"/>
          </a:p>
        </p:txBody>
      </p:sp>
      <p:sp>
        <p:nvSpPr>
          <p:cNvPr id="24" name="Shape 16"/>
          <p:cNvSpPr/>
          <p:nvPr/>
        </p:nvSpPr>
        <p:spPr>
          <a:xfrm>
            <a:off x="4265781" y="2691408"/>
            <a:ext cx="612437" cy="187523"/>
          </a:xfrm>
          <a:prstGeom prst="round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4265781" y="2691408"/>
            <a:ext cx="612437" cy="187523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Perceive</a:t>
            </a:r>
            <a:endParaRPr lang="en-US" sz="584" dirty="0"/>
          </a:p>
        </p:txBody>
      </p:sp>
      <p:sp>
        <p:nvSpPr>
          <p:cNvPr id="26" name="Shape 18"/>
          <p:cNvSpPr/>
          <p:nvPr/>
        </p:nvSpPr>
        <p:spPr>
          <a:xfrm>
            <a:off x="2714625" y="4289822"/>
            <a:ext cx="375996" cy="187523"/>
          </a:xfrm>
          <a:prstGeom prst="round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2714625" y="4289822"/>
            <a:ext cx="375996" cy="187523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Act</a:t>
            </a:r>
            <a:endParaRPr lang="en-US" sz="584" dirty="0"/>
          </a:p>
        </p:txBody>
      </p:sp>
      <p:sp>
        <p:nvSpPr>
          <p:cNvPr id="28" name="Shape 20"/>
          <p:cNvSpPr/>
          <p:nvPr/>
        </p:nvSpPr>
        <p:spPr>
          <a:xfrm>
            <a:off x="5833653" y="4289822"/>
            <a:ext cx="595722" cy="187523"/>
          </a:xfrm>
          <a:prstGeom prst="round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5833653" y="4289822"/>
            <a:ext cx="595722" cy="187523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Observe</a:t>
            </a:r>
            <a:endParaRPr lang="en-US" sz="584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073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Advanced Prompting Techniques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1805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Prompt engineering has evolved from simple instructions to complex cognitive architectures that guide the model's reasoning process.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1734145"/>
            <a:ext cx="8001000" cy="74685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1734145"/>
            <a:ext cx="42863" cy="746857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2938" y="1805583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736" y="1919883"/>
            <a:ext cx="225028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5875" y="1805583"/>
            <a:ext cx="184961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Few-Shot Learning</a:t>
            </a:r>
            <a:endParaRPr lang="en-US" sz="1193" dirty="0"/>
          </a:p>
        </p:txBody>
      </p:sp>
      <p:sp>
        <p:nvSpPr>
          <p:cNvPr id="11" name="Shape 6"/>
          <p:cNvSpPr/>
          <p:nvPr/>
        </p:nvSpPr>
        <p:spPr>
          <a:xfrm>
            <a:off x="3242649" y="1826121"/>
            <a:ext cx="1246222" cy="192881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3242649" y="1826121"/>
            <a:ext cx="1246222" cy="19288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Example 1, Example 2...</a:t>
            </a:r>
            <a:endParaRPr lang="en-US" sz="727" dirty="0"/>
          </a:p>
        </p:txBody>
      </p:sp>
      <p:sp>
        <p:nvSpPr>
          <p:cNvPr id="13" name="Text 8"/>
          <p:cNvSpPr/>
          <p:nvPr/>
        </p:nvSpPr>
        <p:spPr>
          <a:xfrm>
            <a:off x="1285875" y="2075259"/>
            <a:ext cx="721518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Providing explicit examples in the context window to teach the model the desired input-output format and style without retraining.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571500" y="2566727"/>
            <a:ext cx="8001000" cy="74685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571500" y="2566727"/>
            <a:ext cx="42863" cy="746857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42938" y="2638165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234" y="2752465"/>
            <a:ext cx="250031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5875" y="2638165"/>
            <a:ext cx="22837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Chain-of-Thought (CoT)</a:t>
            </a:r>
            <a:endParaRPr lang="en-US" sz="1193" dirty="0"/>
          </a:p>
        </p:txBody>
      </p:sp>
      <p:sp>
        <p:nvSpPr>
          <p:cNvPr id="19" name="Shape 13"/>
          <p:cNvSpPr/>
          <p:nvPr/>
        </p:nvSpPr>
        <p:spPr>
          <a:xfrm>
            <a:off x="3676771" y="2658703"/>
            <a:ext cx="1295140" cy="192881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3676771" y="2658703"/>
            <a:ext cx="1295140" cy="19288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"Let's think step by step"</a:t>
            </a:r>
            <a:endParaRPr lang="en-US" sz="727" dirty="0"/>
          </a:p>
        </p:txBody>
      </p:sp>
      <p:sp>
        <p:nvSpPr>
          <p:cNvPr id="21" name="Text 15"/>
          <p:cNvSpPr/>
          <p:nvPr/>
        </p:nvSpPr>
        <p:spPr>
          <a:xfrm>
            <a:off x="1285875" y="2907841"/>
            <a:ext cx="721518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Prompting the model to generate intermediate reasoning steps before the final answer, significantly improving performance on logic and math.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571500" y="3399309"/>
            <a:ext cx="8001000" cy="74685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71500" y="3399309"/>
            <a:ext cx="42863" cy="746857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42938" y="3470746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736" y="3585046"/>
            <a:ext cx="225028" cy="2000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85875" y="3470746"/>
            <a:ext cx="166410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Self-Consistency</a:t>
            </a:r>
            <a:endParaRPr lang="en-US" sz="1193" dirty="0"/>
          </a:p>
        </p:txBody>
      </p:sp>
      <p:sp>
        <p:nvSpPr>
          <p:cNvPr id="27" name="Shape 20"/>
          <p:cNvSpPr/>
          <p:nvPr/>
        </p:nvSpPr>
        <p:spPr>
          <a:xfrm>
            <a:off x="3057134" y="3491285"/>
            <a:ext cx="767255" cy="192881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3057134" y="3491285"/>
            <a:ext cx="767255" cy="19288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Majority Vote</a:t>
            </a:r>
            <a:endParaRPr lang="en-US" sz="727" dirty="0"/>
          </a:p>
        </p:txBody>
      </p:sp>
      <p:sp>
        <p:nvSpPr>
          <p:cNvPr id="29" name="Text 22"/>
          <p:cNvSpPr/>
          <p:nvPr/>
        </p:nvSpPr>
        <p:spPr>
          <a:xfrm>
            <a:off x="1285875" y="3740423"/>
            <a:ext cx="721518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Generating multiple reasoning paths for the same question and selecting the most consistent final answer (marginalizing out reasoning errors).</a:t>
            </a:r>
            <a:endParaRPr lang="en-US" sz="942" dirty="0"/>
          </a:p>
        </p:txBody>
      </p:sp>
      <p:sp>
        <p:nvSpPr>
          <p:cNvPr id="30" name="Shape 23"/>
          <p:cNvSpPr/>
          <p:nvPr/>
        </p:nvSpPr>
        <p:spPr>
          <a:xfrm>
            <a:off x="571500" y="4231891"/>
            <a:ext cx="8001000" cy="74685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571500" y="4231891"/>
            <a:ext cx="42863" cy="746857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642938" y="4303328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736" y="4417628"/>
            <a:ext cx="225028" cy="20002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285875" y="4303328"/>
            <a:ext cx="21928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Tree-of-Thoughts (ToT)</a:t>
            </a:r>
            <a:endParaRPr lang="en-US" sz="1193" dirty="0"/>
          </a:p>
        </p:txBody>
      </p:sp>
      <p:sp>
        <p:nvSpPr>
          <p:cNvPr id="35" name="Shape 27"/>
          <p:cNvSpPr/>
          <p:nvPr/>
        </p:nvSpPr>
        <p:spPr>
          <a:xfrm>
            <a:off x="3585883" y="4323866"/>
            <a:ext cx="1040113" cy="192881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3585883" y="4323866"/>
            <a:ext cx="1040113" cy="192881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Search &amp; Backtrack</a:t>
            </a:r>
            <a:endParaRPr lang="en-US" sz="727" dirty="0"/>
          </a:p>
        </p:txBody>
      </p:sp>
      <p:sp>
        <p:nvSpPr>
          <p:cNvPr id="37" name="Text 29"/>
          <p:cNvSpPr/>
          <p:nvPr/>
        </p:nvSpPr>
        <p:spPr>
          <a:xfrm>
            <a:off x="1285875" y="4573005"/>
            <a:ext cx="7215188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Deliberately exploring multiple branches of reasoning, evaluating the promise of each, and backtracking from dead ends (like a chess engine).</a:t>
            </a:r>
            <a:endParaRPr lang="en-US" sz="942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Scaling Context Length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The "Context Window" defines how much information a model can hold in memory at once. We have moved from processing single articles to entire libraries.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119908"/>
            <a:ext cx="8001000" cy="2500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4591645"/>
            <a:ext cx="8001000" cy="28575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071563" y="3941564"/>
            <a:ext cx="428625" cy="285750"/>
          </a:xfrm>
          <a:prstGeom prst="rect">
            <a:avLst/>
          </a:prstGeom>
          <a:solidFill>
            <a:srgbClr val="90C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071563" y="3584377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508" y="3691533"/>
            <a:ext cx="160734" cy="2143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1500" y="4348758"/>
            <a:ext cx="1428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GPT-2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571500" y="4579144"/>
            <a:ext cx="1428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</a:rPr>
              <a:t>1K Tokens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571500" y="4770239"/>
            <a:ext cx="1428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1 Article</a:t>
            </a:r>
            <a:endParaRPr lang="en-US" sz="727" dirty="0"/>
          </a:p>
        </p:txBody>
      </p:sp>
      <p:sp>
        <p:nvSpPr>
          <p:cNvPr id="14" name="Shape 9"/>
          <p:cNvSpPr/>
          <p:nvPr/>
        </p:nvSpPr>
        <p:spPr>
          <a:xfrm>
            <a:off x="3262294" y="3655814"/>
            <a:ext cx="428625" cy="571500"/>
          </a:xfrm>
          <a:prstGeom prst="rect">
            <a:avLst/>
          </a:prstGeom>
          <a:solidFill>
            <a:srgbClr val="64B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262294" y="3298627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6056" y="3405783"/>
            <a:ext cx="241102" cy="2143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762231" y="4348758"/>
            <a:ext cx="1428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GPT-3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2762231" y="4579144"/>
            <a:ext cx="1428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</a:rPr>
              <a:t>2K - 4K Tokens</a:t>
            </a:r>
            <a:endParaRPr lang="en-US" sz="784" dirty="0"/>
          </a:p>
        </p:txBody>
      </p:sp>
      <p:sp>
        <p:nvSpPr>
          <p:cNvPr id="19" name="Text 13"/>
          <p:cNvSpPr/>
          <p:nvPr/>
        </p:nvSpPr>
        <p:spPr>
          <a:xfrm>
            <a:off x="2762231" y="4770239"/>
            <a:ext cx="1428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Short Essay</a:t>
            </a:r>
            <a:endParaRPr lang="en-US" sz="727" dirty="0"/>
          </a:p>
        </p:txBody>
      </p:sp>
      <p:sp>
        <p:nvSpPr>
          <p:cNvPr id="20" name="Shape 14"/>
          <p:cNvSpPr/>
          <p:nvPr/>
        </p:nvSpPr>
        <p:spPr>
          <a:xfrm>
            <a:off x="5453025" y="3084314"/>
            <a:ext cx="428625" cy="114300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453025" y="2727127"/>
            <a:ext cx="428625" cy="428625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3576" y="2834283"/>
            <a:ext cx="187523" cy="21431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952963" y="4348758"/>
            <a:ext cx="1428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GPT-4</a:t>
            </a:r>
            <a:endParaRPr lang="en-US" sz="987" dirty="0"/>
          </a:p>
        </p:txBody>
      </p:sp>
      <p:sp>
        <p:nvSpPr>
          <p:cNvPr id="24" name="Text 17"/>
          <p:cNvSpPr/>
          <p:nvPr/>
        </p:nvSpPr>
        <p:spPr>
          <a:xfrm>
            <a:off x="4952963" y="4579144"/>
            <a:ext cx="1428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</a:rPr>
              <a:t>128K Tokens</a:t>
            </a:r>
            <a:endParaRPr lang="en-US" sz="784" dirty="0"/>
          </a:p>
        </p:txBody>
      </p:sp>
      <p:sp>
        <p:nvSpPr>
          <p:cNvPr id="25" name="Text 18"/>
          <p:cNvSpPr/>
          <p:nvPr/>
        </p:nvSpPr>
        <p:spPr>
          <a:xfrm>
            <a:off x="4952963" y="4770239"/>
            <a:ext cx="1428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Full Novel</a:t>
            </a:r>
            <a:endParaRPr lang="en-US" sz="727" dirty="0"/>
          </a:p>
        </p:txBody>
      </p:sp>
      <p:sp>
        <p:nvSpPr>
          <p:cNvPr id="26" name="Shape 19"/>
          <p:cNvSpPr/>
          <p:nvPr/>
        </p:nvSpPr>
        <p:spPr>
          <a:xfrm>
            <a:off x="7643757" y="2227064"/>
            <a:ext cx="428625" cy="200025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7643757" y="1869877"/>
            <a:ext cx="428625" cy="428625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0913" y="1977033"/>
            <a:ext cx="214313" cy="21431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43694" y="4213027"/>
            <a:ext cx="1428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Gemini 1.5</a:t>
            </a:r>
            <a:endParaRPr lang="en-US" sz="987" dirty="0"/>
          </a:p>
        </p:txBody>
      </p:sp>
      <p:sp>
        <p:nvSpPr>
          <p:cNvPr id="30" name="Text 22"/>
          <p:cNvSpPr/>
          <p:nvPr/>
        </p:nvSpPr>
        <p:spPr>
          <a:xfrm>
            <a:off x="7143694" y="4443413"/>
            <a:ext cx="1428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565C0"/>
                </a:solidFill>
              </a:rPr>
              <a:t>1M - 10M+</a:t>
            </a:r>
            <a:endParaRPr lang="en-US" sz="784" dirty="0"/>
          </a:p>
        </p:txBody>
      </p:sp>
      <p:sp>
        <p:nvSpPr>
          <p:cNvPr id="31" name="Text 23"/>
          <p:cNvSpPr/>
          <p:nvPr/>
        </p:nvSpPr>
        <p:spPr>
          <a:xfrm>
            <a:off x="7143694" y="4634508"/>
            <a:ext cx="14287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Entire Codebase
Hours of Video</a:t>
            </a:r>
            <a:endParaRPr lang="en-US" sz="727" dirty="0"/>
          </a:p>
        </p:txBody>
      </p:sp>
      <p:sp>
        <p:nvSpPr>
          <p:cNvPr id="32" name="Shape 24"/>
          <p:cNvSpPr/>
          <p:nvPr/>
        </p:nvSpPr>
        <p:spPr>
          <a:xfrm>
            <a:off x="6072188" y="1071563"/>
            <a:ext cx="2500313" cy="1451939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6072188" y="1071563"/>
            <a:ext cx="42863" cy="1451939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5063" y="1240334"/>
            <a:ext cx="107156" cy="14287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393656" y="1214438"/>
            <a:ext cx="83498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The Impact</a:t>
            </a:r>
            <a:endParaRPr lang="en-US" sz="987" dirty="0"/>
          </a:p>
        </p:txBody>
      </p:sp>
      <p:sp>
        <p:nvSpPr>
          <p:cNvPr id="36" name="Text 27"/>
          <p:cNvSpPr/>
          <p:nvPr/>
        </p:nvSpPr>
        <p:spPr>
          <a:xfrm>
            <a:off x="6215063" y="1480542"/>
            <a:ext cx="2214563" cy="90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Massive context windows allow for </a:t>
            </a:r>
            <a:r>
              <a:rPr lang="en-US" sz="885" b="1" dirty="0">
                <a:solidFill>
                  <a:srgbClr val="555555"/>
                </a:solidFill>
              </a:rPr>
              <a:t>"In-Context Learning"</a:t>
            </a:r>
            <a:r>
              <a:rPr lang="en-US" sz="942" dirty="0">
                <a:solidFill>
                  <a:srgbClr val="555555"/>
                </a:solidFill>
              </a:rPr>
              <a:t> on a grand scale. Instead of fine-tuning a model, you can simply paste the entire manual into the prompt.</a:t>
            </a:r>
            <a:endParaRPr lang="en-US" sz="942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2034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Efficiency and Compression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To deploy LLMs everywhere, we must make them smaller and faster without losing intelligence.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119908"/>
            <a:ext cx="2524116" cy="228600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119908"/>
            <a:ext cx="2524116" cy="4286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583513" y="2298502"/>
            <a:ext cx="500063" cy="424383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6388" y="2403537"/>
            <a:ext cx="214313" cy="2143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2247" y="2865760"/>
            <a:ext cx="138259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Quantization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750094" y="3206874"/>
            <a:ext cx="216692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Reducing numerical precision from 16-bit floats to 4-bit integers. Drastically reduces memory usage with minimal quality loss.</a:t>
            </a:r>
            <a:endParaRPr lang="en-US" sz="834" dirty="0"/>
          </a:p>
        </p:txBody>
      </p:sp>
      <p:sp>
        <p:nvSpPr>
          <p:cNvPr id="12" name="Shape 7"/>
          <p:cNvSpPr/>
          <p:nvPr/>
        </p:nvSpPr>
        <p:spPr>
          <a:xfrm>
            <a:off x="1102454" y="3954066"/>
            <a:ext cx="1462181" cy="273248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1102454" y="3954066"/>
            <a:ext cx="1462181" cy="273248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FP16 → INT4 (4x Smaller)</a:t>
            </a:r>
            <a:endParaRPr lang="en-US" sz="683" dirty="0"/>
          </a:p>
        </p:txBody>
      </p:sp>
      <p:sp>
        <p:nvSpPr>
          <p:cNvPr id="14" name="Shape 9"/>
          <p:cNvSpPr/>
          <p:nvPr/>
        </p:nvSpPr>
        <p:spPr>
          <a:xfrm>
            <a:off x="3309928" y="2119908"/>
            <a:ext cx="2524116" cy="228600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3309928" y="2119908"/>
            <a:ext cx="2524116" cy="42863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321941" y="2298502"/>
            <a:ext cx="500063" cy="5000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8210" y="2441377"/>
            <a:ext cx="187523" cy="2143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49266" y="2941439"/>
            <a:ext cx="124541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Distillation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3488522" y="3282553"/>
            <a:ext cx="216692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Training a small "Student" model to mimic the outputs of a massive "Teacher" model (like GPT-4).</a:t>
            </a:r>
            <a:endParaRPr lang="en-US" sz="834" dirty="0"/>
          </a:p>
        </p:txBody>
      </p:sp>
      <p:sp>
        <p:nvSpPr>
          <p:cNvPr id="20" name="Shape 14"/>
          <p:cNvSpPr/>
          <p:nvPr/>
        </p:nvSpPr>
        <p:spPr>
          <a:xfrm>
            <a:off x="3987775" y="3954066"/>
            <a:ext cx="1168422" cy="273248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3987775" y="3954066"/>
            <a:ext cx="1168422" cy="273248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Teacher → Student</a:t>
            </a:r>
            <a:endParaRPr lang="en-US" sz="683" dirty="0"/>
          </a:p>
        </p:txBody>
      </p:sp>
      <p:sp>
        <p:nvSpPr>
          <p:cNvPr id="22" name="Shape 16"/>
          <p:cNvSpPr/>
          <p:nvPr/>
        </p:nvSpPr>
        <p:spPr>
          <a:xfrm>
            <a:off x="6048356" y="2119908"/>
            <a:ext cx="2524116" cy="2286000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048356" y="2119908"/>
            <a:ext cx="2524116" cy="4286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060369" y="2298502"/>
            <a:ext cx="500063" cy="50006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3244" y="2441377"/>
            <a:ext cx="214313" cy="21431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89142" y="2941439"/>
            <a:ext cx="84251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Pruning</a:t>
            </a:r>
            <a:endParaRPr lang="en-US" sz="1193" dirty="0"/>
          </a:p>
        </p:txBody>
      </p:sp>
      <p:sp>
        <p:nvSpPr>
          <p:cNvPr id="27" name="Text 20"/>
          <p:cNvSpPr/>
          <p:nvPr/>
        </p:nvSpPr>
        <p:spPr>
          <a:xfrm>
            <a:off x="6226950" y="3282553"/>
            <a:ext cx="216692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Identifying and removing neurons or connections that contribute little to the model's performance.</a:t>
            </a:r>
            <a:endParaRPr lang="en-US" sz="834" dirty="0"/>
          </a:p>
        </p:txBody>
      </p:sp>
      <p:sp>
        <p:nvSpPr>
          <p:cNvPr id="28" name="Shape 21"/>
          <p:cNvSpPr/>
          <p:nvPr/>
        </p:nvSpPr>
        <p:spPr>
          <a:xfrm>
            <a:off x="6600713" y="3962995"/>
            <a:ext cx="1419374" cy="264319"/>
          </a:xfrm>
          <a:prstGeom prst="rect">
            <a:avLst/>
          </a:prstGeom>
          <a:solidFill>
            <a:srgbClr val="FFFFFF"/>
          </a:solidFill>
          <a:ln w="9144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6600713" y="3962995"/>
            <a:ext cx="1419374" cy="264319"/>
          </a:xfrm>
          <a:prstGeom prst="rect">
            <a:avLst/>
          </a:prstGeom>
          <a:noFill/>
          <a:ln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Remove Sparse Weights</a:t>
            </a:r>
            <a:endParaRPr lang="en-US" sz="683" dirty="0"/>
          </a:p>
        </p:txBody>
      </p:sp>
      <p:sp>
        <p:nvSpPr>
          <p:cNvPr id="30" name="Shape 23"/>
          <p:cNvSpPr/>
          <p:nvPr/>
        </p:nvSpPr>
        <p:spPr>
          <a:xfrm>
            <a:off x="571500" y="4691658"/>
            <a:ext cx="8001000" cy="50006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857250" y="4844355"/>
            <a:ext cx="47047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The Result: Running powerful LLMs locally on laptops and phones.</a:t>
            </a:r>
            <a:endParaRPr lang="en-US" sz="987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8859" y="4834533"/>
            <a:ext cx="267891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Safety and Alignment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As models become more capable, ensuring they remain beneficial and controllable is the primary challenge.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119908"/>
            <a:ext cx="2524116" cy="250031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119908"/>
            <a:ext cx="2524116" cy="4286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547794" y="2334220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8883" y="2491383"/>
            <a:ext cx="289322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3832" y="3084314"/>
            <a:ext cx="18194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Constitutional AI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785813" y="3425428"/>
            <a:ext cx="2095491" cy="90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Giving the model a set of principles (a "constitution") to critique and revise its own outputs, scaling oversight beyond human limits.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3309928" y="2119908"/>
            <a:ext cx="2524116" cy="250031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3309928" y="2119908"/>
            <a:ext cx="2524116" cy="42863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286222" y="2334220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9458" y="2491383"/>
            <a:ext cx="225028" cy="2571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66149" y="3084314"/>
            <a:ext cx="12116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Red Teaming</a:t>
            </a:r>
            <a:endParaRPr lang="en-US" sz="1193" dirty="0"/>
          </a:p>
        </p:txBody>
      </p:sp>
      <p:sp>
        <p:nvSpPr>
          <p:cNvPr id="17" name="Text 11"/>
          <p:cNvSpPr/>
          <p:nvPr/>
        </p:nvSpPr>
        <p:spPr>
          <a:xfrm>
            <a:off x="3524241" y="3425428"/>
            <a:ext cx="2095491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Adversarial testing where humans (and other AIs) try to "jailbreak" the model to find vulnerabilities before deployment.</a:t>
            </a:r>
            <a:endParaRPr lang="en-US" sz="942" dirty="0"/>
          </a:p>
        </p:txBody>
      </p:sp>
      <p:sp>
        <p:nvSpPr>
          <p:cNvPr id="18" name="Shape 12"/>
          <p:cNvSpPr/>
          <p:nvPr/>
        </p:nvSpPr>
        <p:spPr>
          <a:xfrm>
            <a:off x="6048356" y="2119908"/>
            <a:ext cx="2524116" cy="2500313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048356" y="2119908"/>
            <a:ext cx="2524116" cy="42863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7024650" y="2334220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813" y="2491383"/>
            <a:ext cx="257175" cy="2571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88562" y="3084314"/>
            <a:ext cx="164370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Interpretability</a:t>
            </a:r>
            <a:endParaRPr lang="en-US" sz="1193" dirty="0"/>
          </a:p>
        </p:txBody>
      </p:sp>
      <p:sp>
        <p:nvSpPr>
          <p:cNvPr id="23" name="Text 16"/>
          <p:cNvSpPr/>
          <p:nvPr/>
        </p:nvSpPr>
        <p:spPr>
          <a:xfrm>
            <a:off x="6262669" y="3425428"/>
            <a:ext cx="2095491" cy="90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Reverse-engineering the neural network to understand </a:t>
            </a:r>
            <a:r>
              <a:rPr lang="en-US" sz="942" i="1" dirty="0">
                <a:solidFill>
                  <a:srgbClr val="555555"/>
                </a:solidFill>
              </a:rPr>
              <a:t>how</a:t>
            </a:r>
            <a:r>
              <a:rPr lang="en-US" sz="942" dirty="0">
                <a:solidFill>
                  <a:srgbClr val="555555"/>
                </a:solidFill>
              </a:rPr>
              <a:t> it thinks—finding the specific circuits for truth, bias, and deception.</a:t>
            </a:r>
            <a:endParaRPr lang="en-US" sz="942" dirty="0"/>
          </a:p>
        </p:txBody>
      </p:sp>
      <p:sp>
        <p:nvSpPr>
          <p:cNvPr id="24" name="Shape 17"/>
          <p:cNvSpPr/>
          <p:nvPr/>
        </p:nvSpPr>
        <p:spPr>
          <a:xfrm>
            <a:off x="583008" y="4493056"/>
            <a:ext cx="8001000" cy="675084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583008" y="4493056"/>
            <a:ext cx="42863" cy="67508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883" y="4723442"/>
            <a:ext cx="214313" cy="21431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83070" y="4635931"/>
            <a:ext cx="735806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The Goal:</a:t>
            </a:r>
            <a:r>
              <a:rPr lang="en-US" sz="1050" dirty="0">
                <a:solidFill>
                  <a:srgbClr val="333333"/>
                </a:solidFill>
              </a:rPr>
              <a:t> Moving from "Black Box" alchemy to a rigorous engineering discipline where safety is guaranteed by design.</a:t>
            </a:r>
            <a:endParaRPr lang="en-US" sz="987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0164" y="1062800"/>
            <a:ext cx="803672" cy="7143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013867" y="2184369"/>
            <a:ext cx="1116267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3" dirty="0">
                <a:solidFill>
                  <a:srgbClr val="8CC63F"/>
                </a:solidFill>
              </a:rPr>
              <a:t>Part 10</a:t>
            </a:r>
            <a:endParaRPr lang="en-US" sz="1602" dirty="0"/>
          </a:p>
        </p:txBody>
      </p:sp>
      <p:sp>
        <p:nvSpPr>
          <p:cNvPr id="6" name="Text 1"/>
          <p:cNvSpPr/>
          <p:nvPr/>
        </p:nvSpPr>
        <p:spPr>
          <a:xfrm>
            <a:off x="2801076" y="2639783"/>
            <a:ext cx="3541821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11111"/>
                </a:solidFill>
              </a:rPr>
              <a:t>Conclusion</a:t>
            </a:r>
            <a:endParaRPr lang="en-US" sz="3731" dirty="0"/>
          </a:p>
        </p:txBody>
      </p:sp>
      <p:sp>
        <p:nvSpPr>
          <p:cNvPr id="7" name="Text 2"/>
          <p:cNvSpPr/>
          <p:nvPr/>
        </p:nvSpPr>
        <p:spPr>
          <a:xfrm>
            <a:off x="3062185" y="3905650"/>
            <a:ext cx="301960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Summary and Key Takeaways</a:t>
            </a:r>
            <a:endParaRPr lang="en-US" sz="1704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3315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Key Takeaways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We've covered the full lifecycle of Large Language Models. Here are the critical insights to remember.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048470"/>
            <a:ext cx="357188" cy="357188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69" y="2141339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1563" y="2048470"/>
            <a:ext cx="3286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Pre-training is Foundation</a:t>
            </a:r>
            <a:endParaRPr lang="en-US" sz="1090" dirty="0"/>
          </a:p>
        </p:txBody>
      </p:sp>
      <p:sp>
        <p:nvSpPr>
          <p:cNvPr id="9" name="Text 4"/>
          <p:cNvSpPr/>
          <p:nvPr/>
        </p:nvSpPr>
        <p:spPr>
          <a:xfrm>
            <a:off x="1071563" y="2298502"/>
            <a:ext cx="3286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The base model learns world knowledge by compressing the internet. It predicts the next token.</a:t>
            </a:r>
            <a:endParaRPr lang="en-US" sz="942" dirty="0"/>
          </a:p>
        </p:txBody>
      </p:sp>
      <p:sp>
        <p:nvSpPr>
          <p:cNvPr id="10" name="Shape 5"/>
          <p:cNvSpPr/>
          <p:nvPr/>
        </p:nvSpPr>
        <p:spPr>
          <a:xfrm>
            <a:off x="571500" y="2837129"/>
            <a:ext cx="357188" cy="357188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084" y="2929998"/>
            <a:ext cx="150019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1563" y="2837129"/>
            <a:ext cx="3286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Tokenization Quirks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1071563" y="3087160"/>
            <a:ext cx="3286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Many model errors (spelling, math) are due to how text is chunked into tokens, not lack of intelligence.</a:t>
            </a:r>
            <a:endParaRPr lang="en-US" sz="942" dirty="0"/>
          </a:p>
        </p:txBody>
      </p:sp>
      <p:sp>
        <p:nvSpPr>
          <p:cNvPr id="14" name="Shape 8"/>
          <p:cNvSpPr/>
          <p:nvPr/>
        </p:nvSpPr>
        <p:spPr>
          <a:xfrm>
            <a:off x="571500" y="3625788"/>
            <a:ext cx="357188" cy="35718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3718657"/>
            <a:ext cx="214313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1563" y="3625788"/>
            <a:ext cx="3286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565C0"/>
                </a:solidFill>
              </a:rPr>
              <a:t>Alignment is Crucial</a:t>
            </a:r>
            <a:endParaRPr lang="en-US" sz="1090" dirty="0"/>
          </a:p>
        </p:txBody>
      </p:sp>
      <p:sp>
        <p:nvSpPr>
          <p:cNvPr id="17" name="Text 10"/>
          <p:cNvSpPr/>
          <p:nvPr/>
        </p:nvSpPr>
        <p:spPr>
          <a:xfrm>
            <a:off x="1071563" y="3875819"/>
            <a:ext cx="3286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SFT and RLHF transform a raw predictor into a helpful, harmless, and honest assistant.</a:t>
            </a:r>
            <a:endParaRPr lang="en-US" sz="942" dirty="0"/>
          </a:p>
        </p:txBody>
      </p:sp>
      <p:sp>
        <p:nvSpPr>
          <p:cNvPr id="18" name="Shape 11"/>
          <p:cNvSpPr/>
          <p:nvPr/>
        </p:nvSpPr>
        <p:spPr>
          <a:xfrm>
            <a:off x="571500" y="4414447"/>
            <a:ext cx="357188" cy="357188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69" y="4507316"/>
            <a:ext cx="171450" cy="1714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71563" y="4414447"/>
            <a:ext cx="3286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Hallucination is Native</a:t>
            </a:r>
            <a:endParaRPr lang="en-US" sz="1090" dirty="0"/>
          </a:p>
        </p:txBody>
      </p:sp>
      <p:sp>
        <p:nvSpPr>
          <p:cNvPr id="21" name="Text 13"/>
          <p:cNvSpPr/>
          <p:nvPr/>
        </p:nvSpPr>
        <p:spPr>
          <a:xfrm>
            <a:off x="1071563" y="4664478"/>
            <a:ext cx="32861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LLMs are probabilistic engines, not databases. Creativity and hallucination are two sides of the same coin.</a:t>
            </a:r>
            <a:endParaRPr lang="en-US" sz="942" dirty="0"/>
          </a:p>
        </p:txBody>
      </p:sp>
      <p:sp>
        <p:nvSpPr>
          <p:cNvPr id="22" name="Shape 14"/>
          <p:cNvSpPr/>
          <p:nvPr/>
        </p:nvSpPr>
        <p:spPr>
          <a:xfrm>
            <a:off x="4786313" y="2048470"/>
            <a:ext cx="357188" cy="35718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9181" y="2141339"/>
            <a:ext cx="171450" cy="1714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86375" y="2048470"/>
            <a:ext cx="3286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565C0"/>
                </a:solidFill>
              </a:rPr>
              <a:t>Reasoning Can Be Learned</a:t>
            </a:r>
            <a:endParaRPr lang="en-US" sz="1090" dirty="0"/>
          </a:p>
        </p:txBody>
      </p:sp>
      <p:sp>
        <p:nvSpPr>
          <p:cNvPr id="25" name="Text 16"/>
          <p:cNvSpPr/>
          <p:nvPr/>
        </p:nvSpPr>
        <p:spPr>
          <a:xfrm>
            <a:off x="5286375" y="2298502"/>
            <a:ext cx="3286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Models like DeepSeek-R1 show that RL can teach models to "think" (verify, correct) before answering.</a:t>
            </a:r>
            <a:endParaRPr lang="en-US" sz="942" dirty="0"/>
          </a:p>
        </p:txBody>
      </p:sp>
      <p:sp>
        <p:nvSpPr>
          <p:cNvPr id="26" name="Shape 17"/>
          <p:cNvSpPr/>
          <p:nvPr/>
        </p:nvSpPr>
        <p:spPr>
          <a:xfrm>
            <a:off x="4786313" y="2837129"/>
            <a:ext cx="357188" cy="357188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9897" y="2929998"/>
            <a:ext cx="150019" cy="17145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286375" y="2837129"/>
            <a:ext cx="3286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Context is the New RAM</a:t>
            </a:r>
            <a:endParaRPr lang="en-US" sz="1090" dirty="0"/>
          </a:p>
        </p:txBody>
      </p:sp>
      <p:sp>
        <p:nvSpPr>
          <p:cNvPr id="29" name="Text 19"/>
          <p:cNvSpPr/>
          <p:nvPr/>
        </p:nvSpPr>
        <p:spPr>
          <a:xfrm>
            <a:off x="5286375" y="3087160"/>
            <a:ext cx="3286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With 1M+ token windows, we can now "program" models with entire books or codebases in the prompt.</a:t>
            </a:r>
            <a:endParaRPr lang="en-US" sz="942" dirty="0"/>
          </a:p>
        </p:txBody>
      </p:sp>
      <p:sp>
        <p:nvSpPr>
          <p:cNvPr id="30" name="Shape 20"/>
          <p:cNvSpPr/>
          <p:nvPr/>
        </p:nvSpPr>
        <p:spPr>
          <a:xfrm>
            <a:off x="4786313" y="3625788"/>
            <a:ext cx="357188" cy="357188"/>
          </a:xfrm>
          <a:prstGeom prst="rect">
            <a:avLst/>
          </a:prstGeom>
          <a:solidFill>
            <a:srgbClr val="F1F8E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3718657"/>
            <a:ext cx="214313" cy="17145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286375" y="3625788"/>
            <a:ext cx="32861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Agents are the Future</a:t>
            </a:r>
            <a:endParaRPr lang="en-US" sz="1090" dirty="0"/>
          </a:p>
        </p:txBody>
      </p:sp>
      <p:sp>
        <p:nvSpPr>
          <p:cNvPr id="33" name="Text 22"/>
          <p:cNvSpPr/>
          <p:nvPr/>
        </p:nvSpPr>
        <p:spPr>
          <a:xfrm>
            <a:off x="5286375" y="3875819"/>
            <a:ext cx="328612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The next frontier is models that don't just talk, but </a:t>
            </a:r>
            <a:r>
              <a:rPr lang="en-US" sz="885" b="1" dirty="0">
                <a:solidFill>
                  <a:srgbClr val="555555"/>
                </a:solidFill>
              </a:rPr>
              <a:t>act</a:t>
            </a:r>
            <a:r>
              <a:rPr lang="en-US" sz="942" dirty="0">
                <a:solidFill>
                  <a:srgbClr val="555555"/>
                </a:solidFill>
              </a:rPr>
              <a:t>—using tools to solve real-world problems.</a:t>
            </a:r>
            <a:endParaRPr lang="en-US" sz="942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7747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813" y="285750"/>
            <a:ext cx="1071563" cy="362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11111"/>
                </a:solidFill>
              </a:rPr>
              <a:t>Resources and Tools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571500" y="1294805"/>
            <a:ext cx="714375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The LLM ecosystem is moving fast. Here are the essential platforms, frameworks, and tools to start building today.</a:t>
            </a:r>
            <a:endParaRPr lang="en-US" sz="1269" dirty="0"/>
          </a:p>
        </p:txBody>
      </p:sp>
      <p:sp>
        <p:nvSpPr>
          <p:cNvPr id="6" name="Shape 2"/>
          <p:cNvSpPr/>
          <p:nvPr/>
        </p:nvSpPr>
        <p:spPr>
          <a:xfrm>
            <a:off x="571500" y="2048470"/>
            <a:ext cx="3893344" cy="163949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571500" y="2048470"/>
            <a:ext cx="42863" cy="163949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50094" y="2227064"/>
            <a:ext cx="357188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31" y="2319933"/>
            <a:ext cx="214313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4438" y="2298502"/>
            <a:ext cx="1814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Models &amp; Platforms</a:t>
            </a:r>
            <a:endParaRPr lang="en-US" sz="109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2878931"/>
            <a:ext cx="100013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1544" y="2841427"/>
            <a:ext cx="11398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OpenAI (GPT-4, o1)</a:t>
            </a:r>
            <a:endParaRPr lang="en-US" sz="942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3125391"/>
            <a:ext cx="100013" cy="1000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1544" y="3087886"/>
            <a:ext cx="13330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Anthropic (Claude 3.5)</a:t>
            </a:r>
            <a:endParaRPr lang="en-US" sz="942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3371850"/>
            <a:ext cx="100013" cy="10001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21544" y="3334345"/>
            <a:ext cx="17193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Hugging Face (Open Source)</a:t>
            </a:r>
            <a:endParaRPr lang="en-US" sz="942" dirty="0"/>
          </a:p>
        </p:txBody>
      </p:sp>
      <p:sp>
        <p:nvSpPr>
          <p:cNvPr id="17" name="Shape 9"/>
          <p:cNvSpPr/>
          <p:nvPr/>
        </p:nvSpPr>
        <p:spPr>
          <a:xfrm>
            <a:off x="4679156" y="2048470"/>
            <a:ext cx="3893344" cy="163949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0"/>
          <p:cNvSpPr/>
          <p:nvPr/>
        </p:nvSpPr>
        <p:spPr>
          <a:xfrm>
            <a:off x="4679156" y="2048470"/>
            <a:ext cx="42863" cy="1639491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1"/>
          <p:cNvSpPr/>
          <p:nvPr/>
        </p:nvSpPr>
        <p:spPr>
          <a:xfrm>
            <a:off x="4857750" y="2227064"/>
            <a:ext cx="357188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319933"/>
            <a:ext cx="214313" cy="1714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22094" y="2298502"/>
            <a:ext cx="11355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Frameworks</a:t>
            </a:r>
            <a:endParaRPr lang="en-US" sz="109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878931"/>
            <a:ext cx="100013" cy="10001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29200" y="2841427"/>
            <a:ext cx="15863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LangChain (Orchestration)</a:t>
            </a:r>
            <a:endParaRPr lang="en-US" sz="942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125391"/>
            <a:ext cx="100013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29200" y="3087886"/>
            <a:ext cx="18228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LlamaIndex (Data Connection)</a:t>
            </a:r>
            <a:endParaRPr lang="en-US" sz="942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3371850"/>
            <a:ext cx="100013" cy="10001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029200" y="3334345"/>
            <a:ext cx="168567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DSPy (Prompt Optimization)</a:t>
            </a:r>
            <a:endParaRPr lang="en-US" sz="942" dirty="0"/>
          </a:p>
        </p:txBody>
      </p:sp>
      <p:sp>
        <p:nvSpPr>
          <p:cNvPr id="28" name="Shape 16"/>
          <p:cNvSpPr/>
          <p:nvPr/>
        </p:nvSpPr>
        <p:spPr>
          <a:xfrm>
            <a:off x="571500" y="3902273"/>
            <a:ext cx="3893344" cy="163949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7"/>
          <p:cNvSpPr/>
          <p:nvPr/>
        </p:nvSpPr>
        <p:spPr>
          <a:xfrm>
            <a:off x="571500" y="3902273"/>
            <a:ext cx="42863" cy="1639491"/>
          </a:xfrm>
          <a:prstGeom prst="rect">
            <a:avLst/>
          </a:prstGeom>
          <a:solidFill>
            <a:srgbClr val="8C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8"/>
          <p:cNvSpPr/>
          <p:nvPr/>
        </p:nvSpPr>
        <p:spPr>
          <a:xfrm>
            <a:off x="750094" y="4080867"/>
            <a:ext cx="357188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678" y="4173736"/>
            <a:ext cx="150019" cy="17145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1214438" y="4152305"/>
            <a:ext cx="14209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Infrastructure</a:t>
            </a:r>
            <a:endParaRPr lang="en-US" sz="109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4732734"/>
            <a:ext cx="100013" cy="100013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921544" y="4695230"/>
            <a:ext cx="19896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Pinecone / Weaviate (Vector DBs)</a:t>
            </a:r>
            <a:endParaRPr lang="en-US" sz="942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94" y="4979194"/>
            <a:ext cx="100013" cy="100013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921544" y="4941689"/>
            <a:ext cx="20270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vLLM (High-Performance Serving)</a:t>
            </a:r>
            <a:endParaRPr lang="en-US" sz="942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5225653"/>
            <a:ext cx="100013" cy="100013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921544" y="5188148"/>
            <a:ext cx="14641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Ollama (Local Inference)</a:t>
            </a:r>
            <a:endParaRPr lang="en-US" sz="942" dirty="0"/>
          </a:p>
        </p:txBody>
      </p:sp>
      <p:sp>
        <p:nvSpPr>
          <p:cNvPr id="39" name="Shape 23"/>
          <p:cNvSpPr/>
          <p:nvPr/>
        </p:nvSpPr>
        <p:spPr>
          <a:xfrm>
            <a:off x="4679156" y="3902273"/>
            <a:ext cx="3893344" cy="163949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24"/>
          <p:cNvSpPr/>
          <p:nvPr/>
        </p:nvSpPr>
        <p:spPr>
          <a:xfrm>
            <a:off x="4679156" y="3902273"/>
            <a:ext cx="42863" cy="1639491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25"/>
          <p:cNvSpPr/>
          <p:nvPr/>
        </p:nvSpPr>
        <p:spPr>
          <a:xfrm>
            <a:off x="4857750" y="4080867"/>
            <a:ext cx="357188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4173736"/>
            <a:ext cx="214313" cy="17145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5322094" y="4152305"/>
            <a:ext cx="81254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11111"/>
                </a:solidFill>
              </a:rPr>
              <a:t>Research</a:t>
            </a:r>
            <a:endParaRPr lang="en-US" sz="109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4732734"/>
            <a:ext cx="100013" cy="100013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5029200" y="4695230"/>
            <a:ext cx="12358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ArXiv (Latest Papers)</a:t>
            </a:r>
            <a:endParaRPr lang="en-US" sz="942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4979194"/>
            <a:ext cx="100013" cy="100013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5029200" y="4941689"/>
            <a:ext cx="10539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Papers with Code</a:t>
            </a:r>
            <a:endParaRPr lang="en-US" sz="942" dirty="0"/>
          </a:p>
        </p:txBody>
      </p:sp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5225653"/>
            <a:ext cx="100013" cy="100013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5029200" y="5188148"/>
            <a:ext cx="16082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Andrej Karpathy (YouTube)</a:t>
            </a:r>
            <a:endParaRPr lang="en-US" sz="942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438" y="894308"/>
            <a:ext cx="2143125" cy="7259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75486" y="2048917"/>
            <a:ext cx="3593027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2" dirty="0">
                <a:solidFill>
                  <a:srgbClr val="111111"/>
                </a:solidFill>
              </a:rPr>
              <a:t>Thank You</a:t>
            </a:r>
            <a:endParaRPr lang="en-US" sz="4145" dirty="0"/>
          </a:p>
        </p:txBody>
      </p:sp>
      <p:sp>
        <p:nvSpPr>
          <p:cNvPr id="5" name="Text 1"/>
          <p:cNvSpPr/>
          <p:nvPr/>
        </p:nvSpPr>
        <p:spPr>
          <a:xfrm>
            <a:off x="2529669" y="3313361"/>
            <a:ext cx="408463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4" dirty="0">
                <a:solidFill>
                  <a:srgbClr val="555555"/>
                </a:solidFill>
              </a:rPr>
              <a:t>Deep Dive into Large Language Models</a:t>
            </a:r>
            <a:endParaRPr lang="en-US" sz="1704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9070" y="4080421"/>
            <a:ext cx="142875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263382" y="4054525"/>
            <a:ext cx="11558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www.aaseya.com</a:t>
            </a:r>
            <a:endParaRPr lang="en-US" sz="10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997" y="4080421"/>
            <a:ext cx="142875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919309" y="4054525"/>
            <a:ext cx="11755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info@aaseya.com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6566</Words>
  <Application>Microsoft Macintosh PowerPoint</Application>
  <PresentationFormat>On-screen Show (16:9)</PresentationFormat>
  <Paragraphs>982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Mrinal Chakraborty</cp:lastModifiedBy>
  <cp:revision>2</cp:revision>
  <dcterms:created xsi:type="dcterms:W3CDTF">2025-12-09T08:30:48Z</dcterms:created>
  <dcterms:modified xsi:type="dcterms:W3CDTF">2025-12-09T09:22:59Z</dcterms:modified>
</cp:coreProperties>
</file>